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70" r:id="rId2"/>
    <p:sldId id="456" r:id="rId3"/>
    <p:sldId id="463" r:id="rId4"/>
    <p:sldId id="457" r:id="rId5"/>
    <p:sldId id="458" r:id="rId6"/>
    <p:sldId id="465" r:id="rId17"/>
    <p:sldId id="459" r:id="rId7"/>
    <p:sldId id="460" r:id="rId8"/>
    <p:sldId id="466" r:id="rId18"/>
    <p:sldId id="461" r:id="rId9"/>
    <p:sldId id="464" r:id="rId10"/>
  </p:sldIdLst>
  <p:sldSz cx="12192000" cy="6858000"/>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DF2E1"/>
    <a:srgbClr val="2A4470"/>
    <a:srgbClr val="232D3D"/>
    <a:srgbClr val="00194C"/>
    <a:srgbClr val="9999FF"/>
    <a:srgbClr val="CC99FF"/>
    <a:srgbClr val="1A109C"/>
    <a:srgbClr val="8FAADC"/>
    <a:srgbClr val="B4C7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보통 스타일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034" autoAdjust="0"/>
  </p:normalViewPr>
  <p:slideViewPr>
    <p:cSldViewPr snapToGrid="0">
      <p:cViewPr varScale="1">
        <p:scale>
          <a:sx n="78" d="100"/>
          <a:sy n="78" d="100"/>
        </p:scale>
        <p:origin x="806" y="72"/>
      </p:cViewPr>
      <p:guideLst/>
    </p:cSldViewPr>
  </p:slideViewPr>
  <p:notesTextViewPr>
    <p:cViewPr>
      <p:scale>
        <a:sx n="150" d="100"/>
        <a:sy n="150" d="100"/>
      </p:scale>
      <p:origin x="0" y="0"/>
    </p:cViewPr>
  </p:notesTextViewPr>
  <p:sorterViewPr>
    <p:cViewPr>
      <p:scale>
        <a:sx n="100" d="100"/>
        <a:sy n="100" d="100"/>
      </p:scale>
      <p:origin x="0" y="-564"/>
    </p:cViewPr>
  </p:sorterViewPr>
  <p:notesViewPr>
    <p:cSldViewPr snapToGrid="0">
      <p:cViewPr varScale="1">
        <p:scale>
          <a:sx n="80" d="100"/>
          <a:sy n="80" d="100"/>
        </p:scale>
        <p:origin x="4014"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6.xml"/><Relationship Id="rId18"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E36245D0-01CD-4B12-983D-964B1C2E6C23}" type="datetimeFigureOut">
              <a:rPr lang="ko-KR" altLang="en-US" smtClean="0"/>
              <a:t>2026-04-29</a:t>
            </a:fld>
            <a:endParaRPr lang="ko-KR" altLang="en-US"/>
          </a:p>
        </p:txBody>
      </p:sp>
      <p:sp>
        <p:nvSpPr>
          <p:cNvPr id="4" name="바닥글 개체 틀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67628967-FB44-433F-8247-308305C7D772}" type="slidenum">
              <a:rPr lang="ko-KR" altLang="en-US" smtClean="0"/>
              <a:t>‹#›</a:t>
            </a:fld>
            <a:endParaRPr lang="ko-KR" altLang="en-US"/>
          </a:p>
        </p:txBody>
      </p:sp>
    </p:spTree>
    <p:extLst>
      <p:ext uri="{BB962C8B-B14F-4D97-AF65-F5344CB8AC3E}">
        <p14:creationId xmlns:p14="http://schemas.microsoft.com/office/powerpoint/2010/main" val="16392665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1"/>
            <a:ext cx="2945660" cy="498056"/>
          </a:xfrm>
          <a:prstGeom prst="rect">
            <a:avLst/>
          </a:prstGeom>
        </p:spPr>
        <p:txBody>
          <a:bodyPr vert="horz" lIns="91504" tIns="45752" rIns="91504" bIns="45752" rtlCol="0"/>
          <a:lstStyle>
            <a:lvl1pPr algn="l">
              <a:defRPr sz="1200"/>
            </a:lvl1pPr>
          </a:lstStyle>
          <a:p>
            <a:endParaRPr lang="ko-KR" altLang="en-US"/>
          </a:p>
        </p:txBody>
      </p:sp>
      <p:sp>
        <p:nvSpPr>
          <p:cNvPr id="3" name="날짜 개체 틀 2"/>
          <p:cNvSpPr>
            <a:spLocks noGrp="1"/>
          </p:cNvSpPr>
          <p:nvPr>
            <p:ph type="dt" idx="1"/>
          </p:nvPr>
        </p:nvSpPr>
        <p:spPr>
          <a:xfrm>
            <a:off x="3850442" y="1"/>
            <a:ext cx="2945660" cy="498056"/>
          </a:xfrm>
          <a:prstGeom prst="rect">
            <a:avLst/>
          </a:prstGeom>
        </p:spPr>
        <p:txBody>
          <a:bodyPr vert="horz" lIns="91504" tIns="45752" rIns="91504" bIns="45752" rtlCol="0"/>
          <a:lstStyle>
            <a:lvl1pPr algn="r">
              <a:defRPr sz="1200"/>
            </a:lvl1pPr>
          </a:lstStyle>
          <a:p>
            <a:fld id="{546732E3-53E6-4717-9B94-A6E7998A2CA3}" type="datetimeFigureOut">
              <a:rPr lang="ko-KR" altLang="en-US" smtClean="0"/>
              <a:t>2026-04-29</a:t>
            </a:fld>
            <a:endParaRPr lang="ko-KR" altLang="en-US"/>
          </a:p>
        </p:txBody>
      </p:sp>
      <p:sp>
        <p:nvSpPr>
          <p:cNvPr id="4" name="슬라이드 이미지 개체 틀 3"/>
          <p:cNvSpPr>
            <a:spLocks noGrp="1" noRot="1" noChangeAspect="1"/>
          </p:cNvSpPr>
          <p:nvPr>
            <p:ph type="sldImg" idx="2"/>
          </p:nvPr>
        </p:nvSpPr>
        <p:spPr>
          <a:xfrm>
            <a:off x="420688" y="1239838"/>
            <a:ext cx="5956300" cy="3351212"/>
          </a:xfrm>
          <a:prstGeom prst="rect">
            <a:avLst/>
          </a:prstGeom>
          <a:noFill/>
          <a:ln w="12700">
            <a:solidFill>
              <a:prstClr val="black"/>
            </a:solidFill>
          </a:ln>
        </p:spPr>
        <p:txBody>
          <a:bodyPr vert="horz" lIns="91504" tIns="45752" rIns="91504" bIns="45752" rtlCol="0" anchor="ctr"/>
          <a:lstStyle/>
          <a:p>
            <a:endParaRPr lang="ko-KR" altLang="en-US"/>
          </a:p>
        </p:txBody>
      </p:sp>
      <p:sp>
        <p:nvSpPr>
          <p:cNvPr id="5" name="슬라이드 노트 개체 틀 4"/>
          <p:cNvSpPr>
            <a:spLocks noGrp="1"/>
          </p:cNvSpPr>
          <p:nvPr>
            <p:ph type="body" sz="quarter" idx="3"/>
          </p:nvPr>
        </p:nvSpPr>
        <p:spPr>
          <a:xfrm>
            <a:off x="679768" y="4777194"/>
            <a:ext cx="5438140" cy="3908614"/>
          </a:xfrm>
          <a:prstGeom prst="rect">
            <a:avLst/>
          </a:prstGeom>
        </p:spPr>
        <p:txBody>
          <a:bodyPr vert="horz" lIns="91504" tIns="45752" rIns="91504" bIns="45752"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28584"/>
            <a:ext cx="2945660" cy="498054"/>
          </a:xfrm>
          <a:prstGeom prst="rect">
            <a:avLst/>
          </a:prstGeom>
        </p:spPr>
        <p:txBody>
          <a:bodyPr vert="horz" lIns="91504" tIns="45752" rIns="91504" bIns="45752"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2" y="9428584"/>
            <a:ext cx="2945660" cy="498054"/>
          </a:xfrm>
          <a:prstGeom prst="rect">
            <a:avLst/>
          </a:prstGeom>
        </p:spPr>
        <p:txBody>
          <a:bodyPr vert="horz" lIns="91504" tIns="45752" rIns="91504" bIns="45752" rtlCol="0" anchor="b"/>
          <a:lstStyle>
            <a:lvl1pPr algn="r">
              <a:defRPr sz="1200"/>
            </a:lvl1pPr>
          </a:lstStyle>
          <a:p>
            <a:fld id="{627F6366-0551-4D17-819E-C7772D98650D}" type="slidenum">
              <a:rPr lang="ko-KR" altLang="en-US" smtClean="0"/>
              <a:t>‹#›</a:t>
            </a:fld>
            <a:endParaRPr lang="ko-KR" altLang="en-US"/>
          </a:p>
        </p:txBody>
      </p:sp>
    </p:spTree>
    <p:extLst>
      <p:ext uri="{BB962C8B-B14F-4D97-AF65-F5344CB8AC3E}">
        <p14:creationId xmlns:p14="http://schemas.microsoft.com/office/powerpoint/2010/main" val="81282219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420688" y="1239838"/>
            <a:ext cx="5956300" cy="3351212"/>
          </a:xfrm>
        </p:spPr>
      </p:sp>
      <p:sp>
        <p:nvSpPr>
          <p:cNvPr id="3" name="슬라이드 노트 개체 틀 2"/>
          <p:cNvSpPr>
            <a:spLocks noGrp="1"/>
          </p:cNvSpPr>
          <p:nvPr>
            <p:ph type="body" idx="1"/>
          </p:nvPr>
        </p:nvSpPr>
        <p:spPr/>
        <p:txBody>
          <a:bodyPr/>
          <a:lstStyle/>
          <a:p>
            <a:r>
              <a:t>[0:00–0:20] 안녕하세요, 타닥타닥 팀입니다. 예선에서 제안드린 '진본'을 결선까지 실제로 동작하는 서비스로 만들어 왔습니다. 오늘은 무엇을 만들었는지, 그리고 이것이 어떻게 사업이 되는지를 중심으로 말씀드리겠습니다.</a:t>
            </a:r>
          </a:p>
        </p:txBody>
      </p:sp>
      <p:sp>
        <p:nvSpPr>
          <p:cNvPr id="4" name="슬라이드 번호 개체 틀 3"/>
          <p:cNvSpPr>
            <a:spLocks noGrp="1"/>
          </p:cNvSpPr>
          <p:nvPr>
            <p:ph type="sldNum" sz="quarter" idx="10"/>
          </p:nvPr>
        </p:nvSpPr>
        <p:spPr/>
        <p:txBody>
          <a:bodyPr/>
          <a:lstStyle/>
          <a:p>
            <a:fld id="{627F6366-0551-4D17-819E-C7772D98650D}" type="slidenum">
              <a:rPr lang="ko-KR" altLang="en-US" smtClean="0"/>
              <a:t>1</a:t>
            </a:fld>
            <a:endParaRPr lang="ko-KR" altLang="en-US"/>
          </a:p>
        </p:txBody>
      </p:sp>
    </p:spTree>
    <p:extLst>
      <p:ext uri="{BB962C8B-B14F-4D97-AF65-F5344CB8AC3E}">
        <p14:creationId xmlns:p14="http://schemas.microsoft.com/office/powerpoint/2010/main" val="3269967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F16A3-6350-494C-F238-CFD8A942CF0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DA6AA8-7AEC-99A9-6653-3C329D0D60FA}"/>
              </a:ext>
            </a:extLst>
          </p:cNvPr>
          <p:cNvSpPr>
            <a:spLocks noGrp="1" noRot="1" noChangeAspect="1"/>
          </p:cNvSpPr>
          <p:nvPr>
            <p:ph type="sldImg"/>
          </p:nvPr>
        </p:nvSpPr>
        <p:spPr>
          <a:xfrm>
            <a:off x="690563" y="1143000"/>
            <a:ext cx="5486400" cy="3087688"/>
          </a:xfrm>
        </p:spPr>
      </p:sp>
      <p:sp>
        <p:nvSpPr>
          <p:cNvPr id="3" name="슬라이드 노트 개체 틀 2">
            <a:extLst>
              <a:ext uri="{FF2B5EF4-FFF2-40B4-BE49-F238E27FC236}">
                <a16:creationId xmlns:a16="http://schemas.microsoft.com/office/drawing/2014/main" id="{DDBE566A-A9A8-E978-4269-C8338EE4162B}"/>
              </a:ext>
            </a:extLst>
          </p:cNvPr>
          <p:cNvSpPr>
            <a:spLocks noGrp="1"/>
          </p:cNvSpPr>
          <p:nvPr>
            <p:ph type="body" idx="1"/>
          </p:nvPr>
        </p:nvSpPr>
        <p:spPr/>
        <p:txBody>
          <a:bodyPr/>
          <a:lstStyle/>
          <a:p>
            <a:r>
              <a:t>(요약서는 넘어갑니다.)</a:t>
            </a:r>
          </a:p>
        </p:txBody>
      </p:sp>
      <p:sp>
        <p:nvSpPr>
          <p:cNvPr id="4" name="슬라이드 번호 개체 틀 3">
            <a:extLst>
              <a:ext uri="{FF2B5EF4-FFF2-40B4-BE49-F238E27FC236}">
                <a16:creationId xmlns:a16="http://schemas.microsoft.com/office/drawing/2014/main" id="{428881B9-C8DA-D0BD-6DB1-EF9A09177422}"/>
              </a:ext>
            </a:extLst>
          </p:cNvPr>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3EA78759-A36B-0749-837C-5E6C8189DD6D}" type="slidenum">
              <a:rPr kumimoji="1" lang="ko-KR" altLang="en-US" sz="1200" b="0" i="0" u="none" strike="noStrike" kern="1200" cap="none" spc="0" normalizeH="0" baseline="0" noProof="0" smtClean="0">
                <a:ln>
                  <a:noFill/>
                </a:ln>
                <a:solidFill>
                  <a:prstClr val="black"/>
                </a:solidFill>
                <a:effectLst/>
                <a:uLnTx/>
                <a:uFillTx/>
                <a:latin typeface="맑은 고딕" panose="020F050202020403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a:t>
            </a:fld>
            <a:endParaRPr kumimoji="1" lang="ko-KR" altLang="en-US" sz="12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170693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F16A3-6350-494C-F238-CFD8A942CF0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DA6AA8-7AEC-99A9-6653-3C329D0D60FA}"/>
              </a:ext>
            </a:extLst>
          </p:cNvPr>
          <p:cNvSpPr>
            <a:spLocks noGrp="1" noRot="1" noChangeAspect="1"/>
          </p:cNvSpPr>
          <p:nvPr>
            <p:ph type="sldImg"/>
          </p:nvPr>
        </p:nvSpPr>
        <p:spPr>
          <a:xfrm>
            <a:off x="690563" y="1143000"/>
            <a:ext cx="5486400" cy="3087688"/>
          </a:xfrm>
        </p:spPr>
      </p:sp>
      <p:sp>
        <p:nvSpPr>
          <p:cNvPr id="3" name="슬라이드 노트 개체 틀 2">
            <a:extLst>
              <a:ext uri="{FF2B5EF4-FFF2-40B4-BE49-F238E27FC236}">
                <a16:creationId xmlns:a16="http://schemas.microsoft.com/office/drawing/2014/main" id="{DDBE566A-A9A8-E978-4269-C8338EE4162B}"/>
              </a:ext>
            </a:extLst>
          </p:cNvPr>
          <p:cNvSpPr>
            <a:spLocks noGrp="1"/>
          </p:cNvSpPr>
          <p:nvPr>
            <p:ph type="body" idx="1"/>
          </p:nvPr>
        </p:nvSpPr>
        <p:spPr/>
        <p:txBody>
          <a:bodyPr/>
          <a:lstStyle/>
          <a:p>
            <a:r>
              <a:t>[0:20–0:50] 팀은 백엔드·블록체인, iOS, 웹·확장으로 역할을 나눴습니다. 예선 제안서에서 '실연동하겠다'고 명시한 다섯 가지 범위를 결선에서 전부 구현했고, 스마트 컨트랙트는 직접 개발해 배포했습니다. 4개 저장소를 API 명세 기준으로 병렬 개발한 것이 완성도의 비결입니다.</a:t>
            </a:r>
          </a:p>
        </p:txBody>
      </p:sp>
      <p:sp>
        <p:nvSpPr>
          <p:cNvPr id="4" name="슬라이드 번호 개체 틀 3">
            <a:extLst>
              <a:ext uri="{FF2B5EF4-FFF2-40B4-BE49-F238E27FC236}">
                <a16:creationId xmlns:a16="http://schemas.microsoft.com/office/drawing/2014/main" id="{428881B9-C8DA-D0BD-6DB1-EF9A09177422}"/>
              </a:ext>
            </a:extLst>
          </p:cNvPr>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3EA78759-A36B-0749-837C-5E6C8189DD6D}" type="slidenum">
              <a:rPr kumimoji="1" lang="ko-KR" altLang="en-US" sz="1200" b="0" i="0" u="none" strike="noStrike" kern="1200" cap="none" spc="0" normalizeH="0" baseline="0" noProof="0" smtClean="0">
                <a:ln>
                  <a:noFill/>
                </a:ln>
                <a:solidFill>
                  <a:prstClr val="black"/>
                </a:solidFill>
                <a:effectLst/>
                <a:uLnTx/>
                <a:uFillTx/>
                <a:latin typeface="맑은 고딕" panose="020F050202020403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3</a:t>
            </a:fld>
            <a:endParaRPr kumimoji="1" lang="ko-KR" altLang="en-US" sz="12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1757441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F16A3-6350-494C-F238-CFD8A942CF0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DA6AA8-7AEC-99A9-6653-3C329D0D60FA}"/>
              </a:ext>
            </a:extLst>
          </p:cNvPr>
          <p:cNvSpPr>
            <a:spLocks noGrp="1" noRot="1" noChangeAspect="1"/>
          </p:cNvSpPr>
          <p:nvPr>
            <p:ph type="sldImg"/>
          </p:nvPr>
        </p:nvSpPr>
        <p:spPr>
          <a:xfrm>
            <a:off x="690563" y="1143000"/>
            <a:ext cx="5486400" cy="3087688"/>
          </a:xfrm>
        </p:spPr>
      </p:sp>
      <p:sp>
        <p:nvSpPr>
          <p:cNvPr id="3" name="슬라이드 노트 개체 틀 2">
            <a:extLst>
              <a:ext uri="{FF2B5EF4-FFF2-40B4-BE49-F238E27FC236}">
                <a16:creationId xmlns:a16="http://schemas.microsoft.com/office/drawing/2014/main" id="{DDBE566A-A9A8-E978-4269-C8338EE4162B}"/>
              </a:ext>
            </a:extLst>
          </p:cNvPr>
          <p:cNvSpPr>
            <a:spLocks noGrp="1"/>
          </p:cNvSpPr>
          <p:nvPr>
            <p:ph type="body" idx="1"/>
          </p:nvPr>
        </p:nvSpPr>
        <p:spPr/>
        <p:txBody>
          <a:bodyPr/>
          <a:lstStyle/>
          <a:p>
            <a:r>
              <a:t>[0:50–1:40] 딥페이크 범죄는 2년 만에 7배가 됐고, AI 기본법은 '가짜 표시'만 의무화했습니다. 악의적 제작자는 표시하지 않으니 반대편, '진짜를 증명하는' 수단이 비어 있습니다. 글로벌 표준 C2PA는 SNS 재압축에서 서명이 사라져 정작 가장 많이 보는 곳에서 작동하지 않습니다. 이 공백에서 비용을 낼 주체는 분명합니다. 공공기관·정치인, 언론사, 기업 IR입니다. 시민 검증은 무료로 열어 등록 수요를 끌어오는 양면 시장 구조입니다.</a:t>
            </a:r>
          </a:p>
        </p:txBody>
      </p:sp>
      <p:sp>
        <p:nvSpPr>
          <p:cNvPr id="4" name="슬라이드 번호 개체 틀 3">
            <a:extLst>
              <a:ext uri="{FF2B5EF4-FFF2-40B4-BE49-F238E27FC236}">
                <a16:creationId xmlns:a16="http://schemas.microsoft.com/office/drawing/2014/main" id="{428881B9-C8DA-D0BD-6DB1-EF9A09177422}"/>
              </a:ext>
            </a:extLst>
          </p:cNvPr>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3EA78759-A36B-0749-837C-5E6C8189DD6D}" type="slidenum">
              <a:rPr kumimoji="1" lang="ko-KR" altLang="en-US" sz="1200" b="0" i="0" u="none" strike="noStrike" kern="1200" cap="none" spc="0" normalizeH="0" baseline="0" noProof="0" smtClean="0">
                <a:ln>
                  <a:noFill/>
                </a:ln>
                <a:solidFill>
                  <a:prstClr val="black"/>
                </a:solidFill>
                <a:effectLst/>
                <a:uLnTx/>
                <a:uFillTx/>
                <a:latin typeface="맑은 고딕" panose="020F050202020403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4</a:t>
            </a:fld>
            <a:endParaRPr kumimoji="1" lang="ko-KR" altLang="en-US" sz="12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3699607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F16A3-6350-494C-F238-CFD8A942CF0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DA6AA8-7AEC-99A9-6653-3C329D0D60FA}"/>
              </a:ext>
            </a:extLst>
          </p:cNvPr>
          <p:cNvSpPr>
            <a:spLocks noGrp="1" noRot="1" noChangeAspect="1"/>
          </p:cNvSpPr>
          <p:nvPr>
            <p:ph type="sldImg"/>
          </p:nvPr>
        </p:nvSpPr>
        <p:spPr>
          <a:xfrm>
            <a:off x="690563" y="1143000"/>
            <a:ext cx="5486400" cy="3087688"/>
          </a:xfrm>
        </p:spPr>
      </p:sp>
      <p:sp>
        <p:nvSpPr>
          <p:cNvPr id="3" name="슬라이드 노트 개체 틀 2">
            <a:extLst>
              <a:ext uri="{FF2B5EF4-FFF2-40B4-BE49-F238E27FC236}">
                <a16:creationId xmlns:a16="http://schemas.microsoft.com/office/drawing/2014/main" id="{DDBE566A-A9A8-E978-4269-C8338EE4162B}"/>
              </a:ext>
            </a:extLst>
          </p:cNvPr>
          <p:cNvSpPr>
            <a:spLocks noGrp="1"/>
          </p:cNvSpPr>
          <p:nvPr>
            <p:ph type="body" idx="1"/>
          </p:nvPr>
        </p:nvSpPr>
        <p:spPr/>
        <p:txBody>
          <a:bodyPr/>
          <a:lstStyle/>
          <a:p>
            <a:r>
              <a:t>[1:40–2:30] 동작은 세 단계입니다. 공인이 앱에서 모바일 신분증으로 본인확인 후 영상을 등록하면 지문만 체인에 기록되고 보증서가 발급됩니다. 유통은 바꿀 게 없습니다. 검증은 로그인 없이 웹이나 크롬 확장에서 합니다. 과제 세 가지는 전부 실제 연동이고, 컨트랙트는 직접 개발했습니다. 체인에는 해시·DID·서명만 올리고 원본은 서버에도 남기지 않습니다.</a:t>
            </a:r>
          </a:p>
        </p:txBody>
      </p:sp>
      <p:sp>
        <p:nvSpPr>
          <p:cNvPr id="4" name="슬라이드 번호 개체 틀 3">
            <a:extLst>
              <a:ext uri="{FF2B5EF4-FFF2-40B4-BE49-F238E27FC236}">
                <a16:creationId xmlns:a16="http://schemas.microsoft.com/office/drawing/2014/main" id="{428881B9-C8DA-D0BD-6DB1-EF9A09177422}"/>
              </a:ext>
            </a:extLst>
          </p:cNvPr>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3EA78759-A36B-0749-837C-5E6C8189DD6D}" type="slidenum">
              <a:rPr kumimoji="1" lang="ko-KR" altLang="en-US" sz="1200" b="0" i="0" u="none" strike="noStrike" kern="1200" cap="none" spc="0" normalizeH="0" baseline="0" noProof="0" smtClean="0">
                <a:ln>
                  <a:noFill/>
                </a:ln>
                <a:solidFill>
                  <a:prstClr val="black"/>
                </a:solidFill>
                <a:effectLst/>
                <a:uLnTx/>
                <a:uFillTx/>
                <a:latin typeface="맑은 고딕" panose="020F050202020403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5</a:t>
            </a:fld>
            <a:endParaRPr kumimoji="1" lang="ko-KR" altLang="en-US" sz="12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3767940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F16A3-6350-494C-F238-CFD8A942CF0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DA6AA8-7AEC-99A9-6653-3C329D0D60FA}"/>
              </a:ext>
            </a:extLst>
          </p:cNvPr>
          <p:cNvSpPr>
            <a:spLocks noGrp="1" noRot="1" noChangeAspect="1"/>
          </p:cNvSpPr>
          <p:nvPr>
            <p:ph type="sldImg"/>
          </p:nvPr>
        </p:nvSpPr>
        <p:spPr>
          <a:xfrm>
            <a:off x="690563" y="1143000"/>
            <a:ext cx="5486400" cy="3087688"/>
          </a:xfrm>
        </p:spPr>
      </p:sp>
      <p:sp>
        <p:nvSpPr>
          <p:cNvPr id="3" name="슬라이드 노트 개체 틀 2">
            <a:extLst>
              <a:ext uri="{FF2B5EF4-FFF2-40B4-BE49-F238E27FC236}">
                <a16:creationId xmlns:a16="http://schemas.microsoft.com/office/drawing/2014/main" id="{DDBE566A-A9A8-E978-4269-C8338EE4162B}"/>
              </a:ext>
            </a:extLst>
          </p:cNvPr>
          <p:cNvSpPr>
            <a:spLocks noGrp="1"/>
          </p:cNvSpPr>
          <p:nvPr>
            <p:ph type="body" idx="1"/>
          </p:nvPr>
        </p:nvSpPr>
        <p:spPr/>
        <p:txBody>
          <a:bodyPr/>
          <a:lstStyle/>
          <a:p>
            <a:r>
              <a:t>[5:30–6:10] C2PA는 서명이 파일 안에 있어 SNS 재압축에서 사라지고, 탐지 AI는 확률 추정이라 오탐이 있습니다. 진본은 체인에 기록하고 서명을 재대조하는 '증명'입니다. 사업적으로는 C2PA의 경쟁자가 아니라 보완재라서 C2PA 도입 기관에도 팔 수 있고, 국내 신원 인프라 위에 있어 공공 조달에서 강점이 있습니다. 유통 채널은 아무것도 바꾸지 않아 도입 마찰이 낮고, 원본을 저장하지 않아 한계비용도 낮습니다.</a:t>
            </a:r>
          </a:p>
        </p:txBody>
      </p:sp>
      <p:sp>
        <p:nvSpPr>
          <p:cNvPr id="4" name="슬라이드 번호 개체 틀 3">
            <a:extLst>
              <a:ext uri="{FF2B5EF4-FFF2-40B4-BE49-F238E27FC236}">
                <a16:creationId xmlns:a16="http://schemas.microsoft.com/office/drawing/2014/main" id="{428881B9-C8DA-D0BD-6DB1-EF9A09177422}"/>
              </a:ext>
            </a:extLst>
          </p:cNvPr>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3EA78759-A36B-0749-837C-5E6C8189DD6D}" type="slidenum">
              <a:rPr kumimoji="1" lang="ko-KR" altLang="en-US" sz="1200" b="0" i="0" u="none" strike="noStrike" kern="1200" cap="none" spc="0" normalizeH="0" baseline="0" noProof="0" smtClean="0">
                <a:ln>
                  <a:noFill/>
                </a:ln>
                <a:solidFill>
                  <a:prstClr val="black"/>
                </a:solidFill>
                <a:effectLst/>
                <a:uLnTx/>
                <a:uFillTx/>
                <a:latin typeface="맑은 고딕" panose="020F050202020403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6</a:t>
            </a:fld>
            <a:endParaRPr kumimoji="1" lang="ko-KR" altLang="en-US" sz="12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1053839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F16A3-6350-494C-F238-CFD8A942CF0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DA6AA8-7AEC-99A9-6653-3C329D0D60FA}"/>
              </a:ext>
            </a:extLst>
          </p:cNvPr>
          <p:cNvSpPr>
            <a:spLocks noGrp="1" noRot="1" noChangeAspect="1"/>
          </p:cNvSpPr>
          <p:nvPr>
            <p:ph type="sldImg"/>
          </p:nvPr>
        </p:nvSpPr>
        <p:spPr>
          <a:xfrm>
            <a:off x="690563" y="1143000"/>
            <a:ext cx="5486400" cy="3087688"/>
          </a:xfrm>
        </p:spPr>
      </p:sp>
      <p:sp>
        <p:nvSpPr>
          <p:cNvPr id="3" name="슬라이드 노트 개체 틀 2">
            <a:extLst>
              <a:ext uri="{FF2B5EF4-FFF2-40B4-BE49-F238E27FC236}">
                <a16:creationId xmlns:a16="http://schemas.microsoft.com/office/drawing/2014/main" id="{DDBE566A-A9A8-E978-4269-C8338EE4162B}"/>
              </a:ext>
            </a:extLst>
          </p:cNvPr>
          <p:cNvSpPr>
            <a:spLocks noGrp="1"/>
          </p:cNvSpPr>
          <p:nvPr>
            <p:ph type="body" idx="1"/>
          </p:nvPr>
        </p:nvSpPr>
        <p:spPr/>
        <p:txBody>
          <a:bodyPr/>
          <a:lstStyle/>
          <a:p>
            <a:r>
              <a:t>[6:10–7:00] 돈은 등록하는 쪽이 냅니다. 공공기관은 연간 라이선스, 언론사는 등록·검증 API 종량제, 기업 IR은 계정 라이선스입니다. 시민 검증은 무료로 열어 두는데, 검증 요청이 늘수록 공인이 등록하지 않을 이유가 없어지는 양면 시장 구조이기 때문입니다. 원본을 저장하지 않아 등록 1건 비용은 해시 계산과 트랜잭션 1건뿐입니다. 첫 고객은 공공기관 PoC 1곳입니다.</a:t>
            </a:r>
          </a:p>
        </p:txBody>
      </p:sp>
      <p:sp>
        <p:nvSpPr>
          <p:cNvPr id="4" name="슬라이드 번호 개체 틀 3">
            <a:extLst>
              <a:ext uri="{FF2B5EF4-FFF2-40B4-BE49-F238E27FC236}">
                <a16:creationId xmlns:a16="http://schemas.microsoft.com/office/drawing/2014/main" id="{428881B9-C8DA-D0BD-6DB1-EF9A09177422}"/>
              </a:ext>
            </a:extLst>
          </p:cNvPr>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3EA78759-A36B-0749-837C-5E6C8189DD6D}" type="slidenum">
              <a:rPr kumimoji="1" lang="ko-KR" altLang="en-US" sz="1200" b="0" i="0" u="none" strike="noStrike" kern="1200" cap="none" spc="0" normalizeH="0" baseline="0" noProof="0" smtClean="0">
                <a:ln>
                  <a:noFill/>
                </a:ln>
                <a:solidFill>
                  <a:prstClr val="black"/>
                </a:solidFill>
                <a:effectLst/>
                <a:uLnTx/>
                <a:uFillTx/>
                <a:latin typeface="맑은 고딕" panose="020F050202020403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7</a:t>
            </a:fld>
            <a:endParaRPr kumimoji="1" lang="ko-KR" altLang="en-US" sz="12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1305905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F16A3-6350-494C-F238-CFD8A942CF0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DA6AA8-7AEC-99A9-6653-3C329D0D60FA}"/>
              </a:ext>
            </a:extLst>
          </p:cNvPr>
          <p:cNvSpPr>
            <a:spLocks noGrp="1" noRot="1" noChangeAspect="1"/>
          </p:cNvSpPr>
          <p:nvPr>
            <p:ph type="sldImg"/>
          </p:nvPr>
        </p:nvSpPr>
        <p:spPr>
          <a:xfrm>
            <a:off x="690563" y="1143000"/>
            <a:ext cx="5486400" cy="3087688"/>
          </a:xfrm>
        </p:spPr>
      </p:sp>
      <p:sp>
        <p:nvSpPr>
          <p:cNvPr id="3" name="슬라이드 노트 개체 틀 2">
            <a:extLst>
              <a:ext uri="{FF2B5EF4-FFF2-40B4-BE49-F238E27FC236}">
                <a16:creationId xmlns:a16="http://schemas.microsoft.com/office/drawing/2014/main" id="{DDBE566A-A9A8-E978-4269-C8338EE4162B}"/>
              </a:ext>
            </a:extLst>
          </p:cNvPr>
          <p:cNvSpPr>
            <a:spLocks noGrp="1"/>
          </p:cNvSpPr>
          <p:nvPr>
            <p:ph type="body" idx="1"/>
          </p:nvPr>
        </p:nvSpPr>
        <p:spPr/>
        <p:txBody>
          <a:bodyPr/>
          <a:lstStyle/>
          <a:p>
            <a:r>
              <a:t>[7:40–8:00] 산출물은 저장소 4개, API 19개, 직접 배포한 컨트랙트, 판정 7종, 보안 설계와 문서입니다. QR로 시연 영상과 저장소를 확인하실 수 있습니다. 감사합니다.</a:t>
            </a:r>
          </a:p>
        </p:txBody>
      </p:sp>
      <p:sp>
        <p:nvSpPr>
          <p:cNvPr id="4" name="슬라이드 번호 개체 틀 3">
            <a:extLst>
              <a:ext uri="{FF2B5EF4-FFF2-40B4-BE49-F238E27FC236}">
                <a16:creationId xmlns:a16="http://schemas.microsoft.com/office/drawing/2014/main" id="{428881B9-C8DA-D0BD-6DB1-EF9A09177422}"/>
              </a:ext>
            </a:extLst>
          </p:cNvPr>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3EA78759-A36B-0749-837C-5E6C8189DD6D}" type="slidenum">
              <a:rPr kumimoji="1" lang="ko-KR" altLang="en-US" sz="1200" b="0" i="0" u="none" strike="noStrike" kern="1200" cap="none" spc="0" normalizeH="0" baseline="0" noProof="0" smtClean="0">
                <a:ln>
                  <a:noFill/>
                </a:ln>
                <a:solidFill>
                  <a:prstClr val="black"/>
                </a:solidFill>
                <a:effectLst/>
                <a:uLnTx/>
                <a:uFillTx/>
                <a:latin typeface="맑은 고딕" panose="020F050202020403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8</a:t>
            </a:fld>
            <a:endParaRPr kumimoji="1" lang="ko-KR" altLang="en-US" sz="12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1896904684"/>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[2:30–5:30] 시연 영상 재생. 포인트 세 가지 — ① 모바일 신분증으로 본인확인한 사람만 등록 ② 등록 즉시 온체인 기록과 보증서 ③ 재인코딩된 영상도 유사 일치로 잡히고, 미등록은 '가짜'가 아니라는 안내가 함께 나옴.</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[7:00–7:40] 로드맵은 진입·확장·스케일 세 단계입니다. 4분기에 공공기관 PoC와 Android, 카카오톡 검증 봇을 붙이고, 내년 상반기에 언론사 API와 함께 지금 MVP의 한계 두 가지 — 선형 검색과 크롭·자막 취약성 — 를 인덱싱과 구간 단위 해시로 해소합니다. 한계를 숨기지 않고 순서를 정해 둔 상태입니다.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발표를 마치겠습니다.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9017F3C6-5242-43E6-87BE-6C536190AC29}" type="datetimeFigureOut">
              <a:rPr lang="ko-KR" altLang="en-US" smtClean="0"/>
              <a:t>2026-04-29</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FBD2BBDD-86A4-42A0-94C9-1666D33651F8}" type="slidenum">
              <a:rPr lang="ko-KR" altLang="en-US" smtClean="0"/>
              <a:t>‹#›</a:t>
            </a:fld>
            <a:endParaRPr lang="ko-KR" altLang="en-US"/>
          </a:p>
        </p:txBody>
      </p:sp>
    </p:spTree>
    <p:extLst>
      <p:ext uri="{BB962C8B-B14F-4D97-AF65-F5344CB8AC3E}">
        <p14:creationId xmlns:p14="http://schemas.microsoft.com/office/powerpoint/2010/main" val="149386806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9017F3C6-5242-43E6-87BE-6C536190AC29}" type="datetimeFigureOut">
              <a:rPr lang="ko-KR" altLang="en-US" smtClean="0"/>
              <a:t>2026-04-29</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FBD2BBDD-86A4-42A0-94C9-1666D33651F8}" type="slidenum">
              <a:rPr lang="ko-KR" altLang="en-US" smtClean="0"/>
              <a:t>‹#›</a:t>
            </a:fld>
            <a:endParaRPr lang="ko-KR" altLang="en-US"/>
          </a:p>
        </p:txBody>
      </p:sp>
    </p:spTree>
    <p:extLst>
      <p:ext uri="{BB962C8B-B14F-4D97-AF65-F5344CB8AC3E}">
        <p14:creationId xmlns:p14="http://schemas.microsoft.com/office/powerpoint/2010/main" val="21240080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2"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1">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9017F3C6-5242-43E6-87BE-6C536190AC29}" type="datetimeFigureOut">
              <a:rPr lang="ko-KR" altLang="en-US" smtClean="0"/>
              <a:t>2026-04-29</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FBD2BBDD-86A4-42A0-94C9-1666D33651F8}" type="slidenum">
              <a:rPr lang="ko-KR" altLang="en-US" smtClean="0"/>
              <a:t>‹#›</a:t>
            </a:fld>
            <a:endParaRPr lang="ko-KR" altLang="en-US"/>
          </a:p>
        </p:txBody>
      </p:sp>
    </p:spTree>
    <p:extLst>
      <p:ext uri="{BB962C8B-B14F-4D97-AF65-F5344CB8AC3E}">
        <p14:creationId xmlns:p14="http://schemas.microsoft.com/office/powerpoint/2010/main" val="90746804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1"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1"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9017F3C6-5242-43E6-87BE-6C536190AC29}" type="datetimeFigureOut">
              <a:rPr lang="ko-KR" altLang="en-US" smtClean="0"/>
              <a:t>2026-04-29</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FBD2BBDD-86A4-42A0-94C9-1666D33651F8}" type="slidenum">
              <a:rPr lang="ko-KR" altLang="en-US" smtClean="0"/>
              <a:t>‹#›</a:t>
            </a:fld>
            <a:endParaRPr lang="ko-KR" altLang="en-US"/>
          </a:p>
        </p:txBody>
      </p:sp>
    </p:spTree>
    <p:extLst>
      <p:ext uri="{BB962C8B-B14F-4D97-AF65-F5344CB8AC3E}">
        <p14:creationId xmlns:p14="http://schemas.microsoft.com/office/powerpoint/2010/main" val="135295960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9" y="365126"/>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9" y="1681164"/>
            <a:ext cx="5157787"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9" y="2505076"/>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2" y="1681164"/>
            <a:ext cx="5183188"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2" y="2505076"/>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9017F3C6-5242-43E6-87BE-6C536190AC29}" type="datetimeFigureOut">
              <a:rPr lang="ko-KR" altLang="en-US" smtClean="0"/>
              <a:t>2026-04-29</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FBD2BBDD-86A4-42A0-94C9-1666D33651F8}" type="slidenum">
              <a:rPr lang="ko-KR" altLang="en-US" smtClean="0"/>
              <a:t>‹#›</a:t>
            </a:fld>
            <a:endParaRPr lang="ko-KR" altLang="en-US"/>
          </a:p>
        </p:txBody>
      </p:sp>
    </p:spTree>
    <p:extLst>
      <p:ext uri="{BB962C8B-B14F-4D97-AF65-F5344CB8AC3E}">
        <p14:creationId xmlns:p14="http://schemas.microsoft.com/office/powerpoint/2010/main" val="74999365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9017F3C6-5242-43E6-87BE-6C536190AC29}" type="datetimeFigureOut">
              <a:rPr lang="ko-KR" altLang="en-US" smtClean="0"/>
              <a:t>2026-04-29</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FBD2BBDD-86A4-42A0-94C9-1666D33651F8}" type="slidenum">
              <a:rPr lang="ko-KR" altLang="en-US" smtClean="0"/>
              <a:t>‹#›</a:t>
            </a:fld>
            <a:endParaRPr lang="ko-KR" altLang="en-US"/>
          </a:p>
        </p:txBody>
      </p:sp>
    </p:spTree>
    <p:extLst>
      <p:ext uri="{BB962C8B-B14F-4D97-AF65-F5344CB8AC3E}">
        <p14:creationId xmlns:p14="http://schemas.microsoft.com/office/powerpoint/2010/main" val="2653117524"/>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9017F3C6-5242-43E6-87BE-6C536190AC29}" type="datetimeFigureOut">
              <a:rPr lang="ko-KR" altLang="en-US" smtClean="0"/>
              <a:t>2026-04-29</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FBD2BBDD-86A4-42A0-94C9-1666D33651F8}" type="slidenum">
              <a:rPr lang="ko-KR" altLang="en-US" smtClean="0"/>
              <a:t>‹#›</a:t>
            </a:fld>
            <a:endParaRPr lang="ko-KR" altLang="en-US"/>
          </a:p>
        </p:txBody>
      </p:sp>
    </p:spTree>
    <p:extLst>
      <p:ext uri="{BB962C8B-B14F-4D97-AF65-F5344CB8AC3E}">
        <p14:creationId xmlns:p14="http://schemas.microsoft.com/office/powerpoint/2010/main" val="40648299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90" y="457200"/>
            <a:ext cx="3932236"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6"/>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9017F3C6-5242-43E6-87BE-6C536190AC29}" type="datetimeFigureOut">
              <a:rPr lang="ko-KR" altLang="en-US" smtClean="0"/>
              <a:t>2026-04-29</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FBD2BBDD-86A4-42A0-94C9-1666D33651F8}" type="slidenum">
              <a:rPr lang="ko-KR" altLang="en-US" smtClean="0"/>
              <a:t>‹#›</a:t>
            </a:fld>
            <a:endParaRPr lang="ko-KR" altLang="en-US"/>
          </a:p>
        </p:txBody>
      </p:sp>
    </p:spTree>
    <p:extLst>
      <p:ext uri="{BB962C8B-B14F-4D97-AF65-F5344CB8AC3E}">
        <p14:creationId xmlns:p14="http://schemas.microsoft.com/office/powerpoint/2010/main" val="167320566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90" y="457200"/>
            <a:ext cx="3932236"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6"/>
            <a:ext cx="6172201" cy="4873625"/>
          </a:xfrm>
        </p:spPr>
        <p:txBody>
          <a:bodyPr/>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endParaRPr lang="ko-KR" altLang="en-US"/>
          </a:p>
        </p:txBody>
      </p:sp>
      <p:sp>
        <p:nvSpPr>
          <p:cNvPr id="4" name="텍스트 개체 틀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9017F3C6-5242-43E6-87BE-6C536190AC29}" type="datetimeFigureOut">
              <a:rPr lang="ko-KR" altLang="en-US" smtClean="0"/>
              <a:t>2026-04-29</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FBD2BBDD-86A4-42A0-94C9-1666D33651F8}" type="slidenum">
              <a:rPr lang="ko-KR" altLang="en-US" smtClean="0"/>
              <a:t>‹#›</a:t>
            </a:fld>
            <a:endParaRPr lang="ko-KR" altLang="en-US"/>
          </a:p>
        </p:txBody>
      </p:sp>
    </p:spTree>
    <p:extLst>
      <p:ext uri="{BB962C8B-B14F-4D97-AF65-F5344CB8AC3E}">
        <p14:creationId xmlns:p14="http://schemas.microsoft.com/office/powerpoint/2010/main" val="177159018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9017F3C6-5242-43E6-87BE-6C536190AC29}" type="datetimeFigureOut">
              <a:rPr lang="ko-KR" altLang="en-US" smtClean="0"/>
              <a:t>2026-04-29</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FBD2BBDD-86A4-42A0-94C9-1666D33651F8}" type="slidenum">
              <a:rPr lang="ko-KR" altLang="en-US" smtClean="0"/>
              <a:t>‹#›</a:t>
            </a:fld>
            <a:endParaRPr lang="ko-KR" altLang="en-US"/>
          </a:p>
        </p:txBody>
      </p:sp>
    </p:spTree>
    <p:extLst>
      <p:ext uri="{BB962C8B-B14F-4D97-AF65-F5344CB8AC3E}">
        <p14:creationId xmlns:p14="http://schemas.microsoft.com/office/powerpoint/2010/main" val="3399123005"/>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899"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199"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9017F3C6-5242-43E6-87BE-6C536190AC29}" type="datetimeFigureOut">
              <a:rPr lang="ko-KR" altLang="en-US" smtClean="0"/>
              <a:t>2026-04-29</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FBD2BBDD-86A4-42A0-94C9-1666D33651F8}" type="slidenum">
              <a:rPr lang="ko-KR" altLang="en-US" smtClean="0"/>
              <a:t>‹#›</a:t>
            </a:fld>
            <a:endParaRPr lang="ko-KR" altLang="en-US"/>
          </a:p>
        </p:txBody>
      </p:sp>
    </p:spTree>
    <p:extLst>
      <p:ext uri="{BB962C8B-B14F-4D97-AF65-F5344CB8AC3E}">
        <p14:creationId xmlns:p14="http://schemas.microsoft.com/office/powerpoint/2010/main" val="3702738244"/>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제목 및 내용">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33AE2BC4-951B-9E6F-FFA9-BEC440120B3F}"/>
              </a:ext>
            </a:extLst>
          </p:cNvPr>
          <p:cNvSpPr>
            <a:spLocks noGrp="1"/>
          </p:cNvSpPr>
          <p:nvPr>
            <p:ph type="sldNum" sz="quarter" idx="12"/>
          </p:nvPr>
        </p:nvSpPr>
        <p:spPr>
          <a:xfrm>
            <a:off x="5969501" y="6490911"/>
            <a:ext cx="331604" cy="365125"/>
          </a:xfrm>
          <a:prstGeom prst="rect">
            <a:avLst/>
          </a:prstGeom>
          <a:noFill/>
        </p:spPr>
        <p:txBody>
          <a:bodyPr/>
          <a:lstStyle>
            <a:lvl1pPr algn="r">
              <a:defRPr sz="900">
                <a:solidFill>
                  <a:schemeClr val="tx1">
                    <a:lumMod val="75000"/>
                    <a:lumOff val="25000"/>
                  </a:schemeClr>
                </a:solidFill>
                <a:latin typeface="+mn-ea"/>
                <a:ea typeface="+mn-ea"/>
              </a:defRPr>
            </a:lvl1pPr>
          </a:lstStyle>
          <a:p>
            <a:fld id="{FD0A10F0-CFF0-0D40-9C8C-F20E3D47AC18}" type="slidenum">
              <a:rPr kumimoji="1" lang="ko-KR" altLang="en-US" smtClean="0"/>
              <a:pPr/>
              <a:t>‹#›</a:t>
            </a:fld>
            <a:endParaRPr kumimoji="1" lang="ko-KR" altLang="en-US" dirty="0"/>
          </a:p>
        </p:txBody>
      </p:sp>
      <p:sp>
        <p:nvSpPr>
          <p:cNvPr id="9" name="내용 개체 틀 856">
            <a:extLst>
              <a:ext uri="{FF2B5EF4-FFF2-40B4-BE49-F238E27FC236}">
                <a16:creationId xmlns:a16="http://schemas.microsoft.com/office/drawing/2014/main" id="{E1A7D292-544E-66A7-F9C7-396C03F0D53E}"/>
              </a:ext>
            </a:extLst>
          </p:cNvPr>
          <p:cNvSpPr>
            <a:spLocks noGrp="1"/>
          </p:cNvSpPr>
          <p:nvPr>
            <p:ph sz="quarter" idx="14" hasCustomPrompt="1"/>
          </p:nvPr>
        </p:nvSpPr>
        <p:spPr>
          <a:xfrm>
            <a:off x="278302" y="680586"/>
            <a:ext cx="11713998" cy="332874"/>
          </a:xfrm>
          <a:prstGeom prst="rect">
            <a:avLst/>
          </a:prstGeom>
        </p:spPr>
        <p:txBody>
          <a:bodyPr/>
          <a:lstStyle>
            <a:lvl1pPr marL="0" indent="0">
              <a:buNone/>
              <a:defRPr sz="2000" b="1" i="0">
                <a:solidFill>
                  <a:srgbClr val="2F486F"/>
                </a:solidFill>
                <a:latin typeface="+mn-ea"/>
                <a:ea typeface="+mn-ea"/>
              </a:defRPr>
            </a:lvl1pPr>
          </a:lstStyle>
          <a:p>
            <a:r>
              <a:rPr kumimoji="1" lang="en-US" altLang="ko-KR" dirty="0"/>
              <a:t>Headline -20pt</a:t>
            </a:r>
            <a:endParaRPr kumimoji="1" lang="ko-KR" altLang="en-US" dirty="0"/>
          </a:p>
        </p:txBody>
      </p:sp>
      <p:pic>
        <p:nvPicPr>
          <p:cNvPr id="10" name="그림 9">
            <a:extLst>
              <a:ext uri="{FF2B5EF4-FFF2-40B4-BE49-F238E27FC236}">
                <a16:creationId xmlns:a16="http://schemas.microsoft.com/office/drawing/2014/main" id="{C04EFB48-A2B7-62CC-80DD-7E393861498E}"/>
              </a:ext>
            </a:extLst>
          </p:cNvPr>
          <p:cNvPicPr>
            <a:picLocks noChangeAspect="1"/>
          </p:cNvPicPr>
          <p:nvPr userDrawn="1"/>
        </p:nvPicPr>
        <p:blipFill>
          <a:blip r:embed="rId2"/>
          <a:stretch>
            <a:fillRect/>
          </a:stretch>
        </p:blipFill>
        <p:spPr>
          <a:xfrm>
            <a:off x="11413681" y="6429527"/>
            <a:ext cx="595899" cy="262196"/>
          </a:xfrm>
          <a:prstGeom prst="rect">
            <a:avLst/>
          </a:prstGeom>
        </p:spPr>
      </p:pic>
      <p:sp>
        <p:nvSpPr>
          <p:cNvPr id="12" name="내용 개체 틀 856">
            <a:extLst>
              <a:ext uri="{FF2B5EF4-FFF2-40B4-BE49-F238E27FC236}">
                <a16:creationId xmlns:a16="http://schemas.microsoft.com/office/drawing/2014/main" id="{E0702460-EB11-24AD-FAE9-F66C60634BBB}"/>
              </a:ext>
            </a:extLst>
          </p:cNvPr>
          <p:cNvSpPr>
            <a:spLocks noGrp="1"/>
          </p:cNvSpPr>
          <p:nvPr>
            <p:ph sz="quarter" idx="15" hasCustomPrompt="1"/>
          </p:nvPr>
        </p:nvSpPr>
        <p:spPr>
          <a:xfrm>
            <a:off x="278302" y="126649"/>
            <a:ext cx="11713998" cy="253631"/>
          </a:xfrm>
          <a:prstGeom prst="rect">
            <a:avLst/>
          </a:prstGeom>
        </p:spPr>
        <p:txBody>
          <a:bodyPr>
            <a:normAutofit/>
          </a:bodyPr>
          <a:lstStyle>
            <a:lvl1pPr marL="0" indent="0">
              <a:buNone/>
              <a:defRPr sz="1401" b="1" i="0">
                <a:solidFill>
                  <a:schemeClr val="bg1"/>
                </a:solidFill>
                <a:latin typeface="+mn-ea"/>
                <a:ea typeface="+mn-ea"/>
              </a:defRPr>
            </a:lvl1pPr>
          </a:lstStyle>
          <a:p>
            <a:r>
              <a:rPr kumimoji="1" lang="en-US" altLang="ko-KR" dirty="0"/>
              <a:t>Headline -14pt</a:t>
            </a:r>
            <a:endParaRPr kumimoji="1" lang="ko-KR" altLang="en-US" dirty="0"/>
          </a:p>
        </p:txBody>
      </p:sp>
      <p:sp>
        <p:nvSpPr>
          <p:cNvPr id="11" name="직사각형 10">
            <a:extLst>
              <a:ext uri="{FF2B5EF4-FFF2-40B4-BE49-F238E27FC236}">
                <a16:creationId xmlns:a16="http://schemas.microsoft.com/office/drawing/2014/main" id="{F05CF0C4-2B5F-08AC-6DC1-EC0F1AB5A315}"/>
              </a:ext>
            </a:extLst>
          </p:cNvPr>
          <p:cNvSpPr/>
          <p:nvPr userDrawn="1"/>
        </p:nvSpPr>
        <p:spPr>
          <a:xfrm>
            <a:off x="0" y="1966"/>
            <a:ext cx="12192000" cy="503001"/>
          </a:xfrm>
          <a:prstGeom prst="rect">
            <a:avLst/>
          </a:prstGeom>
          <a:gradFill>
            <a:gsLst>
              <a:gs pos="0">
                <a:schemeClr val="tx2">
                  <a:lumMod val="50000"/>
                </a:schemeClr>
              </a:gs>
              <a:gs pos="100000">
                <a:schemeClr val="bg1"/>
              </a:gs>
              <a:gs pos="67000">
                <a:schemeClr val="accent5">
                  <a:lumMod val="75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1401" b="1" dirty="0">
              <a:latin typeface="+mn-ea"/>
            </a:endParaRPr>
          </a:p>
        </p:txBody>
      </p:sp>
    </p:spTree>
    <p:extLst>
      <p:ext uri="{BB962C8B-B14F-4D97-AF65-F5344CB8AC3E}">
        <p14:creationId xmlns:p14="http://schemas.microsoft.com/office/powerpoint/2010/main" val="168616894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pic>
        <p:nvPicPr>
          <p:cNvPr id="15" name="그림 개체 틀 26">
            <a:extLst>
              <a:ext uri="{FF2B5EF4-FFF2-40B4-BE49-F238E27FC236}">
                <a16:creationId xmlns:a16="http://schemas.microsoft.com/office/drawing/2014/main" id="{9CB8EF28-E13B-574B-BAEA-E07BD8EF8907}"/>
              </a:ext>
            </a:extLst>
          </p:cNvPr>
          <p:cNvPicPr>
            <a:picLocks noChangeAspect="1"/>
          </p:cNvPicPr>
          <p:nvPr userDrawn="1"/>
        </p:nvPicPr>
        <p:blipFill>
          <a:blip r:embed="rId2">
            <a:extLst>
              <a:ext uri="{28A0092B-C50C-407E-A947-70E740481C1C}">
                <a14:useLocalDpi xmlns:a14="http://schemas.microsoft.com/office/drawing/2010/main" val="0"/>
              </a:ext>
            </a:extLst>
          </a:blip>
          <a:srcRect t="615" b="615"/>
          <a:stretch>
            <a:fillRect/>
          </a:stretch>
        </p:blipFill>
        <p:spPr>
          <a:xfrm>
            <a:off x="0" y="0"/>
            <a:ext cx="12192000" cy="6858000"/>
          </a:xfrm>
          <a:prstGeom prst="rect">
            <a:avLst/>
          </a:prstGeom>
        </p:spPr>
      </p:pic>
      <p:sp>
        <p:nvSpPr>
          <p:cNvPr id="25" name="직사각형 24">
            <a:extLst>
              <a:ext uri="{FF2B5EF4-FFF2-40B4-BE49-F238E27FC236}">
                <a16:creationId xmlns:a16="http://schemas.microsoft.com/office/drawing/2014/main" id="{84DC2898-D13A-D244-98C7-2406C1F60CD3}"/>
              </a:ext>
            </a:extLst>
          </p:cNvPr>
          <p:cNvSpPr/>
          <p:nvPr userDrawn="1"/>
        </p:nvSpPr>
        <p:spPr>
          <a:xfrm>
            <a:off x="0" y="3085187"/>
            <a:ext cx="12192000" cy="3772812"/>
          </a:xfrm>
          <a:prstGeom prst="rect">
            <a:avLst/>
          </a:prstGeom>
          <a:solidFill>
            <a:schemeClr val="bg2">
              <a:lumMod val="25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sz="1463" dirty="0">
              <a:solidFill>
                <a:srgbClr val="FF8846"/>
              </a:solidFill>
              <a:latin typeface="+mn-lt"/>
            </a:endParaRPr>
          </a:p>
        </p:txBody>
      </p:sp>
      <p:sp>
        <p:nvSpPr>
          <p:cNvPr id="66" name="직사각형 65">
            <a:extLst>
              <a:ext uri="{FF2B5EF4-FFF2-40B4-BE49-F238E27FC236}">
                <a16:creationId xmlns:a16="http://schemas.microsoft.com/office/drawing/2014/main" id="{59202250-FB96-DF49-A850-2BAB80BC774A}"/>
              </a:ext>
            </a:extLst>
          </p:cNvPr>
          <p:cNvSpPr/>
          <p:nvPr userDrawn="1"/>
        </p:nvSpPr>
        <p:spPr>
          <a:xfrm>
            <a:off x="0" y="0"/>
            <a:ext cx="12192000" cy="3085190"/>
          </a:xfrm>
          <a:prstGeom prst="rect">
            <a:avLst/>
          </a:prstGeom>
          <a:solidFill>
            <a:srgbClr val="2E307E">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sz="1463" dirty="0">
              <a:solidFill>
                <a:srgbClr val="FF8846"/>
              </a:solidFill>
              <a:latin typeface="+mn-lt"/>
            </a:endParaRPr>
          </a:p>
        </p:txBody>
      </p:sp>
      <p:pic>
        <p:nvPicPr>
          <p:cNvPr id="11" name="그래픽 10">
            <a:extLst>
              <a:ext uri="{FF2B5EF4-FFF2-40B4-BE49-F238E27FC236}">
                <a16:creationId xmlns:a16="http://schemas.microsoft.com/office/drawing/2014/main" id="{64628844-A5C8-4E42-B38F-792EBA8E1B5E}"/>
              </a:ext>
            </a:extLst>
          </p:cNvPr>
          <p:cNvPicPr>
            <a:picLocks noChangeAspect="1"/>
          </p:cNvPicPr>
          <p:nvPr userDrawn="1"/>
        </p:nvPicPr>
        <p:blipFill rotWithShape="1">
          <a:blip r:embed="rId3">
            <a:extLst>
              <a:ext uri="{96DAC541-7B7A-43D3-8B79-37D633B846F1}">
                <asvg:svgBlip xmlns:asvg="http://schemas.microsoft.com/office/drawing/2016/SVG/main" xmlns="" r:embed="rId4"/>
              </a:ext>
            </a:extLst>
          </a:blip>
          <a:srcRect b="19864"/>
          <a:stretch/>
        </p:blipFill>
        <p:spPr>
          <a:xfrm>
            <a:off x="11417715" y="6473628"/>
            <a:ext cx="500070" cy="240440"/>
          </a:xfrm>
          <a:prstGeom prst="rect">
            <a:avLst/>
          </a:prstGeom>
        </p:spPr>
      </p:pic>
      <p:sp>
        <p:nvSpPr>
          <p:cNvPr id="8" name="TextBox 7">
            <a:extLst>
              <a:ext uri="{FF2B5EF4-FFF2-40B4-BE49-F238E27FC236}">
                <a16:creationId xmlns:a16="http://schemas.microsoft.com/office/drawing/2014/main" id="{D25FBF63-0668-204F-8163-6205E75DDE29}"/>
              </a:ext>
            </a:extLst>
          </p:cNvPr>
          <p:cNvSpPr txBox="1"/>
          <p:nvPr userDrawn="1"/>
        </p:nvSpPr>
        <p:spPr>
          <a:xfrm>
            <a:off x="3675234" y="2297045"/>
            <a:ext cx="4812373" cy="707886"/>
          </a:xfrm>
          <a:prstGeom prst="rect">
            <a:avLst/>
          </a:prstGeom>
          <a:noFill/>
        </p:spPr>
        <p:txBody>
          <a:bodyPr wrap="square" rtlCol="0">
            <a:spAutoFit/>
          </a:bodyPr>
          <a:lstStyle/>
          <a:p>
            <a:pPr algn="ctr" latinLnBrk="0">
              <a:defRPr/>
            </a:pPr>
            <a:r>
              <a:rPr lang="en-US" altLang="ko-KR" sz="4000" b="1" kern="0" dirty="0">
                <a:solidFill>
                  <a:sysClr val="window" lastClr="FFFFFF"/>
                </a:solidFill>
                <a:latin typeface="맑은 고딕"/>
                <a:cs typeface="Calibri" panose="020F0502020204030204" pitchFamily="34" charset="0"/>
              </a:rPr>
              <a:t>THANK YOU</a:t>
            </a:r>
            <a:endParaRPr lang="ko-KR" altLang="en-US" sz="4000" b="1" kern="0" dirty="0">
              <a:solidFill>
                <a:sysClr val="window" lastClr="FFFFFF"/>
              </a:solidFill>
              <a:latin typeface="맑은 고딕"/>
              <a:cs typeface="Calibri" panose="020F0502020204030204" pitchFamily="34" charset="0"/>
            </a:endParaRPr>
          </a:p>
        </p:txBody>
      </p:sp>
      <p:cxnSp>
        <p:nvCxnSpPr>
          <p:cNvPr id="9" name="직선 연결선 8"/>
          <p:cNvCxnSpPr/>
          <p:nvPr userDrawn="1"/>
        </p:nvCxnSpPr>
        <p:spPr>
          <a:xfrm>
            <a:off x="4065608" y="3089131"/>
            <a:ext cx="3993004" cy="0"/>
          </a:xfrm>
          <a:prstGeom prst="line">
            <a:avLst/>
          </a:prstGeom>
          <a:noFill/>
          <a:ln w="19050" cap="flat" cmpd="sng" algn="ctr">
            <a:solidFill>
              <a:sysClr val="window" lastClr="FFFFFF"/>
            </a:solidFill>
            <a:prstDash val="solid"/>
          </a:ln>
          <a:effectLst/>
        </p:spPr>
      </p:cxnSp>
      <p:pic>
        <p:nvPicPr>
          <p:cNvPr id="19" name="그림 18">
            <a:extLst>
              <a:ext uri="{FF2B5EF4-FFF2-40B4-BE49-F238E27FC236}">
                <a16:creationId xmlns:a16="http://schemas.microsoft.com/office/drawing/2014/main" id="{E90DFD55-B1A1-05FD-55B5-A308C68E5CAB}"/>
              </a:ext>
            </a:extLst>
          </p:cNvPr>
          <p:cNvPicPr>
            <a:picLocks noChangeAspect="1"/>
          </p:cNvPicPr>
          <p:nvPr userDrawn="1"/>
        </p:nvPicPr>
        <p:blipFill>
          <a:blip r:embed="rId5"/>
          <a:stretch>
            <a:fillRect/>
          </a:stretch>
        </p:blipFill>
        <p:spPr>
          <a:xfrm>
            <a:off x="-116274" y="5927988"/>
            <a:ext cx="2463800" cy="812800"/>
          </a:xfrm>
          <a:prstGeom prst="rect">
            <a:avLst/>
          </a:prstGeom>
        </p:spPr>
      </p:pic>
      <p:pic>
        <p:nvPicPr>
          <p:cNvPr id="10" name="그림 9"/>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810367" y="5874081"/>
            <a:ext cx="2743199" cy="1199093"/>
          </a:xfrm>
          <a:prstGeom prst="rect">
            <a:avLst/>
          </a:prstGeom>
        </p:spPr>
      </p:pic>
    </p:spTree>
    <p:extLst>
      <p:ext uri="{BB962C8B-B14F-4D97-AF65-F5344CB8AC3E}">
        <p14:creationId xmlns:p14="http://schemas.microsoft.com/office/powerpoint/2010/main" val="406256235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2" y="365126"/>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17F3C6-5242-43E6-87BE-6C536190AC29}" type="datetimeFigureOut">
              <a:rPr lang="ko-KR" altLang="en-US" smtClean="0"/>
              <a:t>2026-04-29</a:t>
            </a:fld>
            <a:endParaRPr lang="ko-KR" altLang="en-US"/>
          </a:p>
        </p:txBody>
      </p:sp>
      <p:sp>
        <p:nvSpPr>
          <p:cNvPr id="5" name="바닥글 개체 틀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D2BBDD-86A4-42A0-94C9-1666D33651F8}" type="slidenum">
              <a:rPr lang="ko-KR" altLang="en-US" smtClean="0"/>
              <a:t>‹#›</a:t>
            </a:fld>
            <a:endParaRPr lang="ko-KR" altLang="en-US"/>
          </a:p>
        </p:txBody>
      </p:sp>
    </p:spTree>
    <p:extLst>
      <p:ext uri="{BB962C8B-B14F-4D97-AF65-F5344CB8AC3E}">
        <p14:creationId xmlns:p14="http://schemas.microsoft.com/office/powerpoint/2010/main" val="950541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8" r:id="rId12"/>
    <p:sldLayoutId id="2147483679" r:id="rId13"/>
  </p:sldLayoutIdLst>
  <p:timing>
    <p:tnLst>
      <p:par>
        <p:cTn id="1" dur="indefinite" restart="never" nodeType="tmRoot"/>
      </p:par>
    </p:tnLst>
  </p:timing>
  <p:txStyles>
    <p:titleStyle>
      <a:lvl1pPr algn="l" defTabSz="914411"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4" indent="-228604" algn="l" defTabSz="914411" rtl="0" eaLnBrk="1" latinLnBrk="1"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809" indent="-228604" algn="l" defTabSz="914411"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5" indent="-228604" algn="l" defTabSz="914411"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1" indent="-228604" algn="l" defTabSz="914411" rtl="0" eaLnBrk="1" latinLnBrk="1"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427" indent="-228604" algn="l" defTabSz="914411" rtl="0" eaLnBrk="1" latinLnBrk="1"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632" indent="-228604" algn="l" defTabSz="914411" rtl="0" eaLnBrk="1" latinLnBrk="1"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38" indent="-228604" algn="l" defTabSz="914411" rtl="0" eaLnBrk="1" latinLnBrk="1"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44" indent="-228604" algn="l" defTabSz="914411" rtl="0" eaLnBrk="1" latinLnBrk="1"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49" indent="-228604" algn="l" defTabSz="914411" rtl="0" eaLnBrk="1" latinLnBrk="1"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ko-KR"/>
      </a:defPPr>
      <a:lvl1pPr marL="0" algn="l" defTabSz="914411" rtl="0" eaLnBrk="1" latinLnBrk="1" hangingPunct="1">
        <a:defRPr sz="1801" kern="1200">
          <a:solidFill>
            <a:schemeClr val="tx1"/>
          </a:solidFill>
          <a:latin typeface="+mn-lt"/>
          <a:ea typeface="+mn-ea"/>
          <a:cs typeface="+mn-cs"/>
        </a:defRPr>
      </a:lvl1pPr>
      <a:lvl2pPr marL="457206" algn="l" defTabSz="914411" rtl="0" eaLnBrk="1" latinLnBrk="1" hangingPunct="1">
        <a:defRPr sz="1801" kern="1200">
          <a:solidFill>
            <a:schemeClr val="tx1"/>
          </a:solidFill>
          <a:latin typeface="+mn-lt"/>
          <a:ea typeface="+mn-ea"/>
          <a:cs typeface="+mn-cs"/>
        </a:defRPr>
      </a:lvl2pPr>
      <a:lvl3pPr marL="914411" algn="l" defTabSz="914411" rtl="0" eaLnBrk="1" latinLnBrk="1" hangingPunct="1">
        <a:defRPr sz="1801" kern="1200">
          <a:solidFill>
            <a:schemeClr val="tx1"/>
          </a:solidFill>
          <a:latin typeface="+mn-lt"/>
          <a:ea typeface="+mn-ea"/>
          <a:cs typeface="+mn-cs"/>
        </a:defRPr>
      </a:lvl3pPr>
      <a:lvl4pPr marL="1371617" algn="l" defTabSz="914411" rtl="0" eaLnBrk="1" latinLnBrk="1" hangingPunct="1">
        <a:defRPr sz="1801" kern="1200">
          <a:solidFill>
            <a:schemeClr val="tx1"/>
          </a:solidFill>
          <a:latin typeface="+mn-lt"/>
          <a:ea typeface="+mn-ea"/>
          <a:cs typeface="+mn-cs"/>
        </a:defRPr>
      </a:lvl4pPr>
      <a:lvl5pPr marL="1828823" algn="l" defTabSz="914411" rtl="0" eaLnBrk="1" latinLnBrk="1" hangingPunct="1">
        <a:defRPr sz="1801" kern="1200">
          <a:solidFill>
            <a:schemeClr val="tx1"/>
          </a:solidFill>
          <a:latin typeface="+mn-lt"/>
          <a:ea typeface="+mn-ea"/>
          <a:cs typeface="+mn-cs"/>
        </a:defRPr>
      </a:lvl5pPr>
      <a:lvl6pPr marL="2286029" algn="l" defTabSz="914411" rtl="0" eaLnBrk="1" latinLnBrk="1" hangingPunct="1">
        <a:defRPr sz="1801" kern="1200">
          <a:solidFill>
            <a:schemeClr val="tx1"/>
          </a:solidFill>
          <a:latin typeface="+mn-lt"/>
          <a:ea typeface="+mn-ea"/>
          <a:cs typeface="+mn-cs"/>
        </a:defRPr>
      </a:lvl6pPr>
      <a:lvl7pPr marL="2743234" algn="l" defTabSz="914411" rtl="0" eaLnBrk="1" latinLnBrk="1" hangingPunct="1">
        <a:defRPr sz="1801" kern="1200">
          <a:solidFill>
            <a:schemeClr val="tx1"/>
          </a:solidFill>
          <a:latin typeface="+mn-lt"/>
          <a:ea typeface="+mn-ea"/>
          <a:cs typeface="+mn-cs"/>
        </a:defRPr>
      </a:lvl7pPr>
      <a:lvl8pPr marL="3200440" algn="l" defTabSz="914411" rtl="0" eaLnBrk="1" latinLnBrk="1" hangingPunct="1">
        <a:defRPr sz="1801" kern="1200">
          <a:solidFill>
            <a:schemeClr val="tx1"/>
          </a:solidFill>
          <a:latin typeface="+mn-lt"/>
          <a:ea typeface="+mn-ea"/>
          <a:cs typeface="+mn-cs"/>
        </a:defRPr>
      </a:lvl8pPr>
      <a:lvl9pPr marL="3657646" algn="l" defTabSz="914411" rtl="0" eaLnBrk="1" latinLnBrk="1"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한쪽 모서리는 잘리고 다른 쪽 모서리는 둥근 사각형 1">
            <a:extLst>
              <a:ext uri="{FF2B5EF4-FFF2-40B4-BE49-F238E27FC236}">
                <a16:creationId xmlns:a16="http://schemas.microsoft.com/office/drawing/2014/main" id="{FA9218BD-C6DB-F142-968C-E3B4A3E1748D}"/>
              </a:ext>
            </a:extLst>
          </p:cNvPr>
          <p:cNvSpPr/>
          <p:nvPr/>
        </p:nvSpPr>
        <p:spPr>
          <a:xfrm rot="10800000" flipH="1">
            <a:off x="0" y="0"/>
            <a:ext cx="12192000" cy="6862121"/>
          </a:xfrm>
          <a:prstGeom prst="snipRoundRect">
            <a:avLst>
              <a:gd name="adj1" fmla="val 0"/>
              <a:gd name="adj2" fmla="val 0"/>
            </a:avLst>
          </a:prstGeom>
          <a:solidFill>
            <a:srgbClr val="2E307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ko-KR" altLang="en-US" sz="1463" dirty="0">
                <a:solidFill>
                  <a:srgbClr val="F9E76C"/>
                </a:solidFill>
              </a:rPr>
              <a:t> </a:t>
            </a:r>
            <a:r>
              <a:rPr kumimoji="1" lang="en-US" altLang="ko-KR" sz="1463" dirty="0">
                <a:solidFill>
                  <a:srgbClr val="F9E76C"/>
                </a:solidFill>
              </a:rPr>
              <a:t> </a:t>
            </a:r>
            <a:endParaRPr kumimoji="1" lang="ko-KR" altLang="en-US" sz="1463" dirty="0">
              <a:solidFill>
                <a:srgbClr val="F9E76C"/>
              </a:solidFill>
            </a:endParaRPr>
          </a:p>
        </p:txBody>
      </p:sp>
      <p:pic>
        <p:nvPicPr>
          <p:cNvPr id="11" name="그림 10">
            <a:extLst>
              <a:ext uri="{FF2B5EF4-FFF2-40B4-BE49-F238E27FC236}">
                <a16:creationId xmlns:a16="http://schemas.microsoft.com/office/drawing/2014/main" id="{6E97E325-2F6E-D542-AA5B-46150E003C78}"/>
              </a:ext>
            </a:extLst>
          </p:cNvPr>
          <p:cNvPicPr>
            <a:picLocks noChangeAspect="1"/>
          </p:cNvPicPr>
          <p:nvPr/>
        </p:nvPicPr>
        <p:blipFill>
          <a:blip r:embed="rId3"/>
          <a:stretch>
            <a:fillRect/>
          </a:stretch>
        </p:blipFill>
        <p:spPr>
          <a:xfrm>
            <a:off x="0" y="2"/>
            <a:ext cx="12192000" cy="5170932"/>
          </a:xfrm>
          <a:prstGeom prst="rect">
            <a:avLst/>
          </a:prstGeom>
        </p:spPr>
      </p:pic>
      <p:sp>
        <p:nvSpPr>
          <p:cNvPr id="8" name="TextBox 7">
            <a:extLst>
              <a:ext uri="{FF2B5EF4-FFF2-40B4-BE49-F238E27FC236}">
                <a16:creationId xmlns:a16="http://schemas.microsoft.com/office/drawing/2014/main" id="{D959EA83-506E-854B-BD83-64118B6D28E0}"/>
              </a:ext>
            </a:extLst>
          </p:cNvPr>
          <p:cNvSpPr txBox="1"/>
          <p:nvPr/>
        </p:nvSpPr>
        <p:spPr>
          <a:xfrm>
            <a:off x="512339" y="282760"/>
            <a:ext cx="8405370" cy="1107996"/>
          </a:xfrm>
          <a:prstGeom prst="rect">
            <a:avLst/>
          </a:prstGeom>
          <a:noFill/>
        </p:spPr>
        <p:txBody>
          <a:bodyPr wrap="square" rtlCol="0">
            <a:spAutoFit/>
          </a:bodyPr>
          <a:lstStyle/>
          <a:p>
            <a:pPr>
              <a:lnSpc>
                <a:spcPct val="150000"/>
              </a:lnSpc>
            </a:pPr>
            <a:r>
              <a:rPr lang="ko-KR" altLang="en-US" sz="1200" b="1" dirty="0">
                <a:solidFill>
                  <a:schemeClr val="accent4">
                    <a:lumMod val="40000"/>
                    <a:lumOff val="60000"/>
                  </a:schemeClr>
                </a:solidFill>
                <a:effectLst>
                  <a:outerShdw blurRad="38100" dist="38100" dir="2700000" algn="tl">
                    <a:srgbClr val="000000">
                      <a:alpha val="43137"/>
                    </a:srgbClr>
                  </a:outerShdw>
                </a:effectLst>
                <a:latin typeface="Copperplate Gothic Bold" panose="020E0705020206020404" pitchFamily="34" charset="0"/>
              </a:rPr>
              <a:t>모바일신분증을 </a:t>
            </a:r>
            <a:r>
              <a:rPr lang="ko-KR" altLang="en-US" sz="1200" b="1" dirty="0" smtClean="0">
                <a:solidFill>
                  <a:schemeClr val="accent4">
                    <a:lumMod val="40000"/>
                    <a:lumOff val="60000"/>
                  </a:schemeClr>
                </a:solidFill>
                <a:effectLst>
                  <a:outerShdw blurRad="38100" dist="38100" dir="2700000" algn="tl">
                    <a:srgbClr val="000000">
                      <a:alpha val="43137"/>
                    </a:srgbClr>
                  </a:outerShdw>
                </a:effectLst>
                <a:latin typeface="Copperplate Gothic Bold" panose="020E0705020206020404" pitchFamily="34" charset="0"/>
              </a:rPr>
              <a:t>활용한</a:t>
            </a:r>
            <a:endParaRPr lang="en-US" altLang="ko-KR" sz="1200" b="1" dirty="0" smtClean="0">
              <a:solidFill>
                <a:schemeClr val="accent4">
                  <a:lumMod val="40000"/>
                  <a:lumOff val="60000"/>
                </a:schemeClr>
              </a:solidFill>
              <a:effectLst>
                <a:outerShdw blurRad="38100" dist="38100" dir="2700000" algn="tl">
                  <a:srgbClr val="000000">
                    <a:alpha val="43137"/>
                  </a:srgbClr>
                </a:outerShdw>
              </a:effectLst>
              <a:latin typeface="Copperplate Gothic Bold" panose="020E0705020206020404" pitchFamily="34" charset="0"/>
            </a:endParaRPr>
          </a:p>
          <a:p>
            <a:pPr>
              <a:lnSpc>
                <a:spcPct val="150000"/>
              </a:lnSpc>
            </a:pPr>
            <a:r>
              <a:rPr lang="en-US" altLang="ko-KR" sz="2000" b="1" dirty="0" smtClean="0">
                <a:solidFill>
                  <a:schemeClr val="accent4">
                    <a:lumMod val="40000"/>
                    <a:lumOff val="60000"/>
                  </a:schemeClr>
                </a:solidFill>
                <a:effectLst>
                  <a:outerShdw blurRad="38100" dist="38100" dir="2700000" algn="tl">
                    <a:srgbClr val="000000">
                      <a:alpha val="43137"/>
                    </a:srgbClr>
                  </a:outerShdw>
                </a:effectLst>
                <a:latin typeface="Copperplate Gothic Bold" panose="020E0705020206020404" pitchFamily="34" charset="0"/>
              </a:rPr>
              <a:t>2026 </a:t>
            </a:r>
            <a:r>
              <a:rPr lang="ko-KR" altLang="en-US" sz="3200" b="1" dirty="0" err="1" smtClean="0">
                <a:solidFill>
                  <a:schemeClr val="bg1"/>
                </a:solidFill>
                <a:effectLst>
                  <a:outerShdw blurRad="38100" dist="38100" dir="2700000" algn="tl">
                    <a:srgbClr val="000000">
                      <a:alpha val="43137"/>
                    </a:srgbClr>
                  </a:outerShdw>
                </a:effectLst>
                <a:latin typeface="Copperplate Gothic Bold" panose="020E0705020206020404" pitchFamily="34" charset="0"/>
              </a:rPr>
              <a:t>블록체인</a:t>
            </a:r>
            <a:r>
              <a:rPr lang="ko-KR" altLang="en-US" sz="3200" b="1" dirty="0" smtClean="0">
                <a:solidFill>
                  <a:schemeClr val="bg1"/>
                </a:solidFill>
                <a:effectLst>
                  <a:outerShdw blurRad="38100" dist="38100" dir="2700000" algn="tl">
                    <a:srgbClr val="000000">
                      <a:alpha val="43137"/>
                    </a:srgbClr>
                  </a:outerShdw>
                </a:effectLst>
                <a:latin typeface="Copperplate Gothic Bold" panose="020E0705020206020404" pitchFamily="34" charset="0"/>
              </a:rPr>
              <a:t> </a:t>
            </a:r>
            <a:r>
              <a:rPr lang="en-US" altLang="ko-KR" sz="3200" b="1" dirty="0" smtClean="0">
                <a:solidFill>
                  <a:schemeClr val="bg1"/>
                </a:solidFill>
                <a:effectLst>
                  <a:outerShdw blurRad="38100" dist="38100" dir="2700000" algn="tl">
                    <a:srgbClr val="000000">
                      <a:alpha val="43137"/>
                    </a:srgbClr>
                  </a:outerShdw>
                </a:effectLst>
                <a:latin typeface="Copperplate Gothic Bold" panose="020E0705020206020404" pitchFamily="34" charset="0"/>
              </a:rPr>
              <a:t>&amp; AI </a:t>
            </a:r>
            <a:r>
              <a:rPr lang="ko-KR" altLang="en-US" sz="2000" b="1" dirty="0" err="1" smtClean="0">
                <a:solidFill>
                  <a:schemeClr val="accent4">
                    <a:lumMod val="40000"/>
                    <a:lumOff val="60000"/>
                  </a:schemeClr>
                </a:solidFill>
                <a:effectLst>
                  <a:outerShdw blurRad="38100" dist="38100" dir="2700000" algn="tl">
                    <a:srgbClr val="000000">
                      <a:alpha val="43137"/>
                    </a:srgbClr>
                  </a:outerShdw>
                </a:effectLst>
                <a:latin typeface="Copperplate Gothic Bold" panose="020E0705020206020404" pitchFamily="34" charset="0"/>
              </a:rPr>
              <a:t>해커톤</a:t>
            </a:r>
            <a:r>
              <a:rPr lang="ko-KR" altLang="en-US" sz="2000" b="1" dirty="0" smtClean="0">
                <a:solidFill>
                  <a:schemeClr val="accent4">
                    <a:lumMod val="40000"/>
                    <a:lumOff val="60000"/>
                  </a:schemeClr>
                </a:solidFill>
                <a:effectLst>
                  <a:outerShdw blurRad="38100" dist="38100" dir="2700000" algn="tl">
                    <a:srgbClr val="000000">
                      <a:alpha val="43137"/>
                    </a:srgbClr>
                  </a:outerShdw>
                </a:effectLst>
                <a:latin typeface="Copperplate Gothic Bold" panose="020E0705020206020404" pitchFamily="34" charset="0"/>
              </a:rPr>
              <a:t> </a:t>
            </a:r>
            <a:r>
              <a:rPr lang="en-US" altLang="ko-KR" sz="1400" b="1" dirty="0" smtClean="0">
                <a:solidFill>
                  <a:schemeClr val="accent4">
                    <a:lumMod val="40000"/>
                    <a:lumOff val="60000"/>
                  </a:schemeClr>
                </a:solidFill>
                <a:effectLst>
                  <a:outerShdw blurRad="38100" dist="38100" dir="2700000" algn="tl">
                    <a:srgbClr val="000000">
                      <a:alpha val="43137"/>
                    </a:srgbClr>
                  </a:outerShdw>
                </a:effectLst>
                <a:latin typeface="Copperplate Gothic Bold" panose="020E0705020206020404" pitchFamily="34" charset="0"/>
              </a:rPr>
              <a:t>(</a:t>
            </a:r>
            <a:r>
              <a:rPr lang="ko-KR" altLang="en-US" sz="1400" b="1" dirty="0" smtClean="0">
                <a:solidFill>
                  <a:schemeClr val="accent4">
                    <a:lumMod val="40000"/>
                    <a:lumOff val="60000"/>
                  </a:schemeClr>
                </a:solidFill>
                <a:effectLst>
                  <a:outerShdw blurRad="38100" dist="38100" dir="2700000" algn="tl">
                    <a:srgbClr val="000000">
                      <a:alpha val="43137"/>
                    </a:srgbClr>
                  </a:outerShdw>
                </a:effectLst>
                <a:latin typeface="Copperplate Gothic Bold" panose="020E0705020206020404" pitchFamily="34" charset="0"/>
              </a:rPr>
              <a:t>제안서 양식</a:t>
            </a:r>
            <a:r>
              <a:rPr lang="en-US" altLang="ko-KR" sz="1400" b="1" dirty="0" smtClean="0">
                <a:solidFill>
                  <a:schemeClr val="accent4">
                    <a:lumMod val="40000"/>
                    <a:lumOff val="60000"/>
                  </a:schemeClr>
                </a:solidFill>
                <a:effectLst>
                  <a:outerShdw blurRad="38100" dist="38100" dir="2700000" algn="tl">
                    <a:srgbClr val="000000">
                      <a:alpha val="43137"/>
                    </a:srgbClr>
                  </a:outerShdw>
                </a:effectLst>
                <a:latin typeface="Copperplate Gothic Bold" panose="020E0705020206020404" pitchFamily="34" charset="0"/>
              </a:rPr>
              <a:t>)</a:t>
            </a:r>
            <a:endParaRPr lang="ko-KR" altLang="en-US" sz="2000" b="1" dirty="0">
              <a:solidFill>
                <a:schemeClr val="accent4">
                  <a:lumMod val="40000"/>
                  <a:lumOff val="60000"/>
                </a:schemeClr>
              </a:solidFill>
              <a:effectLst>
                <a:outerShdw blurRad="38100" dist="38100" dir="2700000" algn="tl">
                  <a:srgbClr val="000000">
                    <a:alpha val="43137"/>
                  </a:srgbClr>
                </a:outerShdw>
              </a:effectLst>
              <a:latin typeface="Copperplate Gothic Bold" panose="020E0705020206020404" pitchFamily="34" charset="0"/>
            </a:endParaRPr>
          </a:p>
        </p:txBody>
      </p:sp>
      <p:sp>
        <p:nvSpPr>
          <p:cNvPr id="3" name="TextBox 2"/>
          <p:cNvSpPr txBox="1"/>
          <p:nvPr/>
        </p:nvSpPr>
        <p:spPr>
          <a:xfrm>
            <a:off x="512339" y="5831862"/>
            <a:ext cx="7185891" cy="369332"/>
          </a:xfrm>
          <a:prstGeom prst="rect">
            <a:avLst/>
          </a:prstGeom>
          <a:noFill/>
        </p:spPr>
        <p:txBody>
          <a:bodyPr wrap="square" rtlCol="0">
            <a:spAutoFit/>
          </a:bodyPr>
          <a:lstStyle/>
          <a:p>
            <a:r>
              <a:rPr lang="ko-KR" altLang="en-US" b="1" dirty="0" smtClean="0">
                <a:solidFill>
                  <a:schemeClr val="bg1"/>
                </a:solidFill>
              </a:rPr>
              <a:t>팀   명 </a:t>
            </a:r>
            <a:r>
              <a:rPr lang="en-US" altLang="ko-KR" b="1" dirty="0" smtClean="0">
                <a:solidFill>
                  <a:schemeClr val="bg1"/>
                </a:solidFill>
              </a:rPr>
              <a:t>: 타닥타닥</a:t>
            </a:r>
          </a:p>
        </p:txBody>
      </p:sp>
      <p:sp>
        <p:nvSpPr>
          <p:cNvPr id="6" name="TextBox 5"/>
          <p:cNvSpPr txBox="1"/>
          <p:nvPr/>
        </p:nvSpPr>
        <p:spPr>
          <a:xfrm>
            <a:off x="512339" y="2661619"/>
            <a:ext cx="8612909" cy="769441"/>
          </a:xfrm>
          <a:prstGeom prst="rect">
            <a:avLst/>
          </a:prstGeom>
          <a:noFill/>
        </p:spPr>
        <p:txBody>
          <a:bodyPr wrap="square" rtlCol="0">
            <a:spAutoFit/>
          </a:bodyPr>
          <a:lstStyle/>
          <a:p>
            <a:r>
              <a:rPr sz="4400" b="1" i="0">
                <a:solidFill>
                  <a:srgbClr val="F9E76C"/>
                </a:solidFill>
                <a:latin typeface="맑은 고딕"/>
              </a:rPr>
              <a:t>진본</a:t>
            </a:r>
            <a:r>
              <a:rPr sz="2600" b="1" i="0">
                <a:solidFill>
                  <a:srgbClr val="F9E76C"/>
                </a:solidFill>
                <a:latin typeface="맑은 고딕"/>
              </a:rPr>
              <a:t> (真本)</a:t>
            </a:r>
          </a:p>
          <a:p>
            <a:r>
              <a:rPr sz="1600" b="0" i="0">
                <a:solidFill>
                  <a:srgbClr val="FFFFFF"/>
                </a:solidFill>
                <a:latin typeface="맑은 고딕"/>
              </a:rPr>
              <a:t>모바일 신분증 · 블록체인 기반 공인 영상 진본 증명 플랫폼</a:t>
            </a:r>
          </a:p>
        </p:txBody>
      </p:sp>
      <p:sp>
        <p:nvSpPr>
          <p:cNvPr id="7" name="TextBox 6"/>
          <p:cNvSpPr txBox="1"/>
          <p:nvPr/>
        </p:nvSpPr>
        <p:spPr>
          <a:xfrm>
            <a:off x="512339" y="6244921"/>
            <a:ext cx="7185891" cy="369332"/>
          </a:xfrm>
          <a:prstGeom prst="rect">
            <a:avLst/>
          </a:prstGeom>
          <a:noFill/>
        </p:spPr>
        <p:txBody>
          <a:bodyPr wrap="square" rtlCol="0">
            <a:spAutoFit/>
          </a:bodyPr>
          <a:lstStyle/>
          <a:p>
            <a:r>
              <a:rPr lang="ko-KR" altLang="en-US" b="1" dirty="0" smtClean="0">
                <a:solidFill>
                  <a:schemeClr val="bg1"/>
                </a:solidFill>
              </a:rPr>
              <a:t>제출일 </a:t>
            </a:r>
            <a:r>
              <a:rPr lang="en-US" altLang="ko-KR" b="1" dirty="0" smtClean="0">
                <a:solidFill>
                  <a:schemeClr val="bg1"/>
                </a:solidFill>
              </a:rPr>
              <a:t>: 2026. 09. 08 </a:t>
            </a:r>
          </a:p>
        </p:txBody>
      </p:sp>
      <p:pic>
        <p:nvPicPr>
          <p:cNvPr id="10" name="그림 9"/>
          <p:cNvPicPr>
            <a:picLocks noChangeAspect="1"/>
          </p:cNvPicPr>
          <p:nvPr/>
        </p:nvPicPr>
        <p:blipFill>
          <a:blip r:embed="rId4"/>
          <a:stretch>
            <a:fillRect/>
          </a:stretch>
        </p:blipFill>
        <p:spPr>
          <a:xfrm>
            <a:off x="512339" y="362768"/>
            <a:ext cx="2137614" cy="266645"/>
          </a:xfrm>
          <a:prstGeom prst="rect">
            <a:avLst/>
          </a:prstGeom>
        </p:spPr>
      </p:pic>
      <p:sp>
        <p:nvSpPr>
          <p:cNvPr id="12" name="TextBox 11"/>
          <p:cNvSpPr txBox="1"/>
          <p:nvPr/>
        </p:nvSpPr>
        <p:spPr>
          <a:xfrm>
            <a:off x="338949" y="104868"/>
            <a:ext cx="517878" cy="707886"/>
          </a:xfrm>
          <a:prstGeom prst="rect">
            <a:avLst/>
          </a:prstGeom>
          <a:noFill/>
        </p:spPr>
        <p:txBody>
          <a:bodyPr wrap="square" rtlCol="0">
            <a:spAutoFit/>
          </a:bodyPr>
          <a:lstStyle/>
          <a:p>
            <a:r>
              <a:rPr lang="en-US" altLang="ko-KR" sz="4000" dirty="0" smtClean="0">
                <a:solidFill>
                  <a:srgbClr val="FF0000"/>
                </a:solidFill>
              </a:rPr>
              <a:t>*</a:t>
            </a:r>
            <a:endParaRPr lang="ko-KR" altLang="en-US" dirty="0">
              <a:solidFill>
                <a:srgbClr val="FF0000"/>
              </a:solidFill>
            </a:endParaRPr>
          </a:p>
        </p:txBody>
      </p:sp>
      <p:sp>
        <p:nvSpPr>
          <p:cNvPr id="13" name="Rounded Rectangle 12"/>
          <p:cNvSpPr/>
          <p:nvPr/>
        </p:nvSpPr>
        <p:spPr>
          <a:xfrm>
            <a:off x="6903720" y="1828800"/>
            <a:ext cx="4754880" cy="3931920"/>
          </a:xfrm>
          <a:prstGeom prst="roundRect">
            <a:avLst>
              <a:gd name="adj" fmla="val 6000"/>
            </a:avLst>
          </a:prstGeom>
          <a:solidFill>
            <a:srgbClr val="141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4" name="TextBox 13"/>
          <p:cNvSpPr txBox="1"/>
          <p:nvPr/>
        </p:nvSpPr>
        <p:spPr>
          <a:xfrm>
            <a:off x="7178040" y="2011680"/>
            <a:ext cx="4297680" cy="274320"/>
          </a:xfrm>
          <a:prstGeom prst="rect">
            <a:avLst/>
          </a:prstGeom>
          <a:noFill/>
        </p:spPr>
        <p:txBody>
          <a:bodyPr wrap="square" lIns="45720" rIns="45720" tIns="27432" bIns="27432" anchor="t">
            <a:spAutoFit/>
          </a:bodyPr>
          <a:lstStyle/>
          <a:p>
            <a:pPr algn="l">
              <a:spcBef>
                <a:spcPts val="0"/>
              </a:spcBef>
            </a:pPr>
            <a:r>
              <a:rPr sz="1100" b="1" i="0">
                <a:solidFill>
                  <a:srgbClr val="F9E76C"/>
                </a:solidFill>
                <a:latin typeface="맑은 고딕"/>
              </a:rPr>
              <a:t>한 줄 요약</a:t>
            </a:r>
          </a:p>
        </p:txBody>
      </p:sp>
      <p:sp>
        <p:nvSpPr>
          <p:cNvPr id="15" name="TextBox 14"/>
          <p:cNvSpPr txBox="1"/>
          <p:nvPr/>
        </p:nvSpPr>
        <p:spPr>
          <a:xfrm>
            <a:off x="7178040" y="2286000"/>
            <a:ext cx="4297680" cy="1097280"/>
          </a:xfrm>
          <a:prstGeom prst="rect">
            <a:avLst/>
          </a:prstGeom>
          <a:noFill/>
        </p:spPr>
        <p:txBody>
          <a:bodyPr wrap="square" lIns="45720" rIns="45720" tIns="27432" bIns="27432" anchor="t">
            <a:spAutoFit/>
          </a:bodyPr>
          <a:lstStyle/>
          <a:p>
            <a:pPr algn="l">
              <a:spcBef>
                <a:spcPts val="0"/>
              </a:spcBef>
            </a:pPr>
            <a:r>
              <a:rPr sz="1050" b="0" i="0">
                <a:solidFill>
                  <a:srgbClr val="FFFFFF"/>
                </a:solidFill>
                <a:latin typeface="맑은 고딕"/>
              </a:rPr>
              <a:t>공인이 모바일 신분증으로 본인확인 후 영상을 등록하면 지문이 블록체인에 기록되고, 누구나 SNS에서 로그인 없이 진위를 확인합니다. 등록에 과금하고 검증은 개방하는 B2G·B2B 모델입니다.</a:t>
            </a:r>
          </a:p>
        </p:txBody>
      </p:sp>
      <p:sp>
        <p:nvSpPr>
          <p:cNvPr id="16" name="TextBox 15"/>
          <p:cNvSpPr txBox="1"/>
          <p:nvPr/>
        </p:nvSpPr>
        <p:spPr>
          <a:xfrm>
            <a:off x="7178040" y="3520440"/>
            <a:ext cx="4297680" cy="274320"/>
          </a:xfrm>
          <a:prstGeom prst="rect">
            <a:avLst/>
          </a:prstGeom>
          <a:noFill/>
        </p:spPr>
        <p:txBody>
          <a:bodyPr wrap="square" lIns="45720" rIns="45720" tIns="27432" bIns="27432" anchor="t">
            <a:spAutoFit/>
          </a:bodyPr>
          <a:lstStyle/>
          <a:p>
            <a:pPr algn="l">
              <a:spcBef>
                <a:spcPts val="0"/>
              </a:spcBef>
            </a:pPr>
            <a:r>
              <a:rPr sz="1100" b="1" i="0">
                <a:solidFill>
                  <a:srgbClr val="F9E76C"/>
                </a:solidFill>
                <a:latin typeface="맑은 고딕"/>
              </a:rPr>
              <a:t>결선 MVP 구현 범위</a:t>
            </a:r>
          </a:p>
        </p:txBody>
      </p:sp>
      <p:sp>
        <p:nvSpPr>
          <p:cNvPr id="17" name="TextBox 16"/>
          <p:cNvSpPr txBox="1"/>
          <p:nvPr/>
        </p:nvSpPr>
        <p:spPr>
          <a:xfrm>
            <a:off x="7178040" y="3794760"/>
            <a:ext cx="4297680" cy="1280160"/>
          </a:xfrm>
          <a:prstGeom prst="rect">
            <a:avLst/>
          </a:prstGeom>
          <a:noFill/>
        </p:spPr>
        <p:txBody>
          <a:bodyPr wrap="square" lIns="45720" rIns="45720" tIns="27432" bIns="27432" anchor="t">
            <a:spAutoFit/>
          </a:bodyPr>
          <a:lstStyle/>
          <a:p>
            <a:pPr algn="l">
              <a:spcBef>
                <a:spcPts val="0"/>
              </a:spcBef>
            </a:pPr>
            <a:r>
              <a:rPr sz="1000" b="0" i="0">
                <a:solidFill>
                  <a:srgbClr val="FFFFFF"/>
                </a:solidFill>
                <a:latin typeface="맑은 고딕"/>
              </a:rPr>
              <a:t>필수 · OmniOne CX 모바일 신분증 본인확인 — 실연동</a:t>
            </a:r>
          </a:p>
          <a:p>
            <a:pPr algn="l">
              <a:spcBef>
                <a:spcPts val="200"/>
              </a:spcBef>
            </a:pPr>
            <a:r>
              <a:rPr sz="1000" b="0" i="0">
                <a:solidFill>
                  <a:srgbClr val="FFFFFF"/>
                </a:solidFill>
                <a:latin typeface="맑은 고딕"/>
              </a:rPr>
              <a:t>선택 1 · Open DID 보증서(VC) 발급·검증 — 실연동</a:t>
            </a:r>
          </a:p>
          <a:p>
            <a:pPr algn="l">
              <a:spcBef>
                <a:spcPts val="200"/>
              </a:spcBef>
            </a:pPr>
            <a:r>
              <a:rPr sz="1000" b="0" i="0">
                <a:solidFill>
                  <a:srgbClr val="FFFFFF"/>
                </a:solidFill>
                <a:latin typeface="맑은 고딕"/>
              </a:rPr>
              <a:t>선택 2 · OmniOne Chain 스마트 컨트랙트 — 직접 개발·배포</a:t>
            </a:r>
          </a:p>
          <a:p>
            <a:pPr algn="l">
              <a:spcBef>
                <a:spcPts val="200"/>
              </a:spcBef>
            </a:pPr>
            <a:r>
              <a:rPr sz="1000" b="0" i="0">
                <a:solidFill>
                  <a:srgbClr val="FFFFFF"/>
                </a:solidFill>
                <a:latin typeface="맑은 고딕"/>
              </a:rPr>
              <a:t>iOS 앱 · 검증 웹 · Chrome 확장 · 백엔드 4개 저장소</a:t>
            </a:r>
          </a:p>
        </p:txBody>
      </p:sp>
    </p:spTree>
    <p:extLst>
      <p:ext uri="{BB962C8B-B14F-4D97-AF65-F5344CB8AC3E}">
        <p14:creationId xmlns:p14="http://schemas.microsoft.com/office/powerpoint/2010/main" val="34651297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57F28-B3E8-F644-4200-082BA0AB6CD8}"/>
            </a:ext>
          </a:extLst>
        </p:cNvPr>
        <p:cNvGrpSpPr/>
        <p:nvPr/>
      </p:nvGrpSpPr>
      <p:grpSpPr>
        <a:xfrm>
          <a:off x="0" y="0"/>
          <a:ext cx="0" cy="0"/>
          <a:chOff x="0" y="0"/>
          <a:chExt cx="0" cy="0"/>
        </a:xfrm>
      </p:grpSpPr>
      <p:sp>
        <p:nvSpPr>
          <p:cNvPr id="16" name="내용 개체 틀 2">
            <a:extLst>
              <a:ext uri="{FF2B5EF4-FFF2-40B4-BE49-F238E27FC236}">
                <a16:creationId xmlns:a16="http://schemas.microsoft.com/office/drawing/2014/main" id="{C1259860-F0D7-2696-89C7-C6D4C956C128}"/>
              </a:ext>
            </a:extLst>
          </p:cNvPr>
          <p:cNvSpPr>
            <a:spLocks noGrp="1"/>
          </p:cNvSpPr>
          <p:nvPr>
            <p:ph sz="quarter" idx="15"/>
          </p:nvPr>
        </p:nvSpPr>
        <p:spPr>
          <a:xfrm>
            <a:off x="236707" y="9236"/>
            <a:ext cx="11553218" cy="486137"/>
          </a:xfrm>
        </p:spPr>
        <p:txBody>
          <a:bodyPr anchor="ctr">
            <a:normAutofit/>
          </a:bodyPr>
          <a:lstStyle/>
          <a:p>
            <a:pPr marL="514350" indent="-514350">
              <a:buFont typeface="맑은 고딕" panose="020B0503020000020004" pitchFamily="50" charset="-127"/>
              <a:buChar char="◈"/>
            </a:pPr>
            <a:r>
              <a:rPr lang="ko-KR" altLang="en-US" sz="1801" dirty="0" smtClean="0"/>
              <a:t>제안 요약서</a:t>
            </a:r>
            <a:endParaRPr lang="x-none" altLang="en-US" sz="1801" dirty="0"/>
          </a:p>
        </p:txBody>
      </p:sp>
      <p:sp>
        <p:nvSpPr>
          <p:cNvPr id="6" name="TextBox 5"/>
          <p:cNvSpPr txBox="1"/>
          <p:nvPr/>
        </p:nvSpPr>
        <p:spPr>
          <a:xfrm>
            <a:off x="342900" y="561975"/>
            <a:ext cx="11306175" cy="261610"/>
          </a:xfrm>
          <a:prstGeom prst="rect">
            <a:avLst/>
          </a:prstGeom>
          <a:noFill/>
        </p:spPr>
        <p:txBody>
          <a:bodyPr wrap="square" rtlCol="0">
            <a:spAutoFit/>
          </a:bodyPr>
          <a:lstStyle/>
          <a:p>
            <a:pPr marL="285750" indent="-285750">
              <a:buFont typeface="맑은 고딕" panose="020B0503020000020004" pitchFamily="50" charset="-127"/>
              <a:buChar char="※"/>
            </a:pPr>
            <a:r>
              <a:rPr lang="ko-KR" altLang="en-US" sz="1100" b="1" dirty="0" smtClean="0">
                <a:solidFill>
                  <a:srgbClr val="C00000"/>
                </a:solidFill>
              </a:rPr>
              <a:t>표 수정 불가</a:t>
            </a:r>
            <a:r>
              <a:rPr lang="en-US" altLang="ko-KR" sz="1100" b="1" dirty="0" smtClean="0">
                <a:solidFill>
                  <a:srgbClr val="C00000"/>
                </a:solidFill>
              </a:rPr>
              <a:t> </a:t>
            </a:r>
            <a:r>
              <a:rPr lang="en-US" altLang="ko-KR" sz="1100" b="1" i="1" dirty="0" smtClean="0">
                <a:solidFill>
                  <a:srgbClr val="0000FF"/>
                </a:solidFill>
                <a:latin typeface="맑은 고딕" panose="020B0503020000020004" pitchFamily="50" charset="-127"/>
                <a:ea typeface="맑은 고딕" panose="020B0503020000020004" pitchFamily="50" charset="-127"/>
              </a:rPr>
              <a:t>※ </a:t>
            </a:r>
            <a:r>
              <a:rPr lang="ko-KR" altLang="en-US" sz="1100" b="1" i="1" dirty="0" smtClean="0">
                <a:solidFill>
                  <a:srgbClr val="0000FF"/>
                </a:solidFill>
                <a:latin typeface="맑은 고딕" panose="020B0503020000020004" pitchFamily="50" charset="-127"/>
                <a:ea typeface="맑은 고딕" panose="020B0503020000020004" pitchFamily="50" charset="-127"/>
              </a:rPr>
              <a:t>표식 </a:t>
            </a:r>
            <a:r>
              <a:rPr lang="ko-KR" altLang="en-US" sz="1100" b="1" i="1" dirty="0" smtClean="0">
                <a:solidFill>
                  <a:srgbClr val="0000FF"/>
                </a:solidFill>
              </a:rPr>
              <a:t>설명</a:t>
            </a:r>
            <a:r>
              <a:rPr lang="ko-KR" altLang="en-US" sz="1100" b="1" dirty="0" smtClean="0">
                <a:solidFill>
                  <a:srgbClr val="C00000"/>
                </a:solidFill>
              </a:rPr>
              <a:t>은 작성 후 삭제 요망</a:t>
            </a:r>
            <a:r>
              <a:rPr lang="en-US" altLang="ko-KR" sz="1100" b="1" dirty="0" smtClean="0">
                <a:solidFill>
                  <a:srgbClr val="C00000"/>
                </a:solidFill>
              </a:rPr>
              <a:t> (</a:t>
            </a:r>
            <a:r>
              <a:rPr lang="ko-KR" altLang="en-US" sz="1100" b="1" dirty="0" smtClean="0">
                <a:solidFill>
                  <a:srgbClr val="C00000"/>
                </a:solidFill>
              </a:rPr>
              <a:t>제안 </a:t>
            </a:r>
            <a:r>
              <a:rPr lang="ko-KR" altLang="en-US" sz="1100" b="1" dirty="0" err="1" smtClean="0">
                <a:solidFill>
                  <a:srgbClr val="C00000"/>
                </a:solidFill>
              </a:rPr>
              <a:t>요약서는</a:t>
            </a:r>
            <a:r>
              <a:rPr lang="ko-KR" altLang="en-US" sz="1100" b="1" dirty="0" smtClean="0">
                <a:solidFill>
                  <a:srgbClr val="C00000"/>
                </a:solidFill>
              </a:rPr>
              <a:t> 최대 </a:t>
            </a:r>
            <a:r>
              <a:rPr lang="en-US" altLang="ko-KR" sz="1100" b="1" dirty="0">
                <a:solidFill>
                  <a:srgbClr val="C00000"/>
                </a:solidFill>
              </a:rPr>
              <a:t>2p </a:t>
            </a:r>
            <a:r>
              <a:rPr lang="ko-KR" altLang="en-US" sz="1100" b="1" dirty="0">
                <a:solidFill>
                  <a:srgbClr val="C00000"/>
                </a:solidFill>
              </a:rPr>
              <a:t>이내 </a:t>
            </a:r>
            <a:r>
              <a:rPr lang="ko-KR" altLang="en-US" sz="1100" b="1" dirty="0" smtClean="0">
                <a:solidFill>
                  <a:srgbClr val="C00000"/>
                </a:solidFill>
              </a:rPr>
              <a:t>작성할 것</a:t>
            </a:r>
            <a:r>
              <a:rPr lang="en-US" altLang="ko-KR" sz="1100" b="1" dirty="0" smtClean="0">
                <a:solidFill>
                  <a:srgbClr val="C00000"/>
                </a:solidFill>
              </a:rPr>
              <a:t>)</a:t>
            </a:r>
            <a:r>
              <a:rPr lang="ko-KR" altLang="en-US" sz="1100" b="1" dirty="0" smtClean="0">
                <a:solidFill>
                  <a:srgbClr val="C00000"/>
                </a:solidFill>
              </a:rPr>
              <a:t> </a:t>
            </a:r>
            <a:endParaRPr lang="ko-KR" altLang="en-US" sz="1100" b="1" dirty="0">
              <a:solidFill>
                <a:srgbClr val="C00000"/>
              </a:solidFill>
            </a:endParaRPr>
          </a:p>
        </p:txBody>
      </p:sp>
      <p:graphicFrame>
        <p:nvGraphicFramePr>
          <p:cNvPr id="7" name="표 6"/>
          <p:cNvGraphicFramePr>
            <a:graphicFrameLocks noGrp="1"/>
          </p:cNvGraphicFramePr>
          <p:nvPr>
            <p:extLst>
              <p:ext uri="{D42A27DB-BD31-4B8C-83A1-F6EECF244321}">
                <p14:modId xmlns:p14="http://schemas.microsoft.com/office/powerpoint/2010/main" val="2526522908"/>
              </p:ext>
            </p:extLst>
          </p:nvPr>
        </p:nvGraphicFramePr>
        <p:xfrm>
          <a:off x="293857" y="852287"/>
          <a:ext cx="11572794" cy="5634243"/>
        </p:xfrm>
        <a:graphic>
          <a:graphicData uri="http://schemas.openxmlformats.org/drawingml/2006/table">
            <a:tbl>
              <a:tblPr firstRow="1" bandRow="1">
                <a:tableStyleId>{5C22544A-7EE6-4342-B048-85BDC9FD1C3A}</a:tableStyleId>
              </a:tblPr>
              <a:tblGrid>
                <a:gridCol w="1730375">
                  <a:extLst>
                    <a:ext uri="{9D8B030D-6E8A-4147-A177-3AD203B41FA5}">
                      <a16:colId xmlns:a16="http://schemas.microsoft.com/office/drawing/2014/main" val="3719874892"/>
                    </a:ext>
                  </a:extLst>
                </a:gridCol>
                <a:gridCol w="1228725">
                  <a:extLst>
                    <a:ext uri="{9D8B030D-6E8A-4147-A177-3AD203B41FA5}">
                      <a16:colId xmlns:a16="http://schemas.microsoft.com/office/drawing/2014/main" val="317660577"/>
                    </a:ext>
                  </a:extLst>
                </a:gridCol>
                <a:gridCol w="1228726">
                  <a:extLst>
                    <a:ext uri="{9D8B030D-6E8A-4147-A177-3AD203B41FA5}">
                      <a16:colId xmlns:a16="http://schemas.microsoft.com/office/drawing/2014/main" val="4127399229"/>
                    </a:ext>
                  </a:extLst>
                </a:gridCol>
                <a:gridCol w="1228726">
                  <a:extLst>
                    <a:ext uri="{9D8B030D-6E8A-4147-A177-3AD203B41FA5}">
                      <a16:colId xmlns:a16="http://schemas.microsoft.com/office/drawing/2014/main" val="1986724686"/>
                    </a:ext>
                  </a:extLst>
                </a:gridCol>
                <a:gridCol w="413779">
                  <a:extLst>
                    <a:ext uri="{9D8B030D-6E8A-4147-A177-3AD203B41FA5}">
                      <a16:colId xmlns:a16="http://schemas.microsoft.com/office/drawing/2014/main" val="3096174205"/>
                    </a:ext>
                  </a:extLst>
                </a:gridCol>
                <a:gridCol w="710721">
                  <a:extLst>
                    <a:ext uri="{9D8B030D-6E8A-4147-A177-3AD203B41FA5}">
                      <a16:colId xmlns:a16="http://schemas.microsoft.com/office/drawing/2014/main" val="606850419"/>
                    </a:ext>
                  </a:extLst>
                </a:gridCol>
                <a:gridCol w="116840">
                  <a:extLst>
                    <a:ext uri="{9D8B030D-6E8A-4147-A177-3AD203B41FA5}">
                      <a16:colId xmlns:a16="http://schemas.microsoft.com/office/drawing/2014/main" val="3551857274"/>
                    </a:ext>
                  </a:extLst>
                </a:gridCol>
                <a:gridCol w="608055">
                  <a:extLst>
                    <a:ext uri="{9D8B030D-6E8A-4147-A177-3AD203B41FA5}">
                      <a16:colId xmlns:a16="http://schemas.microsoft.com/office/drawing/2014/main" val="3397203766"/>
                    </a:ext>
                  </a:extLst>
                </a:gridCol>
                <a:gridCol w="620670">
                  <a:extLst>
                    <a:ext uri="{9D8B030D-6E8A-4147-A177-3AD203B41FA5}">
                      <a16:colId xmlns:a16="http://schemas.microsoft.com/office/drawing/2014/main" val="2909318470"/>
                    </a:ext>
                  </a:extLst>
                </a:gridCol>
                <a:gridCol w="814946">
                  <a:extLst>
                    <a:ext uri="{9D8B030D-6E8A-4147-A177-3AD203B41FA5}">
                      <a16:colId xmlns:a16="http://schemas.microsoft.com/office/drawing/2014/main" val="109413149"/>
                    </a:ext>
                  </a:extLst>
                </a:gridCol>
                <a:gridCol w="2871231">
                  <a:extLst>
                    <a:ext uri="{9D8B030D-6E8A-4147-A177-3AD203B41FA5}">
                      <a16:colId xmlns:a16="http://schemas.microsoft.com/office/drawing/2014/main" val="3496107915"/>
                    </a:ext>
                  </a:extLst>
                </a:gridCol>
              </a:tblGrid>
              <a:tr h="556010">
                <a:tc>
                  <a:txBody>
                    <a:bodyPr/>
                    <a:lstStyle/>
                    <a:p>
                      <a:pPr algn="ctr" latinLnBrk="1"/>
                      <a:r>
                        <a:rPr lang="ko-KR" altLang="en-US" sz="1400" dirty="0" smtClean="0">
                          <a:latin typeface="+mn-ea"/>
                          <a:ea typeface="+mn-ea"/>
                        </a:rPr>
                        <a:t>참 가 구 분</a:t>
                      </a:r>
                      <a:endParaRPr lang="ko-KR" altLang="en-US" sz="1400" dirty="0">
                        <a:latin typeface="+mn-ea"/>
                        <a:ea typeface="+mn-ea"/>
                      </a:endParaRPr>
                    </a:p>
                  </a:txBody>
                  <a:tcPr anchor="ctr">
                    <a:lnL w="952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gridSpan="5">
                  <a:txBody>
                    <a:bodyPr/>
                    <a:lstStyle/>
                    <a:p>
                      <a:pPr lvl="0" algn="just" latinLnBrk="1"/>
                      <a:r>
                        <a:rPr lang="ko-KR" altLang="en-US" sz="1400" b="1" dirty="0" smtClean="0">
                          <a:solidFill>
                            <a:schemeClr val="tx1"/>
                          </a:solidFill>
                          <a:latin typeface="+mn-ea"/>
                          <a:ea typeface="+mn-ea"/>
                        </a:rPr>
                        <a:t>□ </a:t>
                      </a:r>
                      <a:r>
                        <a:rPr lang="en-US" altLang="ko-KR" sz="1400" b="1" dirty="0" smtClean="0">
                          <a:solidFill>
                            <a:schemeClr val="tx1"/>
                          </a:solidFill>
                          <a:latin typeface="+mn-ea"/>
                          <a:ea typeface="+mn-ea"/>
                        </a:rPr>
                        <a:t>Track</a:t>
                      </a:r>
                      <a:r>
                        <a:rPr lang="en-US" altLang="ko-KR" sz="1400" b="1" baseline="0" dirty="0" smtClean="0">
                          <a:solidFill>
                            <a:schemeClr val="tx1"/>
                          </a:solidFill>
                          <a:latin typeface="+mn-ea"/>
                          <a:ea typeface="+mn-ea"/>
                        </a:rPr>
                        <a:t> 1 : </a:t>
                      </a:r>
                      <a:r>
                        <a:rPr lang="ko-KR" altLang="en-US" sz="1400" b="0" baseline="0" dirty="0" smtClean="0">
                          <a:solidFill>
                            <a:schemeClr val="tx1"/>
                          </a:solidFill>
                          <a:latin typeface="+mn-ea"/>
                          <a:ea typeface="+mn-ea"/>
                        </a:rPr>
                        <a:t>비즈니스 아이디어 공모</a:t>
                      </a:r>
                      <a:endParaRPr lang="en-US" altLang="ko-KR" sz="1400" b="0" baseline="0" dirty="0" smtClean="0">
                        <a:solidFill>
                          <a:schemeClr val="tx1"/>
                        </a:solidFill>
                        <a:latin typeface="+mn-ea"/>
                        <a:ea typeface="+mn-ea"/>
                      </a:endParaRPr>
                    </a:p>
                    <a:p>
                      <a:pPr lvl="0" algn="just" latinLnBrk="1"/>
                      <a:r>
                        <a:rPr lang="en-US" altLang="ko-KR" sz="1000" b="0" i="1" dirty="0" smtClean="0">
                          <a:solidFill>
                            <a:srgbClr val="0000FF"/>
                          </a:solidFill>
                          <a:latin typeface="맑은 고딕" panose="020B0503020000020004" pitchFamily="50" charset="-127"/>
                          <a:ea typeface="+mn-ea"/>
                        </a:rPr>
                        <a:t>※ </a:t>
                      </a:r>
                      <a:r>
                        <a:rPr lang="ko-KR" altLang="en-US" sz="1000" b="0" i="1" dirty="0" smtClean="0">
                          <a:solidFill>
                            <a:srgbClr val="0000FF"/>
                          </a:solidFill>
                          <a:latin typeface="맑은 고딕" panose="020B0503020000020004" pitchFamily="50" charset="-127"/>
                          <a:ea typeface="+mn-ea"/>
                        </a:rPr>
                        <a:t>해당사항 </a:t>
                      </a:r>
                      <a:r>
                        <a:rPr lang="ko-KR" altLang="en-US" sz="1000" b="0" i="1" dirty="0" smtClean="0">
                          <a:solidFill>
                            <a:srgbClr val="0000FF"/>
                          </a:solidFill>
                          <a:latin typeface="+mn-ea"/>
                          <a:ea typeface="+mn-ea"/>
                        </a:rPr>
                        <a:t>체크박스 내 ▣ 표기</a:t>
                      </a:r>
                      <a:endParaRPr lang="en-US" altLang="ko-KR" sz="1000" b="0" baseline="0" dirty="0" smtClean="0">
                        <a:solidFill>
                          <a:schemeClr val="tx1"/>
                        </a:solidFill>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latinLnBrk="1"/>
                      <a:endParaRPr lang="ko-KR" altLang="en-US" sz="1400" dirty="0">
                        <a:latin typeface="+mn-ea"/>
                        <a:ea typeface="+mn-ea"/>
                      </a:endParaRPr>
                    </a:p>
                  </a:txBody>
                  <a:tcPr anchor="ctr"/>
                </a:tc>
                <a:tc hMerge="1">
                  <a:txBody>
                    <a:bodyPr/>
                    <a:lstStyle/>
                    <a:p>
                      <a:pPr algn="ctr" latinLnBrk="1"/>
                      <a:endParaRPr lang="ko-KR" altLang="en-US" sz="1400" dirty="0">
                        <a:latin typeface="+mn-ea"/>
                        <a:ea typeface="+mn-ea"/>
                      </a:endParaRPr>
                    </a:p>
                  </a:txBody>
                  <a:tcPr anchor="ct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tc gridSpan="5">
                  <a:txBody>
                    <a:bodyPr/>
                    <a:lstStyle/>
                    <a:p>
                      <a:r>
                        <a:rPr sz="900">
                          <a:latin typeface="맑은 고딕"/>
                        </a:rPr>
                        <a:t>▣ Track 2 : 제안 아이디어를 고도화 MVP 모델 개발 · 시연</a:t>
                      </a:r>
                    </a:p>
                    <a:p>
                      <a:r>
                        <a:rPr sz="900">
                          <a:latin typeface="맑은 고딕"/>
                        </a:rPr>
                        <a:t>※ 해당사항 체크박스 내 ▣ 표기</a:t>
                      </a:r>
                    </a:p>
                  </a:txBody>
                  <a:tcPr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lvl="0" algn="just" latinLnBrk="1"/>
                      <a:endParaRPr lang="en-US" altLang="ko-KR" sz="1000" b="0" baseline="0" dirty="0" smtClean="0">
                        <a:solidFill>
                          <a:schemeClr val="tx1"/>
                        </a:solidFill>
                        <a:latin typeface="+mn-ea"/>
                        <a:ea typeface="+mn-ea"/>
                      </a:endParaRPr>
                    </a:p>
                  </a:txBody>
                  <a:tcPr anchor="ctr">
                    <a:lnL w="63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hMerge="1">
                  <a:txBody>
                    <a:bodyPr/>
                    <a:lstStyle/>
                    <a:p>
                      <a:pPr latinLnBrk="1"/>
                      <a:endParaRPr lang="ko-KR" altLang="en-US"/>
                    </a:p>
                  </a:txBody>
                  <a:tcP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extLst>
                  <a:ext uri="{0D108BD9-81ED-4DB2-BD59-A6C34878D82A}">
                    <a16:rowId xmlns:a16="http://schemas.microsoft.com/office/drawing/2014/main" val="1541863402"/>
                  </a:ext>
                </a:extLst>
              </a:tr>
              <a:tr h="370674">
                <a:tc rowSpan="2">
                  <a:txBody>
                    <a:bodyPr/>
                    <a:lstStyle/>
                    <a:p>
                      <a:pPr algn="ctr" latinLnBrk="1"/>
                      <a:r>
                        <a:rPr lang="ko-KR" altLang="en-US" sz="1400" b="1" dirty="0" smtClean="0">
                          <a:solidFill>
                            <a:schemeClr val="bg1"/>
                          </a:solidFill>
                          <a:latin typeface="+mn-ea"/>
                          <a:ea typeface="+mn-ea"/>
                        </a:rPr>
                        <a:t>참 가 유 형</a:t>
                      </a:r>
                      <a:endParaRPr lang="en-US" altLang="ko-KR" sz="1400" b="1" dirty="0" smtClean="0">
                        <a:solidFill>
                          <a:schemeClr val="bg1"/>
                        </a:solidFill>
                        <a:latin typeface="+mn-ea"/>
                        <a:ea typeface="+mn-ea"/>
                      </a:endParaRPr>
                    </a:p>
                    <a:p>
                      <a:pPr algn="ctr" latinLnBrk="1"/>
                      <a:endParaRPr lang="en-US" altLang="ko-KR" sz="500" b="1" dirty="0" smtClean="0">
                        <a:solidFill>
                          <a:schemeClr val="bg1"/>
                        </a:solidFill>
                        <a:latin typeface="+mn-ea"/>
                        <a:ea typeface="+mn-ea"/>
                      </a:endParaRPr>
                    </a:p>
                    <a:p>
                      <a:pPr marL="0" marR="0" lvl="0" indent="0" algn="ctr" defTabSz="914411" rtl="0" eaLnBrk="1" fontAlgn="auto" latinLnBrk="1" hangingPunct="1">
                        <a:lnSpc>
                          <a:spcPct val="100000"/>
                        </a:lnSpc>
                        <a:spcBef>
                          <a:spcPts val="0"/>
                        </a:spcBef>
                        <a:spcAft>
                          <a:spcPts val="0"/>
                        </a:spcAft>
                        <a:buClrTx/>
                        <a:buSzTx/>
                        <a:buFontTx/>
                        <a:buNone/>
                        <a:tabLst/>
                        <a:defRPr/>
                      </a:pPr>
                      <a:r>
                        <a:rPr lang="en-US" altLang="ko-KR" sz="800" b="0" i="1" dirty="0" smtClean="0">
                          <a:solidFill>
                            <a:schemeClr val="bg1"/>
                          </a:solidFill>
                          <a:latin typeface="맑은 고딕" panose="020B0503020000020004" pitchFamily="50" charset="-127"/>
                          <a:ea typeface="+mn-ea"/>
                        </a:rPr>
                        <a:t>※ </a:t>
                      </a:r>
                      <a:r>
                        <a:rPr lang="ko-KR" altLang="en-US" sz="800" b="0" i="1" dirty="0" smtClean="0">
                          <a:solidFill>
                            <a:schemeClr val="bg1"/>
                          </a:solidFill>
                          <a:latin typeface="맑은 고딕" panose="020B0503020000020004" pitchFamily="50" charset="-127"/>
                          <a:ea typeface="+mn-ea"/>
                        </a:rPr>
                        <a:t>해당사항 </a:t>
                      </a:r>
                      <a:r>
                        <a:rPr lang="ko-KR" altLang="en-US" sz="800" b="0" i="1" dirty="0" smtClean="0">
                          <a:solidFill>
                            <a:schemeClr val="bg1"/>
                          </a:solidFill>
                          <a:latin typeface="+mn-ea"/>
                          <a:ea typeface="+mn-ea"/>
                        </a:rPr>
                        <a:t>체크박스 내 ▣ 표기</a:t>
                      </a:r>
                      <a:endParaRPr lang="en-US" altLang="ko-KR" sz="800" b="0" baseline="0" dirty="0" smtClean="0">
                        <a:solidFill>
                          <a:schemeClr val="bg1"/>
                        </a:solidFill>
                        <a:latin typeface="+mn-ea"/>
                        <a:ea typeface="+mn-ea"/>
                      </a:endParaRPr>
                    </a:p>
                  </a:txBody>
                  <a:tcPr anchor="ctr">
                    <a:lnL w="952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lvl="0" indent="0" algn="l" defTabSz="914411" rtl="0" eaLnBrk="1" fontAlgn="auto" latinLnBrk="1" hangingPunct="1">
                        <a:lnSpc>
                          <a:spcPct val="100000"/>
                        </a:lnSpc>
                        <a:spcBef>
                          <a:spcPts val="0"/>
                        </a:spcBef>
                        <a:spcAft>
                          <a:spcPts val="0"/>
                        </a:spcAft>
                        <a:buClrTx/>
                        <a:buSzTx/>
                        <a:buFontTx/>
                        <a:buNone/>
                        <a:tabLst/>
                        <a:defRPr/>
                      </a:pPr>
                      <a:r>
                        <a:rPr lang="ko-KR" altLang="en-US" sz="1400" b="1" baseline="0" dirty="0" smtClean="0">
                          <a:solidFill>
                            <a:schemeClr val="tx1"/>
                          </a:solidFill>
                          <a:latin typeface="+mn-ea"/>
                          <a:ea typeface="+mn-ea"/>
                        </a:rPr>
                        <a:t>  ◈ 개인</a:t>
                      </a:r>
                      <a:endParaRPr lang="en-US" altLang="ko-KR" sz="1400" b="1" baseline="0" dirty="0" smtClean="0">
                        <a:solidFill>
                          <a:schemeClr val="tx1"/>
                        </a:solidFill>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gridSpan="6">
                  <a:txBody>
                    <a:bodyPr/>
                    <a:lstStyle/>
                    <a:p>
                      <a:pPr marL="0" marR="0" lvl="0" indent="0" algn="l" defTabSz="914411" rtl="0" eaLnBrk="1" fontAlgn="auto" latinLnBrk="1" hangingPunct="1">
                        <a:lnSpc>
                          <a:spcPct val="100000"/>
                        </a:lnSpc>
                        <a:spcBef>
                          <a:spcPts val="0"/>
                        </a:spcBef>
                        <a:spcAft>
                          <a:spcPts val="0"/>
                        </a:spcAft>
                        <a:buClrTx/>
                        <a:buSzTx/>
                        <a:buFontTx/>
                        <a:buNone/>
                        <a:tabLst/>
                        <a:defRPr/>
                      </a:pPr>
                      <a:r>
                        <a:rPr lang="ko-KR" altLang="en-US" sz="1400" b="1" dirty="0" smtClean="0">
                          <a:solidFill>
                            <a:schemeClr val="tx1"/>
                          </a:solidFill>
                          <a:latin typeface="+mn-ea"/>
                          <a:ea typeface="+mn-ea"/>
                        </a:rPr>
                        <a:t>□</a:t>
                      </a:r>
                      <a:r>
                        <a:rPr lang="ko-KR" altLang="en-US" sz="1400" dirty="0" smtClean="0">
                          <a:solidFill>
                            <a:schemeClr val="tx1"/>
                          </a:solidFill>
                          <a:latin typeface="+mn-ea"/>
                          <a:ea typeface="+mn-ea"/>
                        </a:rPr>
                        <a:t> </a:t>
                      </a:r>
                      <a:r>
                        <a:rPr lang="ko-KR" altLang="en-US" sz="1400" b="1" dirty="0" smtClean="0">
                          <a:solidFill>
                            <a:schemeClr val="tx1"/>
                          </a:solidFill>
                          <a:latin typeface="+mn-ea"/>
                          <a:ea typeface="+mn-ea"/>
                        </a:rPr>
                        <a:t>학생</a:t>
                      </a:r>
                      <a:endParaRPr lang="en-US" altLang="ko-KR" sz="1400" b="1" dirty="0" smtClean="0">
                        <a:solidFill>
                          <a:schemeClr val="tx1"/>
                        </a:solidFill>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latinLnBrk="1"/>
                      <a:endParaRPr lang="ko-KR" altLang="en-US" sz="1400" dirty="0">
                        <a:latin typeface="+mn-ea"/>
                        <a:ea typeface="+mn-ea"/>
                      </a:endParaRPr>
                    </a:p>
                  </a:txBody>
                  <a:tcPr anchor="ct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tc hMerge="1">
                  <a:txBody>
                    <a:bodyPr/>
                    <a:lstStyle/>
                    <a:p>
                      <a:pPr marL="0" marR="0" lvl="0" indent="0" algn="ctr" defTabSz="914411" rtl="0" eaLnBrk="1" fontAlgn="auto" latinLnBrk="1" hangingPunct="1">
                        <a:lnSpc>
                          <a:spcPct val="100000"/>
                        </a:lnSpc>
                        <a:spcBef>
                          <a:spcPts val="0"/>
                        </a:spcBef>
                        <a:spcAft>
                          <a:spcPts val="0"/>
                        </a:spcAft>
                        <a:buClrTx/>
                        <a:buSzTx/>
                        <a:buFontTx/>
                        <a:buNone/>
                        <a:tabLst/>
                        <a:defRPr/>
                      </a:pPr>
                      <a:endParaRPr lang="en-US" altLang="ko-KR" sz="1400" b="1" baseline="0" dirty="0" smtClean="0">
                        <a:solidFill>
                          <a:schemeClr val="tx1"/>
                        </a:solidFill>
                        <a:latin typeface="+mn-ea"/>
                        <a:ea typeface="+mn-ea"/>
                      </a:endParaRPr>
                    </a:p>
                  </a:txBody>
                  <a:tcPr anchor="ctr">
                    <a:lnL w="63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hMerge="1">
                  <a:txBody>
                    <a:bodyPr/>
                    <a:lstStyle/>
                    <a:p>
                      <a:pPr marL="0" marR="0" lvl="0" indent="0" algn="l" defTabSz="914411" rtl="0" eaLnBrk="1" fontAlgn="auto" latinLnBrk="1" hangingPunct="1">
                        <a:lnSpc>
                          <a:spcPct val="100000"/>
                        </a:lnSpc>
                        <a:spcBef>
                          <a:spcPts val="0"/>
                        </a:spcBef>
                        <a:spcAft>
                          <a:spcPts val="0"/>
                        </a:spcAft>
                        <a:buClrTx/>
                        <a:buSzTx/>
                        <a:buFontTx/>
                        <a:buNone/>
                        <a:tabLst/>
                        <a:defRPr/>
                      </a:pPr>
                      <a:endParaRPr lang="en-US" altLang="ko-KR" sz="1400" b="0" baseline="0" dirty="0" smtClean="0">
                        <a:solidFill>
                          <a:schemeClr val="tx1"/>
                        </a:solidFill>
                        <a:latin typeface="+mn-ea"/>
                        <a:ea typeface="+mn-ea"/>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gridSpan="3">
                  <a:txBody>
                    <a:bodyPr/>
                    <a:lstStyle/>
                    <a:p>
                      <a:pPr marL="0" marR="0" lvl="0" indent="0" algn="l" defTabSz="914411" rtl="0" eaLnBrk="1" fontAlgn="auto" latinLnBrk="1" hangingPunct="1">
                        <a:lnSpc>
                          <a:spcPct val="100000"/>
                        </a:lnSpc>
                        <a:spcBef>
                          <a:spcPts val="0"/>
                        </a:spcBef>
                        <a:spcAft>
                          <a:spcPts val="0"/>
                        </a:spcAft>
                        <a:buClrTx/>
                        <a:buSzTx/>
                        <a:buFontTx/>
                        <a:buNone/>
                        <a:tabLst/>
                        <a:defRPr/>
                      </a:pPr>
                      <a:r>
                        <a:rPr lang="ko-KR" altLang="en-US" sz="1400" b="1" dirty="0" smtClean="0">
                          <a:solidFill>
                            <a:schemeClr val="tx1"/>
                          </a:solidFill>
                          <a:latin typeface="+mn-ea"/>
                          <a:ea typeface="+mn-ea"/>
                        </a:rPr>
                        <a:t>□ 일반</a:t>
                      </a:r>
                      <a:endParaRPr lang="en-US" altLang="ko-KR" sz="1400" b="1" dirty="0" smtClean="0">
                        <a:solidFill>
                          <a:schemeClr val="tx1"/>
                        </a:solidFill>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11" rtl="0" eaLnBrk="1" fontAlgn="auto" latinLnBrk="1" hangingPunct="1">
                        <a:lnSpc>
                          <a:spcPct val="100000"/>
                        </a:lnSpc>
                        <a:spcBef>
                          <a:spcPts val="0"/>
                        </a:spcBef>
                        <a:spcAft>
                          <a:spcPts val="0"/>
                        </a:spcAft>
                        <a:buClrTx/>
                        <a:buSzTx/>
                        <a:buFontTx/>
                        <a:buNone/>
                        <a:tabLst/>
                        <a:defRPr/>
                      </a:pPr>
                      <a:endParaRPr kumimoji="0" lang="en-US" altLang="ko-KR" sz="1400" b="1" i="0" u="none" strike="noStrike" kern="1200" cap="none" spc="0" normalizeH="0" baseline="0" noProof="0" dirty="0" smtClean="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63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hMerge="1">
                  <a:txBody>
                    <a:bodyPr/>
                    <a:lstStyle/>
                    <a:p>
                      <a:pPr latinLnBrk="1"/>
                      <a:endParaRPr lang="ko-KR" altLang="en-US"/>
                    </a:p>
                  </a:txBody>
                  <a:tcPr/>
                </a:tc>
                <a:extLst>
                  <a:ext uri="{0D108BD9-81ED-4DB2-BD59-A6C34878D82A}">
                    <a16:rowId xmlns:a16="http://schemas.microsoft.com/office/drawing/2014/main" val="3736327175"/>
                  </a:ext>
                </a:extLst>
              </a:tr>
              <a:tr h="370674">
                <a:tc vMerge="1">
                  <a:txBody>
                    <a:bodyPr/>
                    <a:lstStyle/>
                    <a:p>
                      <a:pPr latinLnBrk="1"/>
                      <a:endParaRPr lang="ko-KR" altLang="en-US"/>
                    </a:p>
                  </a:txBody>
                  <a:tcPr/>
                </a:tc>
                <a:tc>
                  <a:txBody>
                    <a:bodyPr/>
                    <a:lstStyle/>
                    <a:p>
                      <a:pPr marL="0" marR="0" lvl="0" indent="0" algn="l" defTabSz="914411" rtl="0" eaLnBrk="1" fontAlgn="auto" latinLnBrk="1" hangingPunct="1">
                        <a:lnSpc>
                          <a:spcPct val="100000"/>
                        </a:lnSpc>
                        <a:spcBef>
                          <a:spcPts val="0"/>
                        </a:spcBef>
                        <a:spcAft>
                          <a:spcPts val="0"/>
                        </a:spcAft>
                        <a:buClrTx/>
                        <a:buSzTx/>
                        <a:buFontTx/>
                        <a:buNone/>
                        <a:tabLst/>
                        <a:defRPr/>
                      </a:pPr>
                      <a:r>
                        <a:rPr lang="ko-KR" altLang="en-US" sz="1400" b="1" baseline="0" dirty="0" smtClean="0">
                          <a:solidFill>
                            <a:schemeClr val="tx1"/>
                          </a:solidFill>
                          <a:latin typeface="+mn-ea"/>
                          <a:ea typeface="+mn-ea"/>
                        </a:rPr>
                        <a:t>  ◈ 팀</a:t>
                      </a:r>
                      <a:endParaRPr lang="en-US" altLang="ko-KR" sz="1400" b="1" baseline="0" dirty="0" smtClean="0">
                        <a:solidFill>
                          <a:schemeClr val="tx1"/>
                        </a:solidFill>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gridSpan="3">
                  <a:txBody>
                    <a:bodyPr/>
                    <a:lstStyle/>
                    <a:p>
                      <a:pPr marL="0" marR="0" lvl="0" indent="0" algn="l" defTabSz="914411" rtl="0" eaLnBrk="1" fontAlgn="auto" latinLnBrk="1" hangingPunct="1">
                        <a:lnSpc>
                          <a:spcPct val="100000"/>
                        </a:lnSpc>
                        <a:spcBef>
                          <a:spcPts val="0"/>
                        </a:spcBef>
                        <a:spcAft>
                          <a:spcPts val="0"/>
                        </a:spcAft>
                        <a:buClrTx/>
                        <a:buSzTx/>
                        <a:buFontTx/>
                        <a:buNone/>
                        <a:tabLst/>
                        <a:defRPr/>
                      </a:pPr>
                      <a:r>
                        <a:rPr lang="ko-KR" altLang="en-US" sz="1400" b="1" dirty="0" smtClean="0">
                          <a:solidFill>
                            <a:schemeClr val="tx1"/>
                          </a:solidFill>
                          <a:latin typeface="+mn-ea"/>
                          <a:ea typeface="+mn-ea"/>
                        </a:rPr>
                        <a:t>□</a:t>
                      </a:r>
                      <a:r>
                        <a:rPr lang="ko-KR" altLang="en-US" sz="1400" dirty="0" smtClean="0">
                          <a:solidFill>
                            <a:schemeClr val="tx1"/>
                          </a:solidFill>
                          <a:latin typeface="+mn-ea"/>
                          <a:ea typeface="+mn-ea"/>
                        </a:rPr>
                        <a:t> </a:t>
                      </a:r>
                      <a:r>
                        <a:rPr lang="ko-KR" altLang="en-US" sz="1400" b="1" dirty="0" smtClean="0">
                          <a:solidFill>
                            <a:schemeClr val="tx1"/>
                          </a:solidFill>
                          <a:latin typeface="+mn-ea"/>
                          <a:ea typeface="+mn-ea"/>
                        </a:rPr>
                        <a:t>학생</a:t>
                      </a:r>
                      <a:endParaRPr lang="en-US" altLang="ko-KR" sz="1400" b="1" dirty="0" smtClean="0">
                        <a:solidFill>
                          <a:schemeClr val="tx1"/>
                        </a:solidFill>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latinLnBrk="1"/>
                      <a:endParaRPr lang="ko-KR" altLang="en-US"/>
                    </a:p>
                  </a:txBody>
                  <a:tcPr/>
                </a:tc>
                <a:tc hMerge="1">
                  <a:txBody>
                    <a:bodyPr/>
                    <a:lstStyle/>
                    <a:p>
                      <a:pPr latinLnBrk="1"/>
                      <a:endParaRPr lang="ko-KR" altLang="en-US"/>
                    </a:p>
                  </a:txBody>
                  <a:tcPr/>
                </a:tc>
                <a:tc gridSpan="5">
                  <a:txBody>
                    <a:bodyPr/>
                    <a:lstStyle/>
                    <a:p>
                      <a:pPr marL="0" marR="0" lvl="0" indent="0" algn="l" defTabSz="914411" rtl="0" eaLnBrk="1" fontAlgn="auto" latinLnBrk="1" hangingPunct="1">
                        <a:lnSpc>
                          <a:spcPct val="100000"/>
                        </a:lnSpc>
                        <a:spcBef>
                          <a:spcPts val="0"/>
                        </a:spcBef>
                        <a:spcAft>
                          <a:spcPts val="0"/>
                        </a:spcAft>
                        <a:buClrTx/>
                        <a:buSzTx/>
                        <a:buFontTx/>
                        <a:buNone/>
                        <a:tabLst/>
                        <a:defRPr/>
                      </a:pPr>
                      <a:r>
                        <a:rPr lang="ko-KR" altLang="en-US" sz="1400" b="1" dirty="0" smtClean="0">
                          <a:solidFill>
                            <a:schemeClr val="tx1"/>
                          </a:solidFill>
                          <a:latin typeface="+mn-ea"/>
                          <a:ea typeface="+mn-ea"/>
                        </a:rPr>
                        <a:t>□</a:t>
                      </a:r>
                      <a:r>
                        <a:rPr lang="ko-KR" altLang="en-US" sz="1400" dirty="0" smtClean="0">
                          <a:solidFill>
                            <a:schemeClr val="tx1"/>
                          </a:solidFill>
                          <a:latin typeface="+mn-ea"/>
                          <a:ea typeface="+mn-ea"/>
                        </a:rPr>
                        <a:t> </a:t>
                      </a:r>
                      <a:r>
                        <a:rPr lang="ko-KR" altLang="en-US" sz="1400" b="1" dirty="0" err="1" smtClean="0">
                          <a:solidFill>
                            <a:schemeClr val="tx1"/>
                          </a:solidFill>
                          <a:latin typeface="+mn-ea"/>
                          <a:ea typeface="+mn-ea"/>
                        </a:rPr>
                        <a:t>스타트업</a:t>
                      </a:r>
                      <a:endParaRPr lang="en-US" altLang="ko-KR" sz="1400" b="1" dirty="0" smtClean="0">
                        <a:solidFill>
                          <a:schemeClr val="tx1"/>
                        </a:solidFill>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914411" rtl="0" eaLnBrk="1" fontAlgn="auto" latinLnBrk="1" hangingPunct="1">
                        <a:lnSpc>
                          <a:spcPct val="100000"/>
                        </a:lnSpc>
                        <a:spcBef>
                          <a:spcPts val="0"/>
                        </a:spcBef>
                        <a:spcAft>
                          <a:spcPts val="0"/>
                        </a:spcAft>
                        <a:buClrTx/>
                        <a:buSzTx/>
                        <a:buFontTx/>
                        <a:buNone/>
                        <a:tabLst/>
                        <a:defRPr/>
                      </a:pPr>
                      <a:endParaRPr lang="en-US" altLang="ko-KR" sz="1400" b="1" baseline="0" dirty="0" smtClean="0">
                        <a:solidFill>
                          <a:schemeClr val="tx1"/>
                        </a:solidFill>
                        <a:latin typeface="+mn-ea"/>
                        <a:ea typeface="+mn-ea"/>
                      </a:endParaRPr>
                    </a:p>
                  </a:txBody>
                  <a:tcPr anchor="ctr">
                    <a:lnL w="63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lumMod val="75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marL="0" marR="0" lvl="0" indent="0" algn="l" defTabSz="914411" rtl="0" eaLnBrk="1" fontAlgn="auto" latinLnBrk="1" hangingPunct="1">
                        <a:lnSpc>
                          <a:spcPct val="100000"/>
                        </a:lnSpc>
                        <a:spcBef>
                          <a:spcPts val="0"/>
                        </a:spcBef>
                        <a:spcAft>
                          <a:spcPts val="0"/>
                        </a:spcAft>
                        <a:buClrTx/>
                        <a:buSzTx/>
                        <a:buFontTx/>
                        <a:buNone/>
                        <a:tabLst/>
                        <a:defRPr/>
                      </a:pPr>
                      <a:endParaRPr kumimoji="0" lang="en-US" altLang="ko-KR" sz="1400" b="1" i="0" u="none" strike="noStrike" kern="1200" cap="none" spc="0" normalizeH="0" baseline="0" noProof="0" dirty="0" smtClean="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63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sz="900">
                          <a:latin typeface="맑은 고딕"/>
                        </a:rPr>
                        <a:t>▣ 일반</a:t>
                      </a:r>
                    </a:p>
                  </a:txBody>
                  <a:tcPr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04026183"/>
                  </a:ext>
                </a:extLst>
              </a:tr>
              <a:tr h="370674">
                <a:tc>
                  <a:txBody>
                    <a:bodyPr/>
                    <a:lstStyle/>
                    <a:p>
                      <a:pPr algn="ctr" latinLnBrk="1"/>
                      <a:r>
                        <a:rPr lang="ko-KR" altLang="en-US" sz="1400" b="1" dirty="0" smtClean="0">
                          <a:solidFill>
                            <a:schemeClr val="bg1"/>
                          </a:solidFill>
                          <a:latin typeface="+mn-ea"/>
                          <a:ea typeface="+mn-ea"/>
                        </a:rPr>
                        <a:t>팀         명</a:t>
                      </a:r>
                      <a:endParaRPr lang="ko-KR" altLang="en-US" sz="1400" b="1" dirty="0">
                        <a:solidFill>
                          <a:schemeClr val="bg1"/>
                        </a:solidFill>
                        <a:latin typeface="+mn-ea"/>
                        <a:ea typeface="+mn-ea"/>
                      </a:endParaRPr>
                    </a:p>
                  </a:txBody>
                  <a:tcPr anchor="ctr">
                    <a:lnL w="952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gridSpan="10">
                  <a:txBody>
                    <a:bodyPr/>
                    <a:lstStyle/>
                    <a:p>
                      <a:r>
                        <a:rPr sz="900">
                          <a:latin typeface="맑은 고딕"/>
                        </a:rPr>
                        <a:t>타닥타닥</a:t>
                      </a:r>
                    </a:p>
                  </a:txBody>
                  <a:tcPr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latinLnBrk="1"/>
                      <a:endParaRPr lang="ko-KR" altLang="en-US" sz="1400" dirty="0">
                        <a:latin typeface="+mn-ea"/>
                        <a:ea typeface="+mn-ea"/>
                      </a:endParaRPr>
                    </a:p>
                  </a:txBody>
                  <a:tcPr anchor="ctr"/>
                </a:tc>
                <a:tc hMerge="1">
                  <a:txBody>
                    <a:bodyPr/>
                    <a:lstStyle/>
                    <a:p>
                      <a:pPr algn="ctr" latinLnBrk="1"/>
                      <a:endParaRPr lang="ko-KR" altLang="en-US" sz="1400" dirty="0">
                        <a:latin typeface="+mn-ea"/>
                        <a:ea typeface="+mn-ea"/>
                      </a:endParaRPr>
                    </a:p>
                  </a:txBody>
                  <a:tcPr anchor="ct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tc hMerge="1">
                  <a:txBody>
                    <a:bodyPr/>
                    <a:lstStyle/>
                    <a:p>
                      <a:pPr latinLnBrk="1"/>
                      <a:endParaRPr lang="ko-KR" altLang="en-US"/>
                    </a:p>
                  </a:txBody>
                  <a:tcP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extLst>
                  <a:ext uri="{0D108BD9-81ED-4DB2-BD59-A6C34878D82A}">
                    <a16:rowId xmlns:a16="http://schemas.microsoft.com/office/drawing/2014/main" val="964034155"/>
                  </a:ext>
                </a:extLst>
              </a:tr>
              <a:tr h="370674">
                <a:tc>
                  <a:txBody>
                    <a:bodyPr/>
                    <a:lstStyle/>
                    <a:p>
                      <a:pPr algn="ctr" latinLnBrk="1"/>
                      <a:r>
                        <a:rPr lang="ko-KR" altLang="en-US" sz="1400" b="1" dirty="0" err="1" smtClean="0">
                          <a:solidFill>
                            <a:schemeClr val="bg1"/>
                          </a:solidFill>
                          <a:latin typeface="+mn-ea"/>
                          <a:ea typeface="+mn-ea"/>
                        </a:rPr>
                        <a:t>프로젝트명</a:t>
                      </a:r>
                      <a:endParaRPr lang="ko-KR" altLang="en-US" sz="1400" b="1" dirty="0">
                        <a:solidFill>
                          <a:schemeClr val="bg1"/>
                        </a:solidFill>
                        <a:latin typeface="+mn-ea"/>
                        <a:ea typeface="+mn-ea"/>
                      </a:endParaRPr>
                    </a:p>
                  </a:txBody>
                  <a:tcPr anchor="ctr">
                    <a:lnL w="952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gridSpan="10">
                  <a:txBody>
                    <a:bodyPr/>
                    <a:lstStyle/>
                    <a:p>
                      <a:r>
                        <a:rPr sz="900">
                          <a:latin typeface="맑은 고딕"/>
                        </a:rPr>
                        <a:t>진본(真本) — 모바일 신분증 · 블록체인 기반 공인 영상 진본 증명 플랫폼</a:t>
                      </a:r>
                    </a:p>
                  </a:txBody>
                  <a:tcPr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latinLnBrk="1"/>
                      <a:endParaRPr lang="ko-KR" altLang="en-US" sz="1400" dirty="0">
                        <a:latin typeface="+mn-ea"/>
                        <a:ea typeface="+mn-ea"/>
                      </a:endParaRPr>
                    </a:p>
                  </a:txBody>
                  <a:tcPr anchor="ctr"/>
                </a:tc>
                <a:tc hMerge="1">
                  <a:txBody>
                    <a:bodyPr/>
                    <a:lstStyle/>
                    <a:p>
                      <a:pPr algn="ctr" latinLnBrk="1"/>
                      <a:endParaRPr lang="ko-KR" altLang="en-US" sz="1400" dirty="0">
                        <a:latin typeface="+mn-ea"/>
                        <a:ea typeface="+mn-ea"/>
                      </a:endParaRPr>
                    </a:p>
                  </a:txBody>
                  <a:tcPr anchor="ct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tc hMerge="1">
                  <a:txBody>
                    <a:bodyPr/>
                    <a:lstStyle/>
                    <a:p>
                      <a:pPr latinLnBrk="1"/>
                      <a:endParaRPr lang="ko-KR" altLang="en-US"/>
                    </a:p>
                  </a:txBody>
                  <a:tcP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extLst>
                  <a:ext uri="{0D108BD9-81ED-4DB2-BD59-A6C34878D82A}">
                    <a16:rowId xmlns:a16="http://schemas.microsoft.com/office/drawing/2014/main" val="39243096"/>
                  </a:ext>
                </a:extLst>
              </a:tr>
              <a:tr h="630145">
                <a:tc>
                  <a:txBody>
                    <a:bodyPr/>
                    <a:lstStyle/>
                    <a:p>
                      <a:pPr algn="ctr" latinLnBrk="1"/>
                      <a:r>
                        <a:rPr lang="ko-KR" altLang="en-US" sz="1400" b="1" dirty="0" smtClean="0">
                          <a:solidFill>
                            <a:schemeClr val="bg1"/>
                          </a:solidFill>
                          <a:latin typeface="+mn-ea"/>
                          <a:ea typeface="+mn-ea"/>
                        </a:rPr>
                        <a:t>아 이 디 어</a:t>
                      </a:r>
                      <a:endParaRPr lang="en-US" altLang="ko-KR" sz="1400" b="1" dirty="0" smtClean="0">
                        <a:solidFill>
                          <a:schemeClr val="bg1"/>
                        </a:solidFill>
                        <a:latin typeface="+mn-ea"/>
                        <a:ea typeface="+mn-ea"/>
                      </a:endParaRPr>
                    </a:p>
                    <a:p>
                      <a:pPr algn="ctr" latinLnBrk="1"/>
                      <a:r>
                        <a:rPr lang="ko-KR" altLang="en-US" sz="1400" b="1" dirty="0" smtClean="0">
                          <a:solidFill>
                            <a:schemeClr val="bg1"/>
                          </a:solidFill>
                          <a:latin typeface="+mn-ea"/>
                          <a:ea typeface="+mn-ea"/>
                        </a:rPr>
                        <a:t>개         요</a:t>
                      </a:r>
                      <a:endParaRPr lang="ko-KR" altLang="en-US" sz="1400" b="1" dirty="0">
                        <a:solidFill>
                          <a:schemeClr val="bg1"/>
                        </a:solidFill>
                        <a:latin typeface="+mn-ea"/>
                        <a:ea typeface="+mn-ea"/>
                      </a:endParaRPr>
                    </a:p>
                  </a:txBody>
                  <a:tcPr anchor="ctr">
                    <a:lnL w="952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gridSpan="10">
                  <a:txBody>
                    <a:bodyPr/>
                    <a:lstStyle/>
                    <a:p>
                      <a:r>
                        <a:rPr sz="900">
                          <a:latin typeface="맑은 고딕"/>
                        </a:rPr>
                        <a:t>공인·기관이 모바일 신분증(OmniOne CX)으로 본인확인 후 원본 영상을 등록하면, 영상의 디지털 지문(merkleRoot)이 OmniOne Chain에 기록되고 Open DID 보증서(VC)가 발급된다. 시민·언론은 웹 또는 Chrome 확장으로 SNS 영상의 진위를 로그인 없이 즉시 확인한다.</a:t>
                      </a:r>
                    </a:p>
                    <a:p>
                      <a:r>
                        <a:rPr sz="900">
                          <a:latin typeface="맑은 고딕"/>
                        </a:rPr>
                        <a:t>SNS 재압축으로 메타데이터가 사라져도 지각해시로 원본과 재연결되는 점이 C2PA 대비 핵심 차별점이며, iOS 앱·검증 웹·Chrome 확장·백엔드·스마트 컨트랙트까지 결선 MVP 구현을 완료했다.</a:t>
                      </a:r>
                    </a:p>
                    <a:p>
                      <a:r>
                        <a:rPr sz="900">
                          <a:latin typeface="맑은 고딕"/>
                        </a:rPr>
                        <a:t>수익 모델: 기관·언론사 연간 라이선스(B2G/B2B) + 등록·검증 API 종량제. 시민 검증은 무료로 개방해 검증 수요를 만들고, 공공기관 PoC를 시작점으로 언론·기업 IR 영역으로 확장한다.</a:t>
                      </a:r>
                    </a:p>
                  </a:txBody>
                  <a:tcPr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latinLnBrk="1"/>
                      <a:endParaRPr lang="ko-KR" altLang="en-US" sz="1400" dirty="0">
                        <a:latin typeface="+mn-ea"/>
                        <a:ea typeface="+mn-ea"/>
                      </a:endParaRPr>
                    </a:p>
                  </a:txBody>
                  <a:tcPr anchor="ctr"/>
                </a:tc>
                <a:tc hMerge="1">
                  <a:txBody>
                    <a:bodyPr/>
                    <a:lstStyle/>
                    <a:p>
                      <a:pPr algn="ctr" latinLnBrk="1"/>
                      <a:endParaRPr lang="ko-KR" altLang="en-US" sz="1400" dirty="0">
                        <a:latin typeface="+mn-ea"/>
                        <a:ea typeface="+mn-ea"/>
                      </a:endParaRPr>
                    </a:p>
                  </a:txBody>
                  <a:tcPr anchor="ct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tc hMerge="1">
                  <a:txBody>
                    <a:bodyPr/>
                    <a:lstStyle/>
                    <a:p>
                      <a:pPr latinLnBrk="1"/>
                      <a:endParaRPr lang="ko-KR" altLang="en-US"/>
                    </a:p>
                  </a:txBody>
                  <a:tcP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extLst>
                  <a:ext uri="{0D108BD9-81ED-4DB2-BD59-A6C34878D82A}">
                    <a16:rowId xmlns:a16="http://schemas.microsoft.com/office/drawing/2014/main" val="908593661"/>
                  </a:ext>
                </a:extLst>
              </a:tr>
              <a:tr h="370674">
                <a:tc rowSpan="3">
                  <a:txBody>
                    <a:bodyPr/>
                    <a:lstStyle/>
                    <a:p>
                      <a:pPr algn="ctr" latinLnBrk="1"/>
                      <a:r>
                        <a:rPr lang="ko-KR" altLang="en-US" sz="1400" b="1" dirty="0" smtClean="0">
                          <a:solidFill>
                            <a:schemeClr val="bg1"/>
                          </a:solidFill>
                          <a:latin typeface="+mn-ea"/>
                          <a:ea typeface="+mn-ea"/>
                        </a:rPr>
                        <a:t>신   청   자</a:t>
                      </a:r>
                      <a:endParaRPr lang="ko-KR" altLang="en-US" sz="1400" b="1" dirty="0">
                        <a:solidFill>
                          <a:schemeClr val="bg1"/>
                        </a:solidFill>
                        <a:latin typeface="+mn-ea"/>
                        <a:ea typeface="+mn-ea"/>
                      </a:endParaRPr>
                    </a:p>
                  </a:txBody>
                  <a:tcPr anchor="ctr">
                    <a:lnL w="952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algn="ctr" latinLnBrk="1"/>
                      <a:r>
                        <a:rPr lang="ko-KR" altLang="en-US" sz="1400" b="1" dirty="0" smtClean="0">
                          <a:latin typeface="+mn-ea"/>
                          <a:ea typeface="+mn-ea"/>
                        </a:rPr>
                        <a:t>성      명</a:t>
                      </a:r>
                      <a:endParaRPr lang="ko-KR" altLang="en-US" sz="1400" b="1"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gridSpan="9">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latinLnBrk="1"/>
                      <a:endParaRPr lang="ko-KR" altLang="en-US" sz="1400" dirty="0">
                        <a:latin typeface="+mn-ea"/>
                        <a:ea typeface="+mn-ea"/>
                      </a:endParaRPr>
                    </a:p>
                  </a:txBody>
                  <a:tcPr anchor="ct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tc hMerge="1">
                  <a:txBody>
                    <a:bodyPr/>
                    <a:lstStyle/>
                    <a:p>
                      <a:pPr latinLnBrk="1"/>
                      <a:endParaRPr lang="ko-KR" altLang="en-US"/>
                    </a:p>
                  </a:txBody>
                  <a:tcP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extLst>
                  <a:ext uri="{0D108BD9-81ED-4DB2-BD59-A6C34878D82A}">
                    <a16:rowId xmlns:a16="http://schemas.microsoft.com/office/drawing/2014/main" val="960134467"/>
                  </a:ext>
                </a:extLst>
              </a:tr>
              <a:tr h="370674">
                <a:tc vMerge="1">
                  <a:txBody>
                    <a:bodyPr/>
                    <a:lstStyle/>
                    <a:p>
                      <a:pPr algn="ctr" latinLnBrk="1"/>
                      <a:endParaRPr lang="ko-KR" altLang="en-US" sz="1400" b="1" dirty="0">
                        <a:latin typeface="+mn-ea"/>
                        <a:ea typeface="+mn-ea"/>
                      </a:endParaRPr>
                    </a:p>
                  </a:txBody>
                  <a:tcPr anchor="ctr"/>
                </a:tc>
                <a:tc>
                  <a:txBody>
                    <a:bodyPr/>
                    <a:lstStyle/>
                    <a:p>
                      <a:pPr algn="ctr" latinLnBrk="1"/>
                      <a:r>
                        <a:rPr lang="ko-KR" altLang="en-US" sz="1400" b="1" dirty="0" smtClean="0">
                          <a:latin typeface="+mn-ea"/>
                          <a:ea typeface="+mn-ea"/>
                        </a:rPr>
                        <a:t>생년월일</a:t>
                      </a:r>
                      <a:endParaRPr lang="ko-KR" altLang="en-US" sz="1400" b="1"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gridSpan="5">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latinLnBrk="1"/>
                      <a:endParaRPr lang="ko-KR" altLang="en-US" sz="1400" dirty="0">
                        <a:latin typeface="+mn-ea"/>
                        <a:ea typeface="+mn-ea"/>
                      </a:endParaRPr>
                    </a:p>
                  </a:txBody>
                  <a:tcPr anchor="ct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tc hMerge="1">
                  <a:txBody>
                    <a:bodyPr/>
                    <a:lstStyle/>
                    <a:p>
                      <a:pPr latinLnBrk="1"/>
                      <a:endParaRPr lang="ko-KR" altLang="en-US"/>
                    </a:p>
                  </a:txBody>
                  <a:tcPr/>
                </a:tc>
                <a:tc gridSpan="2">
                  <a:txBody>
                    <a:bodyPr/>
                    <a:lstStyle/>
                    <a:p>
                      <a:pPr marL="0" marR="0" indent="0" algn="ctr" defTabSz="914411" rtl="0" eaLnBrk="1" fontAlgn="auto" latinLnBrk="1" hangingPunct="1">
                        <a:lnSpc>
                          <a:spcPct val="100000"/>
                        </a:lnSpc>
                        <a:spcBef>
                          <a:spcPts val="0"/>
                        </a:spcBef>
                        <a:spcAft>
                          <a:spcPts val="0"/>
                        </a:spcAft>
                        <a:buClrTx/>
                        <a:buSzTx/>
                        <a:buFontTx/>
                        <a:buNone/>
                        <a:tabLst/>
                        <a:defRPr/>
                      </a:pPr>
                      <a:r>
                        <a:rPr lang="ko-KR" altLang="en-US" sz="1400" b="1" dirty="0" smtClean="0">
                          <a:latin typeface="+mn-ea"/>
                          <a:ea typeface="+mn-ea"/>
                        </a:rPr>
                        <a:t>소      속</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hMerge="1">
                  <a:txBody>
                    <a:bodyPr/>
                    <a:lstStyle/>
                    <a:p>
                      <a:pPr latinLnBrk="1"/>
                      <a:endParaRPr lang="ko-KR" altLang="en-US"/>
                    </a:p>
                  </a:txBody>
                  <a:tcPr/>
                </a:tc>
                <a:tc gridSpan="2">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1248310192"/>
                  </a:ext>
                </a:extLst>
              </a:tr>
              <a:tr h="370674">
                <a:tc vMerge="1">
                  <a:txBody>
                    <a:bodyPr/>
                    <a:lstStyle/>
                    <a:p>
                      <a:pPr algn="ctr" latinLnBrk="1"/>
                      <a:endParaRPr lang="ko-KR" altLang="en-US" sz="1400" dirty="0">
                        <a:latin typeface="+mn-ea"/>
                        <a:ea typeface="+mn-ea"/>
                      </a:endParaRPr>
                    </a:p>
                  </a:txBody>
                  <a:tcPr anchor="ctr"/>
                </a:tc>
                <a:tc>
                  <a:txBody>
                    <a:bodyPr/>
                    <a:lstStyle/>
                    <a:p>
                      <a:pPr algn="ctr" latinLnBrk="1"/>
                      <a:r>
                        <a:rPr lang="ko-KR" altLang="en-US" sz="1400" b="1" dirty="0" smtClean="0">
                          <a:latin typeface="+mn-ea"/>
                          <a:ea typeface="+mn-ea"/>
                        </a:rPr>
                        <a:t>휴대전화</a:t>
                      </a:r>
                      <a:endParaRPr lang="ko-KR" altLang="en-US" sz="1400" b="1"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gridSpan="5">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latinLnBrk="1"/>
                      <a:endParaRPr lang="ko-KR" altLang="en-US" sz="1400" dirty="0">
                        <a:latin typeface="+mn-ea"/>
                        <a:ea typeface="+mn-ea"/>
                      </a:endParaRPr>
                    </a:p>
                  </a:txBody>
                  <a:tcPr anchor="ct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tc hMerge="1">
                  <a:txBody>
                    <a:bodyPr/>
                    <a:lstStyle/>
                    <a:p>
                      <a:pPr latinLnBrk="1"/>
                      <a:endParaRPr lang="ko-KR" altLang="en-US"/>
                    </a:p>
                  </a:txBody>
                  <a:tcPr/>
                </a:tc>
                <a:tc gridSpan="2">
                  <a:txBody>
                    <a:bodyPr/>
                    <a:lstStyle/>
                    <a:p>
                      <a:pPr algn="ctr" latinLnBrk="1"/>
                      <a:r>
                        <a:rPr lang="en-US" altLang="ko-KR" sz="1400" b="1" dirty="0" smtClean="0">
                          <a:latin typeface="+mn-ea"/>
                          <a:ea typeface="+mn-ea"/>
                        </a:rPr>
                        <a:t>E - mail</a:t>
                      </a:r>
                      <a:endParaRPr lang="ko-KR" altLang="en-US" sz="1400" b="1"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hMerge="1">
                  <a:txBody>
                    <a:bodyPr/>
                    <a:lstStyle/>
                    <a:p>
                      <a:pPr latinLnBrk="1"/>
                      <a:endParaRPr lang="ko-KR" altLang="en-US"/>
                    </a:p>
                  </a:txBody>
                  <a:tcPr/>
                </a:tc>
                <a:tc gridSpan="2">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3524953533"/>
                  </a:ext>
                </a:extLst>
              </a:tr>
              <a:tr h="370674">
                <a:tc rowSpan="5">
                  <a:txBody>
                    <a:bodyPr/>
                    <a:lstStyle/>
                    <a:p>
                      <a:pPr algn="ctr" latinLnBrk="1"/>
                      <a:r>
                        <a:rPr lang="ko-KR" altLang="en-US" sz="1400" b="1" dirty="0" smtClean="0">
                          <a:solidFill>
                            <a:schemeClr val="bg1"/>
                          </a:solidFill>
                          <a:latin typeface="+mn-ea"/>
                          <a:ea typeface="+mn-ea"/>
                        </a:rPr>
                        <a:t>구   성   원</a:t>
                      </a:r>
                      <a:endParaRPr lang="ko-KR" altLang="en-US" sz="1400" b="1" dirty="0">
                        <a:solidFill>
                          <a:schemeClr val="bg1"/>
                        </a:solidFill>
                        <a:latin typeface="+mn-ea"/>
                        <a:ea typeface="+mn-ea"/>
                      </a:endParaRPr>
                    </a:p>
                  </a:txBody>
                  <a:tcPr anchor="ctr">
                    <a:lnL w="952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algn="ctr" latinLnBrk="1"/>
                      <a:r>
                        <a:rPr lang="ko-KR" altLang="en-US" sz="1400" b="1" dirty="0" smtClean="0">
                          <a:solidFill>
                            <a:schemeClr val="tx1"/>
                          </a:solidFill>
                          <a:latin typeface="+mn-ea"/>
                          <a:ea typeface="+mn-ea"/>
                        </a:rPr>
                        <a:t>성      명</a:t>
                      </a:r>
                      <a:endParaRPr lang="ko-KR" altLang="en-US" sz="1400" b="1" dirty="0">
                        <a:solidFill>
                          <a:schemeClr val="tx1"/>
                        </a:solidFill>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latinLnBrk="1"/>
                      <a:r>
                        <a:rPr lang="ko-KR" altLang="en-US" sz="1400" b="1" dirty="0" smtClean="0">
                          <a:solidFill>
                            <a:schemeClr val="tx1"/>
                          </a:solidFill>
                          <a:latin typeface="+mn-ea"/>
                          <a:ea typeface="+mn-ea"/>
                        </a:rPr>
                        <a:t>생년월일</a:t>
                      </a:r>
                      <a:endParaRPr lang="ko-KR" altLang="en-US" sz="1400" b="1" dirty="0">
                        <a:solidFill>
                          <a:schemeClr val="tx1"/>
                        </a:solidFill>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latinLnBrk="1"/>
                      <a:r>
                        <a:rPr lang="ko-KR" altLang="en-US" sz="1400" b="1" dirty="0" smtClean="0">
                          <a:solidFill>
                            <a:schemeClr val="tx1"/>
                          </a:solidFill>
                          <a:latin typeface="+mn-ea"/>
                          <a:ea typeface="+mn-ea"/>
                        </a:rPr>
                        <a:t>소      속</a:t>
                      </a:r>
                      <a:endParaRPr lang="ko-KR" altLang="en-US" sz="1400" b="1" dirty="0">
                        <a:solidFill>
                          <a:schemeClr val="tx1"/>
                        </a:solidFill>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gridSpan="5">
                  <a:txBody>
                    <a:bodyPr/>
                    <a:lstStyle/>
                    <a:p>
                      <a:pPr algn="ctr" latinLnBrk="1"/>
                      <a:r>
                        <a:rPr lang="ko-KR" altLang="en-US" sz="1400" b="1" dirty="0" smtClean="0">
                          <a:solidFill>
                            <a:schemeClr val="tx1"/>
                          </a:solidFill>
                          <a:latin typeface="+mn-ea"/>
                          <a:ea typeface="+mn-ea"/>
                        </a:rPr>
                        <a:t>휴대전화</a:t>
                      </a:r>
                      <a:endParaRPr lang="ko-KR" altLang="en-US" sz="1400" b="1" dirty="0">
                        <a:solidFill>
                          <a:schemeClr val="tx1"/>
                        </a:solidFill>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endParaRPr lang="ko-KR" altLang="en-US" dirty="0"/>
                    </a:p>
                  </a:txBody>
                  <a:tcPr anchor="ctr"/>
                </a:tc>
                <a:tc hMerge="1">
                  <a:txBody>
                    <a:bodyPr/>
                    <a:lstStyle/>
                    <a:p>
                      <a:pPr latinLnBrk="1"/>
                      <a:endParaRPr lang="ko-KR" altLang="en-US"/>
                    </a:p>
                  </a:txBody>
                  <a:tcPr/>
                </a:tc>
                <a:tc gridSpan="2">
                  <a:txBody>
                    <a:bodyPr/>
                    <a:lstStyle/>
                    <a:p>
                      <a:pPr marL="0" marR="0" indent="0" algn="ctr" defTabSz="914411" rtl="0" eaLnBrk="1" fontAlgn="auto" latinLnBrk="1" hangingPunct="1">
                        <a:lnSpc>
                          <a:spcPct val="100000"/>
                        </a:lnSpc>
                        <a:spcBef>
                          <a:spcPts val="0"/>
                        </a:spcBef>
                        <a:spcAft>
                          <a:spcPts val="0"/>
                        </a:spcAft>
                        <a:buClrTx/>
                        <a:buSzTx/>
                        <a:buFontTx/>
                        <a:buNone/>
                        <a:tabLst/>
                        <a:defRPr/>
                      </a:pPr>
                      <a:r>
                        <a:rPr lang="en-US" altLang="ko-KR" sz="1400" b="1" dirty="0" smtClean="0">
                          <a:solidFill>
                            <a:schemeClr val="tx1"/>
                          </a:solidFill>
                          <a:latin typeface="+mn-ea"/>
                          <a:ea typeface="+mn-ea"/>
                        </a:rPr>
                        <a:t>E - mail</a:t>
                      </a:r>
                      <a:endParaRPr lang="ko-KR" altLang="en-US" sz="1400" b="1" dirty="0" smtClean="0">
                        <a:solidFill>
                          <a:schemeClr val="tx1"/>
                        </a:solidFill>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hMerge="1">
                  <a:txBody>
                    <a:bodyPr/>
                    <a:lstStyle/>
                    <a:p>
                      <a:pPr latinLnBrk="1"/>
                      <a:endParaRPr lang="ko-KR" altLang="en-US"/>
                    </a:p>
                  </a:txBody>
                  <a:tcPr/>
                </a:tc>
                <a:extLst>
                  <a:ext uri="{0D108BD9-81ED-4DB2-BD59-A6C34878D82A}">
                    <a16:rowId xmlns:a16="http://schemas.microsoft.com/office/drawing/2014/main" val="615268372"/>
                  </a:ext>
                </a:extLst>
              </a:tr>
              <a:tr h="370674">
                <a:tc vMerge="1">
                  <a:txBody>
                    <a:bodyPr/>
                    <a:lstStyle/>
                    <a:p>
                      <a:pPr algn="ctr" latinLnBrk="1"/>
                      <a:endParaRPr lang="ko-KR" altLang="en-US" sz="1400" dirty="0">
                        <a:latin typeface="+mn-ea"/>
                        <a:ea typeface="+mn-ea"/>
                      </a:endParaRPr>
                    </a:p>
                  </a:txBody>
                  <a:tcPr anchor="ctr"/>
                </a:tc>
                <a:tc>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5">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tc gridSpan="2">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1076018449"/>
                  </a:ext>
                </a:extLst>
              </a:tr>
              <a:tr h="370674">
                <a:tc vMerge="1">
                  <a:txBody>
                    <a:bodyPr/>
                    <a:lstStyle/>
                    <a:p>
                      <a:pPr algn="ctr" latinLnBrk="1"/>
                      <a:endParaRPr lang="ko-KR" altLang="en-US" sz="1400" dirty="0">
                        <a:latin typeface="+mn-ea"/>
                        <a:ea typeface="+mn-ea"/>
                      </a:endParaRPr>
                    </a:p>
                  </a:txBody>
                  <a:tcPr anchor="ctr"/>
                </a:tc>
                <a:tc>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5">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tc gridSpan="2">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3270770524"/>
                  </a:ext>
                </a:extLst>
              </a:tr>
              <a:tr h="370674">
                <a:tc vMerge="1">
                  <a:txBody>
                    <a:bodyPr/>
                    <a:lstStyle/>
                    <a:p>
                      <a:pPr algn="ctr" latinLnBrk="1"/>
                      <a:endParaRPr lang="ko-KR" altLang="en-US" sz="1400" dirty="0">
                        <a:latin typeface="+mn-ea"/>
                        <a:ea typeface="+mn-ea"/>
                      </a:endParaRPr>
                    </a:p>
                  </a:txBody>
                  <a:tcPr anchor="ctr"/>
                </a:tc>
                <a:tc>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5">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tc gridSpan="2">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1091541129"/>
                  </a:ext>
                </a:extLst>
              </a:tr>
              <a:tr h="370674">
                <a:tc vMerge="1">
                  <a:txBody>
                    <a:bodyPr/>
                    <a:lstStyle/>
                    <a:p>
                      <a:pPr algn="ctr" latinLnBrk="1"/>
                      <a:endParaRPr lang="ko-KR" altLang="en-US" sz="1400" dirty="0">
                        <a:latin typeface="+mn-ea"/>
                        <a:ea typeface="+mn-ea"/>
                      </a:endParaRPr>
                    </a:p>
                  </a:txBody>
                  <a:tcPr anchor="ctr"/>
                </a:tc>
                <a:tc>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5">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algn="ctr" latinLnBrk="1"/>
                      <a:endParaRPr lang="ko-KR" altLang="en-US" sz="1400" dirty="0">
                        <a:latin typeface="+mn-ea"/>
                        <a:ea typeface="+mn-ea"/>
                      </a:endParaRPr>
                    </a:p>
                  </a:txBody>
                  <a:tcPr anchor="ctr"/>
                </a:tc>
                <a:tc hMerge="1">
                  <a:txBody>
                    <a:bodyPr/>
                    <a:lstStyle/>
                    <a:p>
                      <a:pPr latinLnBrk="1"/>
                      <a:endParaRPr lang="ko-KR" altLang="en-US"/>
                    </a:p>
                  </a:txBody>
                  <a:tcPr/>
                </a:tc>
                <a:tc gridSpan="2">
                  <a:txBody>
                    <a:bodyPr/>
                    <a:lstStyle/>
                    <a:p>
                      <a:pPr algn="just" latinLnBrk="1"/>
                      <a:endParaRPr lang="ko-KR" altLang="en-US" sz="140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1139987599"/>
                  </a:ext>
                </a:extLst>
              </a:tr>
            </a:tbl>
          </a:graphicData>
        </a:graphic>
      </p:graphicFrame>
    </p:spTree>
    <p:extLst>
      <p:ext uri="{BB962C8B-B14F-4D97-AF65-F5344CB8AC3E}">
        <p14:creationId xmlns:p14="http://schemas.microsoft.com/office/powerpoint/2010/main" val="15176907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57F28-B3E8-F644-4200-082BA0AB6CD8}"/>
            </a:ext>
          </a:extLst>
        </p:cNvPr>
        <p:cNvGrpSpPr/>
        <p:nvPr/>
      </p:nvGrpSpPr>
      <p:grpSpPr>
        <a:xfrm>
          <a:off x="0" y="0"/>
          <a:ext cx="0" cy="0"/>
          <a:chOff x="0" y="0"/>
          <a:chExt cx="0" cy="0"/>
        </a:xfrm>
      </p:grpSpPr>
      <p:sp>
        <p:nvSpPr>
          <p:cNvPr id="16" name="내용 개체 틀 2">
            <a:extLst>
              <a:ext uri="{FF2B5EF4-FFF2-40B4-BE49-F238E27FC236}">
                <a16:creationId xmlns:a16="http://schemas.microsoft.com/office/drawing/2014/main" id="{C1259860-F0D7-2696-89C7-C6D4C956C128}"/>
              </a:ext>
            </a:extLst>
          </p:cNvPr>
          <p:cNvSpPr>
            <a:spLocks noGrp="1"/>
          </p:cNvSpPr>
          <p:nvPr>
            <p:ph sz="quarter" idx="15"/>
          </p:nvPr>
        </p:nvSpPr>
        <p:spPr>
          <a:xfrm>
            <a:off x="236707" y="9236"/>
            <a:ext cx="11553218" cy="486137"/>
          </a:xfrm>
        </p:spPr>
        <p:txBody>
          <a:bodyPr anchor="ctr">
            <a:normAutofit/>
          </a:bodyPr>
          <a:lstStyle/>
          <a:p>
            <a:pPr marL="514350" indent="-514350">
              <a:buFont typeface="+mj-lt"/>
              <a:buAutoNum type="romanUcPeriod"/>
            </a:pPr>
            <a:r>
              <a:rPr lang="ko-KR" altLang="en-US" sz="1801" smtClean="0"/>
              <a:t>팀 소개</a:t>
            </a:r>
            <a:endParaRPr lang="x-none" altLang="en-US" sz="1801" dirty="0"/>
          </a:p>
        </p:txBody>
      </p:sp>
      <p:sp>
        <p:nvSpPr>
          <p:cNvPr id="17" name="TextBox 16"/>
          <p:cNvSpPr txBox="1"/>
          <p:nvPr/>
        </p:nvSpPr>
        <p:spPr>
          <a:xfrm>
            <a:off x="502920" y="566928"/>
            <a:ext cx="11155680" cy="411480"/>
          </a:xfrm>
          <a:prstGeom prst="rect">
            <a:avLst/>
          </a:prstGeom>
          <a:noFill/>
        </p:spPr>
        <p:txBody>
          <a:bodyPr wrap="square" lIns="45720" rIns="45720" tIns="27432" bIns="27432" anchor="t">
            <a:spAutoFit/>
          </a:bodyPr>
          <a:lstStyle/>
          <a:p>
            <a:pPr algn="l">
              <a:spcBef>
                <a:spcPts val="0"/>
              </a:spcBef>
            </a:pPr>
            <a:r>
              <a:rPr sz="1700" b="1" i="0">
                <a:solidFill>
                  <a:srgbClr val="1E2761"/>
                </a:solidFill>
                <a:latin typeface="맑은 고딕"/>
              </a:rPr>
              <a:t>예선에서 약속한 MVP 범위를, 4개 저장소로 전부 구현했습니다</a:t>
            </a:r>
          </a:p>
        </p:txBody>
      </p:sp>
      <p:sp>
        <p:nvSpPr>
          <p:cNvPr id="18" name="Rounded Rectangle 17"/>
          <p:cNvSpPr/>
          <p:nvPr/>
        </p:nvSpPr>
        <p:spPr>
          <a:xfrm>
            <a:off x="502920" y="1106058"/>
            <a:ext cx="3596640" cy="1792224"/>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9" name="Rounded Rectangle 18"/>
          <p:cNvSpPr/>
          <p:nvPr/>
        </p:nvSpPr>
        <p:spPr>
          <a:xfrm>
            <a:off x="685800" y="1290401"/>
            <a:ext cx="1417320" cy="307238"/>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50" b="1" i="0">
                <a:solidFill>
                  <a:srgbClr val="FFFFFF"/>
                </a:solidFill>
                <a:latin typeface="맑은 고딕"/>
              </a:rPr>
              <a:t>백엔드 · 블록체인</a:t>
            </a:r>
          </a:p>
        </p:txBody>
      </p:sp>
      <p:sp>
        <p:nvSpPr>
          <p:cNvPr id="20" name="TextBox 19"/>
          <p:cNvSpPr txBox="1"/>
          <p:nvPr/>
        </p:nvSpPr>
        <p:spPr>
          <a:xfrm>
            <a:off x="685800" y="1669328"/>
            <a:ext cx="3230880" cy="358444"/>
          </a:xfrm>
          <a:prstGeom prst="rect">
            <a:avLst/>
          </a:prstGeom>
          <a:noFill/>
        </p:spPr>
        <p:txBody>
          <a:bodyPr wrap="square" lIns="45720" rIns="45720" tIns="27432" bIns="27432" anchor="t">
            <a:spAutoFit/>
          </a:bodyPr>
          <a:lstStyle/>
          <a:p>
            <a:pPr algn="l">
              <a:spcBef>
                <a:spcPts val="0"/>
              </a:spcBef>
            </a:pPr>
            <a:r>
              <a:rPr sz="1500" b="1" i="0">
                <a:solidFill>
                  <a:srgbClr val="1E2761"/>
                </a:solidFill>
                <a:latin typeface="맑은 고딕"/>
              </a:rPr>
              <a:t>[이름]</a:t>
            </a:r>
          </a:p>
        </p:txBody>
      </p:sp>
      <p:sp>
        <p:nvSpPr>
          <p:cNvPr id="21" name="TextBox 20"/>
          <p:cNvSpPr txBox="1"/>
          <p:nvPr/>
        </p:nvSpPr>
        <p:spPr>
          <a:xfrm>
            <a:off x="685800" y="2027773"/>
            <a:ext cx="3230880" cy="307238"/>
          </a:xfrm>
          <a:prstGeom prst="rect">
            <a:avLst/>
          </a:prstGeom>
          <a:noFill/>
        </p:spPr>
        <p:txBody>
          <a:bodyPr wrap="square" lIns="45720" rIns="45720" tIns="27432" bIns="27432" anchor="t">
            <a:spAutoFit/>
          </a:bodyPr>
          <a:lstStyle/>
          <a:p>
            <a:pPr algn="l">
              <a:spcBef>
                <a:spcPts val="0"/>
              </a:spcBef>
            </a:pPr>
            <a:r>
              <a:rPr sz="1000" b="0" i="0">
                <a:solidFill>
                  <a:srgbClr val="7A7A7A"/>
                </a:solidFill>
                <a:latin typeface="맑은 고딕"/>
              </a:rPr>
              <a:t>[소속 · 이력]</a:t>
            </a:r>
          </a:p>
        </p:txBody>
      </p:sp>
      <p:sp>
        <p:nvSpPr>
          <p:cNvPr id="22" name="TextBox 21"/>
          <p:cNvSpPr txBox="1"/>
          <p:nvPr/>
        </p:nvSpPr>
        <p:spPr>
          <a:xfrm>
            <a:off x="685800" y="2335011"/>
            <a:ext cx="3230880" cy="512064"/>
          </a:xfrm>
          <a:prstGeom prst="rect">
            <a:avLst/>
          </a:prstGeom>
          <a:noFill/>
        </p:spPr>
        <p:txBody>
          <a:bodyPr wrap="square" lIns="45720" rIns="45720" tIns="27432" bIns="27432" anchor="t">
            <a:spAutoFit/>
          </a:bodyPr>
          <a:lstStyle/>
          <a:p>
            <a:pPr algn="l">
              <a:spcBef>
                <a:spcPts val="0"/>
              </a:spcBef>
            </a:pPr>
            <a:r>
              <a:rPr sz="1000" b="0" i="0">
                <a:solidFill>
                  <a:srgbClr val="404040"/>
                </a:solidFill>
                <a:latin typeface="맑은 고딕"/>
              </a:rPr>
              <a:t>담당: 등록·검증 API, 스마트 컨트랙트, Open DID 연동</a:t>
            </a:r>
          </a:p>
        </p:txBody>
      </p:sp>
      <p:sp>
        <p:nvSpPr>
          <p:cNvPr id="23" name="Rounded Rectangle 22"/>
          <p:cNvSpPr/>
          <p:nvPr/>
        </p:nvSpPr>
        <p:spPr>
          <a:xfrm>
            <a:off x="4282439" y="1106058"/>
            <a:ext cx="3596640" cy="1792224"/>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4" name="Rounded Rectangle 23"/>
          <p:cNvSpPr/>
          <p:nvPr/>
        </p:nvSpPr>
        <p:spPr>
          <a:xfrm>
            <a:off x="4465320" y="1290401"/>
            <a:ext cx="1417320" cy="307238"/>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50" b="1" i="0">
                <a:solidFill>
                  <a:srgbClr val="FFFFFF"/>
                </a:solidFill>
                <a:latin typeface="맑은 고딕"/>
              </a:rPr>
              <a:t>iOS 앱</a:t>
            </a:r>
          </a:p>
        </p:txBody>
      </p:sp>
      <p:sp>
        <p:nvSpPr>
          <p:cNvPr id="25" name="TextBox 24"/>
          <p:cNvSpPr txBox="1"/>
          <p:nvPr/>
        </p:nvSpPr>
        <p:spPr>
          <a:xfrm>
            <a:off x="4465320" y="1669328"/>
            <a:ext cx="3230880" cy="358444"/>
          </a:xfrm>
          <a:prstGeom prst="rect">
            <a:avLst/>
          </a:prstGeom>
          <a:noFill/>
        </p:spPr>
        <p:txBody>
          <a:bodyPr wrap="square" lIns="45720" rIns="45720" tIns="27432" bIns="27432" anchor="t">
            <a:spAutoFit/>
          </a:bodyPr>
          <a:lstStyle/>
          <a:p>
            <a:pPr algn="l">
              <a:spcBef>
                <a:spcPts val="0"/>
              </a:spcBef>
            </a:pPr>
            <a:r>
              <a:rPr sz="1500" b="1" i="0">
                <a:solidFill>
                  <a:srgbClr val="1E2761"/>
                </a:solidFill>
                <a:latin typeface="맑은 고딕"/>
              </a:rPr>
              <a:t>[이름]</a:t>
            </a:r>
          </a:p>
        </p:txBody>
      </p:sp>
      <p:sp>
        <p:nvSpPr>
          <p:cNvPr id="26" name="TextBox 25"/>
          <p:cNvSpPr txBox="1"/>
          <p:nvPr/>
        </p:nvSpPr>
        <p:spPr>
          <a:xfrm>
            <a:off x="4465320" y="2027773"/>
            <a:ext cx="3230880" cy="307238"/>
          </a:xfrm>
          <a:prstGeom prst="rect">
            <a:avLst/>
          </a:prstGeom>
          <a:noFill/>
        </p:spPr>
        <p:txBody>
          <a:bodyPr wrap="square" lIns="45720" rIns="45720" tIns="27432" bIns="27432" anchor="t">
            <a:spAutoFit/>
          </a:bodyPr>
          <a:lstStyle/>
          <a:p>
            <a:pPr algn="l">
              <a:spcBef>
                <a:spcPts val="0"/>
              </a:spcBef>
            </a:pPr>
            <a:r>
              <a:rPr sz="1000" b="0" i="0">
                <a:solidFill>
                  <a:srgbClr val="7A7A7A"/>
                </a:solidFill>
                <a:latin typeface="맑은 고딕"/>
              </a:rPr>
              <a:t>[소속 · 이력]</a:t>
            </a:r>
          </a:p>
        </p:txBody>
      </p:sp>
      <p:sp>
        <p:nvSpPr>
          <p:cNvPr id="27" name="TextBox 26"/>
          <p:cNvSpPr txBox="1"/>
          <p:nvPr/>
        </p:nvSpPr>
        <p:spPr>
          <a:xfrm>
            <a:off x="4465320" y="2335011"/>
            <a:ext cx="3230880" cy="512064"/>
          </a:xfrm>
          <a:prstGeom prst="rect">
            <a:avLst/>
          </a:prstGeom>
          <a:noFill/>
        </p:spPr>
        <p:txBody>
          <a:bodyPr wrap="square" lIns="45720" rIns="45720" tIns="27432" bIns="27432" anchor="t">
            <a:spAutoFit/>
          </a:bodyPr>
          <a:lstStyle/>
          <a:p>
            <a:pPr algn="l">
              <a:spcBef>
                <a:spcPts val="0"/>
              </a:spcBef>
            </a:pPr>
            <a:r>
              <a:rPr sz="1000" b="0" i="0">
                <a:solidFill>
                  <a:srgbClr val="404040"/>
                </a:solidFill>
                <a:latin typeface="맑은 고딕"/>
              </a:rPr>
              <a:t>담당: Wallet 연동, 모바일 신분증 본인확인, 영상 등록 UX</a:t>
            </a:r>
          </a:p>
        </p:txBody>
      </p:sp>
      <p:sp>
        <p:nvSpPr>
          <p:cNvPr id="28" name="Rounded Rectangle 27"/>
          <p:cNvSpPr/>
          <p:nvPr/>
        </p:nvSpPr>
        <p:spPr>
          <a:xfrm>
            <a:off x="8061960" y="1106058"/>
            <a:ext cx="3596640" cy="1792224"/>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9" name="Rounded Rectangle 28"/>
          <p:cNvSpPr/>
          <p:nvPr/>
        </p:nvSpPr>
        <p:spPr>
          <a:xfrm>
            <a:off x="8244839" y="1290401"/>
            <a:ext cx="1417320" cy="307238"/>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50" b="1" i="0">
                <a:solidFill>
                  <a:srgbClr val="FFFFFF"/>
                </a:solidFill>
                <a:latin typeface="맑은 고딕"/>
              </a:rPr>
              <a:t>웹 · Chrome 확장</a:t>
            </a:r>
          </a:p>
        </p:txBody>
      </p:sp>
      <p:sp>
        <p:nvSpPr>
          <p:cNvPr id="30" name="TextBox 29"/>
          <p:cNvSpPr txBox="1"/>
          <p:nvPr/>
        </p:nvSpPr>
        <p:spPr>
          <a:xfrm>
            <a:off x="8244839" y="1669328"/>
            <a:ext cx="3230880" cy="358444"/>
          </a:xfrm>
          <a:prstGeom prst="rect">
            <a:avLst/>
          </a:prstGeom>
          <a:noFill/>
        </p:spPr>
        <p:txBody>
          <a:bodyPr wrap="square" lIns="45720" rIns="45720" tIns="27432" bIns="27432" anchor="t">
            <a:spAutoFit/>
          </a:bodyPr>
          <a:lstStyle/>
          <a:p>
            <a:pPr algn="l">
              <a:spcBef>
                <a:spcPts val="0"/>
              </a:spcBef>
            </a:pPr>
            <a:r>
              <a:rPr sz="1500" b="1" i="0">
                <a:solidFill>
                  <a:srgbClr val="1E2761"/>
                </a:solidFill>
                <a:latin typeface="맑은 고딕"/>
              </a:rPr>
              <a:t>[이름]</a:t>
            </a:r>
          </a:p>
        </p:txBody>
      </p:sp>
      <p:sp>
        <p:nvSpPr>
          <p:cNvPr id="31" name="TextBox 30"/>
          <p:cNvSpPr txBox="1"/>
          <p:nvPr/>
        </p:nvSpPr>
        <p:spPr>
          <a:xfrm>
            <a:off x="8244839" y="2027773"/>
            <a:ext cx="3230880" cy="307238"/>
          </a:xfrm>
          <a:prstGeom prst="rect">
            <a:avLst/>
          </a:prstGeom>
          <a:noFill/>
        </p:spPr>
        <p:txBody>
          <a:bodyPr wrap="square" lIns="45720" rIns="45720" tIns="27432" bIns="27432" anchor="t">
            <a:spAutoFit/>
          </a:bodyPr>
          <a:lstStyle/>
          <a:p>
            <a:pPr algn="l">
              <a:spcBef>
                <a:spcPts val="0"/>
              </a:spcBef>
            </a:pPr>
            <a:r>
              <a:rPr sz="1000" b="0" i="0">
                <a:solidFill>
                  <a:srgbClr val="7A7A7A"/>
                </a:solidFill>
                <a:latin typeface="맑은 고딕"/>
              </a:rPr>
              <a:t>[소속 · 이력]</a:t>
            </a:r>
          </a:p>
        </p:txBody>
      </p:sp>
      <p:sp>
        <p:nvSpPr>
          <p:cNvPr id="32" name="TextBox 31"/>
          <p:cNvSpPr txBox="1"/>
          <p:nvPr/>
        </p:nvSpPr>
        <p:spPr>
          <a:xfrm>
            <a:off x="8244839" y="2335011"/>
            <a:ext cx="3230880" cy="512064"/>
          </a:xfrm>
          <a:prstGeom prst="rect">
            <a:avLst/>
          </a:prstGeom>
          <a:noFill/>
        </p:spPr>
        <p:txBody>
          <a:bodyPr wrap="square" lIns="45720" rIns="45720" tIns="27432" bIns="27432" anchor="t">
            <a:spAutoFit/>
          </a:bodyPr>
          <a:lstStyle/>
          <a:p>
            <a:pPr algn="l">
              <a:spcBef>
                <a:spcPts val="0"/>
              </a:spcBef>
            </a:pPr>
            <a:r>
              <a:rPr sz="1000" b="0" i="0">
                <a:solidFill>
                  <a:srgbClr val="404040"/>
                </a:solidFill>
                <a:latin typeface="맑은 고딕"/>
              </a:rPr>
              <a:t>담당: 검증 웹, SNS 자동 배지, 시연·기획</a:t>
            </a:r>
          </a:p>
        </p:txBody>
      </p:sp>
      <p:sp>
        <p:nvSpPr>
          <p:cNvPr id="33" name="TextBox 32"/>
          <p:cNvSpPr txBox="1"/>
          <p:nvPr/>
        </p:nvSpPr>
        <p:spPr>
          <a:xfrm>
            <a:off x="502920" y="3103107"/>
            <a:ext cx="5486400" cy="327720"/>
          </a:xfrm>
          <a:prstGeom prst="rect">
            <a:avLst/>
          </a:prstGeom>
          <a:noFill/>
        </p:spPr>
        <p:txBody>
          <a:bodyPr wrap="square" lIns="45720" rIns="45720" tIns="27432" bIns="27432" anchor="t">
            <a:spAutoFit/>
          </a:bodyPr>
          <a:lstStyle/>
          <a:p>
            <a:pPr algn="l">
              <a:spcBef>
                <a:spcPts val="0"/>
              </a:spcBef>
            </a:pPr>
            <a:r>
              <a:rPr sz="1250" b="1" i="0">
                <a:solidFill>
                  <a:srgbClr val="2E307E"/>
                </a:solidFill>
                <a:latin typeface="맑은 고딕"/>
              </a:rPr>
              <a:t>예선 약속 → 결선 이행</a:t>
            </a:r>
          </a:p>
        </p:txBody>
      </p:sp>
      <p:sp>
        <p:nvSpPr>
          <p:cNvPr id="34" name="Rectangle 33"/>
          <p:cNvSpPr/>
          <p:nvPr/>
        </p:nvSpPr>
        <p:spPr>
          <a:xfrm>
            <a:off x="502920" y="3461552"/>
            <a:ext cx="3657600" cy="348203"/>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r>
              <a:rPr sz="1000" b="1" i="0">
                <a:solidFill>
                  <a:srgbClr val="FFFFFF"/>
                </a:solidFill>
                <a:latin typeface="맑은 고딕"/>
              </a:rPr>
              <a:t>예선 제안서에서 '실연동'으로 약속한 범위</a:t>
            </a:r>
          </a:p>
        </p:txBody>
      </p:sp>
      <p:sp>
        <p:nvSpPr>
          <p:cNvPr id="35" name="Rectangle 34"/>
          <p:cNvSpPr/>
          <p:nvPr/>
        </p:nvSpPr>
        <p:spPr>
          <a:xfrm>
            <a:off x="4160520" y="3461552"/>
            <a:ext cx="1280160" cy="348203"/>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r>
              <a:rPr sz="1000" b="1" i="0">
                <a:solidFill>
                  <a:srgbClr val="FFFFFF"/>
                </a:solidFill>
                <a:latin typeface="맑은 고딕"/>
              </a:rPr>
              <a:t>결선 구현</a:t>
            </a:r>
          </a:p>
        </p:txBody>
      </p:sp>
      <p:sp>
        <p:nvSpPr>
          <p:cNvPr id="36" name="Rectangle 35"/>
          <p:cNvSpPr/>
          <p:nvPr/>
        </p:nvSpPr>
        <p:spPr>
          <a:xfrm>
            <a:off x="5440679" y="3461552"/>
            <a:ext cx="6217920" cy="348203"/>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r>
              <a:rPr sz="1000" b="1" i="0">
                <a:solidFill>
                  <a:srgbClr val="FFFFFF"/>
                </a:solidFill>
                <a:latin typeface="맑은 고딕"/>
              </a:rPr>
              <a:t>근거</a:t>
            </a:r>
          </a:p>
        </p:txBody>
      </p:sp>
      <p:sp>
        <p:nvSpPr>
          <p:cNvPr id="37" name="Rectangle 36"/>
          <p:cNvSpPr/>
          <p:nvPr/>
        </p:nvSpPr>
        <p:spPr>
          <a:xfrm>
            <a:off x="502920" y="3809756"/>
            <a:ext cx="3657600" cy="38916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000" b="1" i="0">
                <a:solidFill>
                  <a:srgbClr val="1E2761"/>
                </a:solidFill>
                <a:latin typeface="맑은 고딕"/>
              </a:rPr>
              <a:t>모바일 신분증 본인확인 (OmniOne CX)</a:t>
            </a:r>
          </a:p>
        </p:txBody>
      </p:sp>
      <p:sp>
        <p:nvSpPr>
          <p:cNvPr id="38" name="Rectangle 37"/>
          <p:cNvSpPr/>
          <p:nvPr/>
        </p:nvSpPr>
        <p:spPr>
          <a:xfrm>
            <a:off x="4160520" y="3809756"/>
            <a:ext cx="1280160" cy="38916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1000" b="0" i="0">
                <a:solidFill>
                  <a:srgbClr val="404040"/>
                </a:solidFill>
                <a:latin typeface="맑은 고딕"/>
              </a:rPr>
              <a:t>✓ 실연동</a:t>
            </a:r>
          </a:p>
        </p:txBody>
      </p:sp>
      <p:sp>
        <p:nvSpPr>
          <p:cNvPr id="39" name="Rectangle 38"/>
          <p:cNvSpPr/>
          <p:nvPr/>
        </p:nvSpPr>
        <p:spPr>
          <a:xfrm>
            <a:off x="5440679" y="3809756"/>
            <a:ext cx="6217920" cy="38916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1000" b="0" i="0">
                <a:solidFill>
                  <a:srgbClr val="404040"/>
                </a:solidFill>
                <a:latin typeface="맑은 고딕"/>
              </a:rPr>
              <a:t>가입·로그인 시 CX 인증 → Wallet DID 연결, CI는 HMAC 해시만 보관</a:t>
            </a:r>
          </a:p>
        </p:txBody>
      </p:sp>
      <p:sp>
        <p:nvSpPr>
          <p:cNvPr id="40" name="Rectangle 39"/>
          <p:cNvSpPr/>
          <p:nvPr/>
        </p:nvSpPr>
        <p:spPr>
          <a:xfrm>
            <a:off x="502920" y="4198924"/>
            <a:ext cx="3657600" cy="389168"/>
          </a:xfrm>
          <a:prstGeom prst="rect">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000" b="1" i="0">
                <a:solidFill>
                  <a:srgbClr val="1E2761"/>
                </a:solidFill>
                <a:latin typeface="맑은 고딕"/>
              </a:rPr>
              <a:t>DID 서명 · 보증서 (Open DID)</a:t>
            </a:r>
          </a:p>
        </p:txBody>
      </p:sp>
      <p:sp>
        <p:nvSpPr>
          <p:cNvPr id="41" name="Rectangle 40"/>
          <p:cNvSpPr/>
          <p:nvPr/>
        </p:nvSpPr>
        <p:spPr>
          <a:xfrm>
            <a:off x="4160520" y="4198924"/>
            <a:ext cx="1280160" cy="389168"/>
          </a:xfrm>
          <a:prstGeom prst="rect">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1000" b="0" i="0">
                <a:solidFill>
                  <a:srgbClr val="404040"/>
                </a:solidFill>
                <a:latin typeface="맑은 고딕"/>
              </a:rPr>
              <a:t>✓ 실연동</a:t>
            </a:r>
          </a:p>
        </p:txBody>
      </p:sp>
      <p:sp>
        <p:nvSpPr>
          <p:cNvPr id="42" name="Rectangle 41"/>
          <p:cNvSpPr/>
          <p:nvPr/>
        </p:nvSpPr>
        <p:spPr>
          <a:xfrm>
            <a:off x="5440679" y="4198924"/>
            <a:ext cx="6217920" cy="389168"/>
          </a:xfrm>
          <a:prstGeom prst="rect">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1000" b="0" i="0">
                <a:solidFill>
                  <a:srgbClr val="404040"/>
                </a:solidFill>
                <a:latin typeface="맑은 고딕"/>
              </a:rPr>
              <a:t>등록 사실을 보증하는 VC 발급·검증 (Issuer · Verifier · TAS)</a:t>
            </a:r>
          </a:p>
        </p:txBody>
      </p:sp>
      <p:sp>
        <p:nvSpPr>
          <p:cNvPr id="43" name="Rectangle 42"/>
          <p:cNvSpPr/>
          <p:nvPr/>
        </p:nvSpPr>
        <p:spPr>
          <a:xfrm>
            <a:off x="502920" y="4588093"/>
            <a:ext cx="3657600" cy="38916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000" b="1" i="0">
                <a:solidFill>
                  <a:srgbClr val="1E2761"/>
                </a:solidFill>
                <a:latin typeface="맑은 고딕"/>
              </a:rPr>
              <a:t>온체인 기록 (OmniOne Chain, BESU)</a:t>
            </a:r>
          </a:p>
        </p:txBody>
      </p:sp>
      <p:sp>
        <p:nvSpPr>
          <p:cNvPr id="44" name="Rectangle 43"/>
          <p:cNvSpPr/>
          <p:nvPr/>
        </p:nvSpPr>
        <p:spPr>
          <a:xfrm>
            <a:off x="4160520" y="4588093"/>
            <a:ext cx="1280160" cy="38916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1000" b="0" i="0">
                <a:solidFill>
                  <a:srgbClr val="404040"/>
                </a:solidFill>
                <a:latin typeface="맑은 고딕"/>
              </a:rPr>
              <a:t>✓ 직접 개발</a:t>
            </a:r>
          </a:p>
        </p:txBody>
      </p:sp>
      <p:sp>
        <p:nvSpPr>
          <p:cNvPr id="45" name="Rectangle 44"/>
          <p:cNvSpPr/>
          <p:nvPr/>
        </p:nvSpPr>
        <p:spPr>
          <a:xfrm>
            <a:off x="5440679" y="4588093"/>
            <a:ext cx="6217920" cy="38916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1000" b="0" i="0">
                <a:solidFill>
                  <a:srgbClr val="404040"/>
                </a:solidFill>
                <a:latin typeface="맑은 고딕"/>
              </a:rPr>
              <a:t>JinBon.sol 컨트랙트 — merkleRoot · 등록자 DID · 서명 · 등록일시 기록</a:t>
            </a:r>
          </a:p>
        </p:txBody>
      </p:sp>
      <p:sp>
        <p:nvSpPr>
          <p:cNvPr id="46" name="Rectangle 45"/>
          <p:cNvSpPr/>
          <p:nvPr/>
        </p:nvSpPr>
        <p:spPr>
          <a:xfrm>
            <a:off x="502920" y="4977262"/>
            <a:ext cx="3657600" cy="389168"/>
          </a:xfrm>
          <a:prstGeom prst="rect">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000" b="1" i="0">
                <a:solidFill>
                  <a:srgbClr val="1E2761"/>
                </a:solidFill>
                <a:latin typeface="맑은 고딕"/>
              </a:rPr>
              <a:t>해시 기반 진본 검증</a:t>
            </a:r>
          </a:p>
        </p:txBody>
      </p:sp>
      <p:sp>
        <p:nvSpPr>
          <p:cNvPr id="47" name="Rectangle 46"/>
          <p:cNvSpPr/>
          <p:nvPr/>
        </p:nvSpPr>
        <p:spPr>
          <a:xfrm>
            <a:off x="4160520" y="4977262"/>
            <a:ext cx="1280160" cy="389168"/>
          </a:xfrm>
          <a:prstGeom prst="rect">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1000" b="0" i="0">
                <a:solidFill>
                  <a:srgbClr val="404040"/>
                </a:solidFill>
                <a:latin typeface="맑은 고딕"/>
              </a:rPr>
              <a:t>✓ 실연동</a:t>
            </a:r>
          </a:p>
        </p:txBody>
      </p:sp>
      <p:sp>
        <p:nvSpPr>
          <p:cNvPr id="48" name="Rectangle 47"/>
          <p:cNvSpPr/>
          <p:nvPr/>
        </p:nvSpPr>
        <p:spPr>
          <a:xfrm>
            <a:off x="5440679" y="4977262"/>
            <a:ext cx="6217920" cy="389168"/>
          </a:xfrm>
          <a:prstGeom prst="rect">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1000" b="0" i="0">
                <a:solidFill>
                  <a:srgbClr val="404040"/>
                </a:solidFill>
                <a:latin typeface="맑은 고딕"/>
              </a:rPr>
              <a:t>파일해시 + 지각해시 2단 매칭, 판정 7종, 온체인 서명 재대조</a:t>
            </a:r>
          </a:p>
        </p:txBody>
      </p:sp>
      <p:sp>
        <p:nvSpPr>
          <p:cNvPr id="49" name="Rectangle 48"/>
          <p:cNvSpPr/>
          <p:nvPr/>
        </p:nvSpPr>
        <p:spPr>
          <a:xfrm>
            <a:off x="502920" y="5366429"/>
            <a:ext cx="3657600" cy="38916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000" b="1" i="0">
                <a:solidFill>
                  <a:srgbClr val="1E2761"/>
                </a:solidFill>
                <a:latin typeface="맑은 고딕"/>
              </a:rPr>
              <a:t>Chrome 확장 자동 배지</a:t>
            </a:r>
          </a:p>
        </p:txBody>
      </p:sp>
      <p:sp>
        <p:nvSpPr>
          <p:cNvPr id="50" name="Rectangle 49"/>
          <p:cNvSpPr/>
          <p:nvPr/>
        </p:nvSpPr>
        <p:spPr>
          <a:xfrm>
            <a:off x="4160520" y="5366429"/>
            <a:ext cx="1280160" cy="38916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1000" b="0" i="0">
                <a:solidFill>
                  <a:srgbClr val="404040"/>
                </a:solidFill>
                <a:latin typeface="맑은 고딕"/>
              </a:rPr>
              <a:t>✓ 실연동</a:t>
            </a:r>
          </a:p>
        </p:txBody>
      </p:sp>
      <p:sp>
        <p:nvSpPr>
          <p:cNvPr id="51" name="Rectangle 50"/>
          <p:cNvSpPr/>
          <p:nvPr/>
        </p:nvSpPr>
        <p:spPr>
          <a:xfrm>
            <a:off x="5440679" y="5366429"/>
            <a:ext cx="6217920" cy="38916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1000" b="0" i="0">
                <a:solidFill>
                  <a:srgbClr val="404040"/>
                </a:solidFill>
                <a:latin typeface="맑은 고딕"/>
              </a:rPr>
              <a:t>YouTube · Instagram 시청 중 URL 검증, 로그인 불필요</a:t>
            </a:r>
          </a:p>
        </p:txBody>
      </p:sp>
      <p:sp>
        <p:nvSpPr>
          <p:cNvPr id="52" name="Rounded Rectangle 51"/>
          <p:cNvSpPr/>
          <p:nvPr/>
        </p:nvSpPr>
        <p:spPr>
          <a:xfrm>
            <a:off x="502920" y="5868253"/>
            <a:ext cx="11155680" cy="512064"/>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73152" wrap="square"/>
          <a:lstStyle/>
          <a:p>
            <a:pPr algn="l"/>
            <a:r>
              <a:rPr sz="1200" b="1" i="0">
                <a:solidFill>
                  <a:srgbClr val="F9E76C"/>
                </a:solidFill>
                <a:latin typeface="맑은 고딕"/>
              </a:rPr>
              <a:t>협업 방식   </a:t>
            </a:r>
            <a:r>
              <a:rPr sz="1200" b="0" i="0">
                <a:solidFill>
                  <a:srgbClr val="FFFFFF"/>
                </a:solidFill>
                <a:latin typeface="맑은 고딕"/>
              </a:rPr>
              <a:t>저장소 4개 분리 개발 · API 명세 우선 합의 · 아키텍처/플로우/보안 문서화로 병렬 작업 — 예선 이후 4개월 만에 E2E 동작</a:t>
            </a:r>
          </a:p>
        </p:txBody>
      </p:sp>
    </p:spTree>
    <p:extLst>
      <p:ext uri="{BB962C8B-B14F-4D97-AF65-F5344CB8AC3E}">
        <p14:creationId xmlns:p14="http://schemas.microsoft.com/office/powerpoint/2010/main" val="34846655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57F28-B3E8-F644-4200-082BA0AB6CD8}"/>
            </a:ext>
          </a:extLst>
        </p:cNvPr>
        <p:cNvGrpSpPr/>
        <p:nvPr/>
      </p:nvGrpSpPr>
      <p:grpSpPr>
        <a:xfrm>
          <a:off x="0" y="0"/>
          <a:ext cx="0" cy="0"/>
          <a:chOff x="0" y="0"/>
          <a:chExt cx="0" cy="0"/>
        </a:xfrm>
      </p:grpSpPr>
      <p:sp>
        <p:nvSpPr>
          <p:cNvPr id="16" name="내용 개체 틀 2">
            <a:extLst>
              <a:ext uri="{FF2B5EF4-FFF2-40B4-BE49-F238E27FC236}">
                <a16:creationId xmlns:a16="http://schemas.microsoft.com/office/drawing/2014/main" id="{C1259860-F0D7-2696-89C7-C6D4C956C128}"/>
              </a:ext>
            </a:extLst>
          </p:cNvPr>
          <p:cNvSpPr>
            <a:spLocks noGrp="1"/>
          </p:cNvSpPr>
          <p:nvPr>
            <p:ph sz="quarter" idx="15"/>
          </p:nvPr>
        </p:nvSpPr>
        <p:spPr>
          <a:xfrm>
            <a:off x="236707" y="9236"/>
            <a:ext cx="11553218" cy="486137"/>
          </a:xfrm>
        </p:spPr>
        <p:txBody>
          <a:bodyPr anchor="ctr">
            <a:normAutofit/>
          </a:bodyPr>
          <a:lstStyle/>
          <a:p>
            <a:pPr marL="514350" indent="-514350">
              <a:buFont typeface="+mj-lt"/>
              <a:buAutoNum type="romanUcPeriod" startAt="2"/>
            </a:pPr>
            <a:r>
              <a:rPr lang="ko-KR" altLang="en-US" sz="1801" dirty="0" err="1" smtClean="0"/>
              <a:t>제안내용의</a:t>
            </a:r>
            <a:r>
              <a:rPr lang="ko-KR" altLang="en-US" sz="1801" dirty="0" smtClean="0"/>
              <a:t> 목적 및 필요성</a:t>
            </a:r>
            <a:endParaRPr lang="x-none" altLang="en-US" sz="1801" dirty="0"/>
          </a:p>
        </p:txBody>
      </p:sp>
      <p:sp>
        <p:nvSpPr>
          <p:cNvPr id="17" name="TextBox 16"/>
          <p:cNvSpPr txBox="1"/>
          <p:nvPr/>
        </p:nvSpPr>
        <p:spPr>
          <a:xfrm>
            <a:off x="502920" y="566928"/>
            <a:ext cx="11155680" cy="411480"/>
          </a:xfrm>
          <a:prstGeom prst="rect">
            <a:avLst/>
          </a:prstGeom>
          <a:noFill/>
        </p:spPr>
        <p:txBody>
          <a:bodyPr wrap="square" lIns="45720" rIns="45720" tIns="27432" bIns="27432" anchor="t">
            <a:spAutoFit/>
          </a:bodyPr>
          <a:lstStyle/>
          <a:p>
            <a:pPr algn="l">
              <a:spcBef>
                <a:spcPts val="0"/>
              </a:spcBef>
            </a:pPr>
            <a:r>
              <a:rPr sz="1700" b="1" i="0">
                <a:solidFill>
                  <a:srgbClr val="1E2761"/>
                </a:solidFill>
                <a:latin typeface="맑은 고딕"/>
              </a:rPr>
              <a:t>'가짜 표시'는 법이 강제하지만, '진짜 증명'은 아무도 팔지 않습니다</a:t>
            </a:r>
          </a:p>
        </p:txBody>
      </p:sp>
      <p:sp>
        <p:nvSpPr>
          <p:cNvPr id="18" name="Rounded Rectangle 17"/>
          <p:cNvSpPr/>
          <p:nvPr/>
        </p:nvSpPr>
        <p:spPr>
          <a:xfrm>
            <a:off x="502920" y="1106058"/>
            <a:ext cx="3566160" cy="1894636"/>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9" name="Rounded Rectangle 18"/>
          <p:cNvSpPr/>
          <p:nvPr/>
        </p:nvSpPr>
        <p:spPr>
          <a:xfrm>
            <a:off x="685800" y="1290401"/>
            <a:ext cx="868680" cy="276514"/>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1" i="0">
                <a:solidFill>
                  <a:srgbClr val="FFFFFF"/>
                </a:solidFill>
                <a:latin typeface="맑은 고딕"/>
              </a:rPr>
              <a:t>수요</a:t>
            </a:r>
          </a:p>
        </p:txBody>
      </p:sp>
      <p:sp>
        <p:nvSpPr>
          <p:cNvPr id="20" name="TextBox 19"/>
          <p:cNvSpPr txBox="1"/>
          <p:nvPr/>
        </p:nvSpPr>
        <p:spPr>
          <a:xfrm>
            <a:off x="685800" y="1618122"/>
            <a:ext cx="3200400" cy="460857"/>
          </a:xfrm>
          <a:prstGeom prst="rect">
            <a:avLst/>
          </a:prstGeom>
          <a:noFill/>
        </p:spPr>
        <p:txBody>
          <a:bodyPr wrap="square" lIns="45720" rIns="45720" tIns="27432" bIns="27432" anchor="t">
            <a:spAutoFit/>
          </a:bodyPr>
          <a:lstStyle/>
          <a:p>
            <a:pPr algn="l">
              <a:spcBef>
                <a:spcPts val="0"/>
              </a:spcBef>
            </a:pPr>
            <a:r>
              <a:rPr sz="2200" b="1" i="0">
                <a:solidFill>
                  <a:srgbClr val="C0392B"/>
                </a:solidFill>
                <a:latin typeface="맑은 고딕"/>
              </a:rPr>
              <a:t>1,318건</a:t>
            </a:r>
          </a:p>
        </p:txBody>
      </p:sp>
      <p:sp>
        <p:nvSpPr>
          <p:cNvPr id="21" name="TextBox 20"/>
          <p:cNvSpPr txBox="1"/>
          <p:nvPr/>
        </p:nvSpPr>
        <p:spPr>
          <a:xfrm>
            <a:off x="685800" y="2078979"/>
            <a:ext cx="3200400" cy="307238"/>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국내 딥페이크 성범죄 (경찰청, ~2025.9)</a:t>
            </a:r>
          </a:p>
        </p:txBody>
      </p:sp>
      <p:sp>
        <p:nvSpPr>
          <p:cNvPr id="22" name="TextBox 21"/>
          <p:cNvSpPr txBox="1"/>
          <p:nvPr/>
        </p:nvSpPr>
        <p:spPr>
          <a:xfrm>
            <a:off x="685800" y="2355494"/>
            <a:ext cx="3200400" cy="614476"/>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2022년 160건 → 2024년 1,202건. 피해자는 공인·기관·일반인 가리지 않음</a:t>
            </a:r>
          </a:p>
        </p:txBody>
      </p:sp>
      <p:sp>
        <p:nvSpPr>
          <p:cNvPr id="23" name="Rounded Rectangle 22"/>
          <p:cNvSpPr/>
          <p:nvPr/>
        </p:nvSpPr>
        <p:spPr>
          <a:xfrm>
            <a:off x="4251959" y="1106058"/>
            <a:ext cx="3566160" cy="1894636"/>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4" name="Rounded Rectangle 23"/>
          <p:cNvSpPr/>
          <p:nvPr/>
        </p:nvSpPr>
        <p:spPr>
          <a:xfrm>
            <a:off x="4434840" y="1290401"/>
            <a:ext cx="868680" cy="276514"/>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1" i="0">
                <a:solidFill>
                  <a:srgbClr val="FFFFFF"/>
                </a:solidFill>
                <a:latin typeface="맑은 고딕"/>
              </a:rPr>
              <a:t>규제</a:t>
            </a:r>
          </a:p>
        </p:txBody>
      </p:sp>
      <p:sp>
        <p:nvSpPr>
          <p:cNvPr id="25" name="TextBox 24"/>
          <p:cNvSpPr txBox="1"/>
          <p:nvPr/>
        </p:nvSpPr>
        <p:spPr>
          <a:xfrm>
            <a:off x="4434840" y="1618122"/>
            <a:ext cx="3200400" cy="460857"/>
          </a:xfrm>
          <a:prstGeom prst="rect">
            <a:avLst/>
          </a:prstGeom>
          <a:noFill/>
        </p:spPr>
        <p:txBody>
          <a:bodyPr wrap="square" lIns="45720" rIns="45720" tIns="27432" bIns="27432" anchor="t">
            <a:spAutoFit/>
          </a:bodyPr>
          <a:lstStyle/>
          <a:p>
            <a:pPr algn="l">
              <a:spcBef>
                <a:spcPts val="0"/>
              </a:spcBef>
            </a:pPr>
            <a:r>
              <a:rPr sz="2200" b="1" i="0">
                <a:solidFill>
                  <a:srgbClr val="1E2761"/>
                </a:solidFill>
                <a:latin typeface="맑은 고딕"/>
              </a:rPr>
              <a:t>2026.1.22</a:t>
            </a:r>
          </a:p>
        </p:txBody>
      </p:sp>
      <p:sp>
        <p:nvSpPr>
          <p:cNvPr id="26" name="TextBox 25"/>
          <p:cNvSpPr txBox="1"/>
          <p:nvPr/>
        </p:nvSpPr>
        <p:spPr>
          <a:xfrm>
            <a:off x="4434840" y="2078979"/>
            <a:ext cx="3200400" cy="307238"/>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AI 기본법 시행</a:t>
            </a:r>
          </a:p>
        </p:txBody>
      </p:sp>
      <p:sp>
        <p:nvSpPr>
          <p:cNvPr id="27" name="TextBox 26"/>
          <p:cNvSpPr txBox="1"/>
          <p:nvPr/>
        </p:nvSpPr>
        <p:spPr>
          <a:xfrm>
            <a:off x="4434840" y="2355494"/>
            <a:ext cx="3200400" cy="614476"/>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AI 생성물 '표시 의무'만 규정. 악의적 제작자는 표시하지 않으므로 반대편 '진본 증명' 수단이 필요</a:t>
            </a:r>
          </a:p>
        </p:txBody>
      </p:sp>
      <p:sp>
        <p:nvSpPr>
          <p:cNvPr id="28" name="Rounded Rectangle 27"/>
          <p:cNvSpPr/>
          <p:nvPr/>
        </p:nvSpPr>
        <p:spPr>
          <a:xfrm>
            <a:off x="8001000" y="1106058"/>
            <a:ext cx="3566160" cy="1894636"/>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9" name="Rounded Rectangle 28"/>
          <p:cNvSpPr/>
          <p:nvPr/>
        </p:nvSpPr>
        <p:spPr>
          <a:xfrm>
            <a:off x="8183879" y="1290401"/>
            <a:ext cx="868680" cy="276514"/>
          </a:xfrm>
          <a:prstGeom prst="roundRect">
            <a:avLst>
              <a:gd name="adj" fmla="val 50000"/>
            </a:avLst>
          </a:prstGeom>
          <a:solidFill>
            <a:srgbClr val="2E307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1" i="0">
                <a:solidFill>
                  <a:srgbClr val="FFFFFF"/>
                </a:solidFill>
                <a:latin typeface="맑은 고딕"/>
              </a:rPr>
              <a:t>공급 공백</a:t>
            </a:r>
          </a:p>
        </p:txBody>
      </p:sp>
      <p:sp>
        <p:nvSpPr>
          <p:cNvPr id="30" name="TextBox 29"/>
          <p:cNvSpPr txBox="1"/>
          <p:nvPr/>
        </p:nvSpPr>
        <p:spPr>
          <a:xfrm>
            <a:off x="8183879" y="1618122"/>
            <a:ext cx="3200400" cy="460857"/>
          </a:xfrm>
          <a:prstGeom prst="rect">
            <a:avLst/>
          </a:prstGeom>
          <a:noFill/>
        </p:spPr>
        <p:txBody>
          <a:bodyPr wrap="square" lIns="45720" rIns="45720" tIns="27432" bIns="27432" anchor="t">
            <a:spAutoFit/>
          </a:bodyPr>
          <a:lstStyle/>
          <a:p>
            <a:pPr algn="l">
              <a:spcBef>
                <a:spcPts val="0"/>
              </a:spcBef>
            </a:pPr>
            <a:r>
              <a:rPr sz="2200" b="1" i="0">
                <a:solidFill>
                  <a:srgbClr val="2E307E"/>
                </a:solidFill>
                <a:latin typeface="맑은 고딕"/>
              </a:rPr>
              <a:t>메타데이터 소실</a:t>
            </a:r>
          </a:p>
        </p:txBody>
      </p:sp>
      <p:sp>
        <p:nvSpPr>
          <p:cNvPr id="31" name="TextBox 30"/>
          <p:cNvSpPr txBox="1"/>
          <p:nvPr/>
        </p:nvSpPr>
        <p:spPr>
          <a:xfrm>
            <a:off x="8183879" y="2078979"/>
            <a:ext cx="3200400" cy="307238"/>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글로벌 표준 C2PA의 구조적 공백</a:t>
            </a:r>
          </a:p>
        </p:txBody>
      </p:sp>
      <p:sp>
        <p:nvSpPr>
          <p:cNvPr id="32" name="TextBox 31"/>
          <p:cNvSpPr txBox="1"/>
          <p:nvPr/>
        </p:nvSpPr>
        <p:spPr>
          <a:xfrm>
            <a:off x="8183879" y="2355494"/>
            <a:ext cx="3200400" cy="614476"/>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SNS 업로드 시 재압축으로 서명이 사라져 검증 체인 단절. 한국 모바일 신분증과 미연동</a:t>
            </a:r>
          </a:p>
        </p:txBody>
      </p:sp>
      <p:sp>
        <p:nvSpPr>
          <p:cNvPr id="33" name="TextBox 32"/>
          <p:cNvSpPr txBox="1"/>
          <p:nvPr/>
        </p:nvSpPr>
        <p:spPr>
          <a:xfrm>
            <a:off x="502920" y="3205520"/>
            <a:ext cx="5486400" cy="327720"/>
          </a:xfrm>
          <a:prstGeom prst="rect">
            <a:avLst/>
          </a:prstGeom>
          <a:noFill/>
        </p:spPr>
        <p:txBody>
          <a:bodyPr wrap="square" lIns="45720" rIns="45720" tIns="27432" bIns="27432" anchor="t">
            <a:spAutoFit/>
          </a:bodyPr>
          <a:lstStyle/>
          <a:p>
            <a:pPr algn="l">
              <a:spcBef>
                <a:spcPts val="0"/>
              </a:spcBef>
            </a:pPr>
            <a:r>
              <a:rPr sz="1250" b="1" i="0">
                <a:solidFill>
                  <a:srgbClr val="2E307E"/>
                </a:solidFill>
                <a:latin typeface="맑은 고딕"/>
              </a:rPr>
              <a:t>누가, 왜 비용을 지불하는가</a:t>
            </a:r>
          </a:p>
        </p:txBody>
      </p:sp>
      <p:sp>
        <p:nvSpPr>
          <p:cNvPr id="34" name="Rounded Rectangle 33"/>
          <p:cNvSpPr/>
          <p:nvPr/>
        </p:nvSpPr>
        <p:spPr>
          <a:xfrm>
            <a:off x="502920" y="3563965"/>
            <a:ext cx="2674620" cy="1382572"/>
          </a:xfrm>
          <a:prstGeom prst="roundRect">
            <a:avLst>
              <a:gd name="adj" fmla="val 6000"/>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35" name="TextBox 34"/>
          <p:cNvSpPr txBox="1"/>
          <p:nvPr/>
        </p:nvSpPr>
        <p:spPr>
          <a:xfrm>
            <a:off x="640080" y="3686860"/>
            <a:ext cx="2423160" cy="307238"/>
          </a:xfrm>
          <a:prstGeom prst="rect">
            <a:avLst/>
          </a:prstGeom>
          <a:noFill/>
        </p:spPr>
        <p:txBody>
          <a:bodyPr wrap="square" lIns="45720" rIns="45720" tIns="27432" bIns="27432" anchor="t">
            <a:spAutoFit/>
          </a:bodyPr>
          <a:lstStyle/>
          <a:p>
            <a:pPr algn="l">
              <a:spcBef>
                <a:spcPts val="0"/>
              </a:spcBef>
            </a:pPr>
            <a:r>
              <a:rPr sz="1150" b="1" i="0">
                <a:solidFill>
                  <a:srgbClr val="1E2761"/>
                </a:solidFill>
                <a:latin typeface="맑은 고딕"/>
              </a:rPr>
              <a:t>공공기관 · 정치인</a:t>
            </a:r>
          </a:p>
        </p:txBody>
      </p:sp>
      <p:sp>
        <p:nvSpPr>
          <p:cNvPr id="36" name="TextBox 35"/>
          <p:cNvSpPr txBox="1"/>
          <p:nvPr/>
        </p:nvSpPr>
        <p:spPr>
          <a:xfrm>
            <a:off x="640080" y="4024823"/>
            <a:ext cx="2423160" cy="921715"/>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가짜 발언 영상 1건이 곧 평판·행정 리스크. 공식 채널 영상의 '진본 확인' 수단이 필요</a:t>
            </a:r>
          </a:p>
        </p:txBody>
      </p:sp>
      <p:sp>
        <p:nvSpPr>
          <p:cNvPr id="37" name="Rounded Rectangle 36"/>
          <p:cNvSpPr/>
          <p:nvPr/>
        </p:nvSpPr>
        <p:spPr>
          <a:xfrm>
            <a:off x="3314700" y="3563965"/>
            <a:ext cx="2674620" cy="1382572"/>
          </a:xfrm>
          <a:prstGeom prst="roundRect">
            <a:avLst>
              <a:gd name="adj" fmla="val 6000"/>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38" name="TextBox 37"/>
          <p:cNvSpPr txBox="1"/>
          <p:nvPr/>
        </p:nvSpPr>
        <p:spPr>
          <a:xfrm>
            <a:off x="3451860" y="3686860"/>
            <a:ext cx="2423160" cy="307238"/>
          </a:xfrm>
          <a:prstGeom prst="rect">
            <a:avLst/>
          </a:prstGeom>
          <a:noFill/>
        </p:spPr>
        <p:txBody>
          <a:bodyPr wrap="square" lIns="45720" rIns="45720" tIns="27432" bIns="27432" anchor="t">
            <a:spAutoFit/>
          </a:bodyPr>
          <a:lstStyle/>
          <a:p>
            <a:pPr algn="l">
              <a:spcBef>
                <a:spcPts val="0"/>
              </a:spcBef>
            </a:pPr>
            <a:r>
              <a:rPr sz="1150" b="1" i="0">
                <a:solidFill>
                  <a:srgbClr val="1E2761"/>
                </a:solidFill>
                <a:latin typeface="맑은 고딕"/>
              </a:rPr>
              <a:t>언론사 · 방송사</a:t>
            </a:r>
          </a:p>
        </p:txBody>
      </p:sp>
      <p:sp>
        <p:nvSpPr>
          <p:cNvPr id="39" name="TextBox 38"/>
          <p:cNvSpPr txBox="1"/>
          <p:nvPr/>
        </p:nvSpPr>
        <p:spPr>
          <a:xfrm>
            <a:off x="3451860" y="4024823"/>
            <a:ext cx="2423160" cy="921715"/>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취재 영상의 출처 증명이 곧 보도 신뢰. 제보·1차 자료의 진위 판정 비용 절감</a:t>
            </a:r>
          </a:p>
        </p:txBody>
      </p:sp>
      <p:sp>
        <p:nvSpPr>
          <p:cNvPr id="40" name="Rounded Rectangle 39"/>
          <p:cNvSpPr/>
          <p:nvPr/>
        </p:nvSpPr>
        <p:spPr>
          <a:xfrm>
            <a:off x="6126480" y="3563965"/>
            <a:ext cx="2674620" cy="1382572"/>
          </a:xfrm>
          <a:prstGeom prst="roundRect">
            <a:avLst>
              <a:gd name="adj" fmla="val 6000"/>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41" name="TextBox 40"/>
          <p:cNvSpPr txBox="1"/>
          <p:nvPr/>
        </p:nvSpPr>
        <p:spPr>
          <a:xfrm>
            <a:off x="6263640" y="3686860"/>
            <a:ext cx="2423160" cy="307238"/>
          </a:xfrm>
          <a:prstGeom prst="rect">
            <a:avLst/>
          </a:prstGeom>
          <a:noFill/>
        </p:spPr>
        <p:txBody>
          <a:bodyPr wrap="square" lIns="45720" rIns="45720" tIns="27432" bIns="27432" anchor="t">
            <a:spAutoFit/>
          </a:bodyPr>
          <a:lstStyle/>
          <a:p>
            <a:pPr algn="l">
              <a:spcBef>
                <a:spcPts val="0"/>
              </a:spcBef>
            </a:pPr>
            <a:r>
              <a:rPr sz="1150" b="1" i="0">
                <a:solidFill>
                  <a:srgbClr val="1E2761"/>
                </a:solidFill>
                <a:latin typeface="맑은 고딕"/>
              </a:rPr>
              <a:t>기업 IR · 공식 발표</a:t>
            </a:r>
          </a:p>
        </p:txBody>
      </p:sp>
      <p:sp>
        <p:nvSpPr>
          <p:cNvPr id="42" name="TextBox 41"/>
          <p:cNvSpPr txBox="1"/>
          <p:nvPr/>
        </p:nvSpPr>
        <p:spPr>
          <a:xfrm>
            <a:off x="6263640" y="4024823"/>
            <a:ext cx="2423160" cy="921715"/>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CEO 발언 딥페이크로 주가·계약이 흔들림. 공식 영상에 '누가 언제' 등록했는지 증명</a:t>
            </a:r>
          </a:p>
        </p:txBody>
      </p:sp>
      <p:sp>
        <p:nvSpPr>
          <p:cNvPr id="43" name="Rounded Rectangle 42"/>
          <p:cNvSpPr/>
          <p:nvPr/>
        </p:nvSpPr>
        <p:spPr>
          <a:xfrm>
            <a:off x="8938260" y="3563965"/>
            <a:ext cx="2674620" cy="1382572"/>
          </a:xfrm>
          <a:prstGeom prst="roundRect">
            <a:avLst>
              <a:gd name="adj" fmla="val 6000"/>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44" name="TextBox 43"/>
          <p:cNvSpPr txBox="1"/>
          <p:nvPr/>
        </p:nvSpPr>
        <p:spPr>
          <a:xfrm>
            <a:off x="9075420" y="3686860"/>
            <a:ext cx="2423160" cy="307238"/>
          </a:xfrm>
          <a:prstGeom prst="rect">
            <a:avLst/>
          </a:prstGeom>
          <a:noFill/>
        </p:spPr>
        <p:txBody>
          <a:bodyPr wrap="square" lIns="45720" rIns="45720" tIns="27432" bIns="27432" anchor="t">
            <a:spAutoFit/>
          </a:bodyPr>
          <a:lstStyle/>
          <a:p>
            <a:pPr algn="l">
              <a:spcBef>
                <a:spcPts val="0"/>
              </a:spcBef>
            </a:pPr>
            <a:r>
              <a:rPr sz="1150" b="1" i="0">
                <a:solidFill>
                  <a:srgbClr val="1E2761"/>
                </a:solidFill>
                <a:latin typeface="맑은 고딕"/>
              </a:rPr>
              <a:t>시민 · 플랫폼</a:t>
            </a:r>
          </a:p>
        </p:txBody>
      </p:sp>
      <p:sp>
        <p:nvSpPr>
          <p:cNvPr id="45" name="TextBox 44"/>
          <p:cNvSpPr txBox="1"/>
          <p:nvPr/>
        </p:nvSpPr>
        <p:spPr>
          <a:xfrm>
            <a:off x="9075420" y="4024823"/>
            <a:ext cx="2423160" cy="921715"/>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검증은 무료로 개방 → 검증 수요가 등록 수요를 끌어옴 (양면 시장)</a:t>
            </a:r>
          </a:p>
        </p:txBody>
      </p:sp>
      <p:sp>
        <p:nvSpPr>
          <p:cNvPr id="46" name="Rounded Rectangle 45"/>
          <p:cNvSpPr/>
          <p:nvPr/>
        </p:nvSpPr>
        <p:spPr>
          <a:xfrm>
            <a:off x="502920" y="5202570"/>
            <a:ext cx="11155680" cy="1075334"/>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73152" wrap="square"/>
          <a:lstStyle/>
          <a:p>
            <a:pPr algn="l"/>
            <a:r>
              <a:rPr sz="1200" b="1" i="0">
                <a:solidFill>
                  <a:srgbClr val="F9E76C"/>
                </a:solidFill>
                <a:latin typeface="맑은 고딕"/>
              </a:rPr>
              <a:t>진본의 답   </a:t>
            </a:r>
            <a:r>
              <a:rPr sz="1200" b="0" i="0">
                <a:solidFill>
                  <a:srgbClr val="FFFFFF"/>
                </a:solidFill>
                <a:latin typeface="맑은 고딕"/>
              </a:rPr>
              <a:t>모바일 신분증·DID·블록체인으로 '이 영상은 본인이 등록한 진본'임을 증명하고, 누구나 SNS에서 즉시 검증하게 합니다. 표시 의무(AI 기본법)가 '가짜'를 다룬다면, 진본은 그 반대편 '진짜 증명' 인프라입니다.</a:t>
            </a:r>
          </a:p>
        </p:txBody>
      </p:sp>
    </p:spTree>
    <p:extLst>
      <p:ext uri="{BB962C8B-B14F-4D97-AF65-F5344CB8AC3E}">
        <p14:creationId xmlns:p14="http://schemas.microsoft.com/office/powerpoint/2010/main" val="33355298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57F28-B3E8-F644-4200-082BA0AB6CD8}"/>
            </a:ext>
          </a:extLst>
        </p:cNvPr>
        <p:cNvGrpSpPr/>
        <p:nvPr/>
      </p:nvGrpSpPr>
      <p:grpSpPr>
        <a:xfrm>
          <a:off x="0" y="0"/>
          <a:ext cx="0" cy="0"/>
          <a:chOff x="0" y="0"/>
          <a:chExt cx="0" cy="0"/>
        </a:xfrm>
      </p:grpSpPr>
      <p:sp>
        <p:nvSpPr>
          <p:cNvPr id="16" name="내용 개체 틀 2">
            <a:extLst>
              <a:ext uri="{FF2B5EF4-FFF2-40B4-BE49-F238E27FC236}">
                <a16:creationId xmlns:a16="http://schemas.microsoft.com/office/drawing/2014/main" id="{C1259860-F0D7-2696-89C7-C6D4C956C128}"/>
              </a:ext>
            </a:extLst>
          </p:cNvPr>
          <p:cNvSpPr>
            <a:spLocks noGrp="1"/>
          </p:cNvSpPr>
          <p:nvPr>
            <p:ph sz="quarter" idx="15"/>
          </p:nvPr>
        </p:nvSpPr>
        <p:spPr>
          <a:xfrm>
            <a:off x="236707" y="9236"/>
            <a:ext cx="11553218" cy="486137"/>
          </a:xfrm>
        </p:spPr>
        <p:txBody>
          <a:bodyPr anchor="ctr">
            <a:normAutofit/>
          </a:bodyPr>
          <a:lstStyle/>
          <a:p>
            <a:pPr marL="514350" indent="-514350">
              <a:buFont typeface="+mj-lt"/>
              <a:buAutoNum type="romanUcPeriod" startAt="3"/>
            </a:pPr>
            <a:r>
              <a:rPr lang="ko-KR" altLang="en-US" sz="1801" dirty="0" err="1" smtClean="0"/>
              <a:t>제안내용의</a:t>
            </a:r>
            <a:r>
              <a:rPr lang="ko-KR" altLang="en-US" sz="1801" dirty="0" smtClean="0"/>
              <a:t> 상세 설명</a:t>
            </a:r>
            <a:endParaRPr lang="x-none" altLang="en-US" sz="1801" dirty="0"/>
          </a:p>
        </p:txBody>
      </p:sp>
      <p:sp>
        <p:nvSpPr>
          <p:cNvPr id="17" name="TextBox 16"/>
          <p:cNvSpPr txBox="1"/>
          <p:nvPr/>
        </p:nvSpPr>
        <p:spPr>
          <a:xfrm>
            <a:off x="502920" y="566928"/>
            <a:ext cx="11155680" cy="411480"/>
          </a:xfrm>
          <a:prstGeom prst="rect">
            <a:avLst/>
          </a:prstGeom>
          <a:noFill/>
        </p:spPr>
        <p:txBody>
          <a:bodyPr wrap="square" lIns="45720" rIns="45720" tIns="27432" bIns="27432" anchor="t">
            <a:spAutoFit/>
          </a:bodyPr>
          <a:lstStyle/>
          <a:p>
            <a:pPr algn="l">
              <a:spcBef>
                <a:spcPts val="0"/>
              </a:spcBef>
            </a:pPr>
            <a:r>
              <a:rPr sz="1700" b="1" i="0">
                <a:solidFill>
                  <a:srgbClr val="1E2761"/>
                </a:solidFill>
                <a:latin typeface="맑은 고딕"/>
              </a:rPr>
              <a:t>등록하고, 평소처럼 유통하고, 누구나 검증합니다</a:t>
            </a:r>
          </a:p>
        </p:txBody>
      </p:sp>
      <p:sp>
        <p:nvSpPr>
          <p:cNvPr id="18" name="Rounded Rectangle 17"/>
          <p:cNvSpPr/>
          <p:nvPr/>
        </p:nvSpPr>
        <p:spPr>
          <a:xfrm>
            <a:off x="502920" y="1106058"/>
            <a:ext cx="3566160" cy="2099461"/>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9" name="Oval 18"/>
          <p:cNvSpPr/>
          <p:nvPr/>
        </p:nvSpPr>
        <p:spPr>
          <a:xfrm>
            <a:off x="685800" y="1280160"/>
            <a:ext cx="347472" cy="38916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맑은 고딕"/>
              </a:rPr>
              <a:t>1</a:t>
            </a:r>
          </a:p>
        </p:txBody>
      </p:sp>
      <p:sp>
        <p:nvSpPr>
          <p:cNvPr id="20" name="TextBox 19"/>
          <p:cNvSpPr txBox="1"/>
          <p:nvPr/>
        </p:nvSpPr>
        <p:spPr>
          <a:xfrm>
            <a:off x="1124712" y="1249435"/>
            <a:ext cx="1097280" cy="409651"/>
          </a:xfrm>
          <a:prstGeom prst="rect">
            <a:avLst/>
          </a:prstGeom>
          <a:noFill/>
        </p:spPr>
        <p:txBody>
          <a:bodyPr wrap="square" lIns="45720" rIns="45720" tIns="27432" bIns="27432" anchor="t">
            <a:spAutoFit/>
          </a:bodyPr>
          <a:lstStyle/>
          <a:p>
            <a:pPr algn="l">
              <a:spcBef>
                <a:spcPts val="0"/>
              </a:spcBef>
            </a:pPr>
            <a:r>
              <a:rPr sz="1500" b="1" i="0">
                <a:solidFill>
                  <a:srgbClr val="1E2761"/>
                </a:solidFill>
                <a:latin typeface="맑은 고딕"/>
              </a:rPr>
              <a:t>등록</a:t>
            </a:r>
          </a:p>
        </p:txBody>
      </p:sp>
      <p:sp>
        <p:nvSpPr>
          <p:cNvPr id="21" name="TextBox 20"/>
          <p:cNvSpPr txBox="1"/>
          <p:nvPr/>
        </p:nvSpPr>
        <p:spPr>
          <a:xfrm>
            <a:off x="1874519" y="1310883"/>
            <a:ext cx="2103120" cy="358444"/>
          </a:xfrm>
          <a:prstGeom prst="rect">
            <a:avLst/>
          </a:prstGeom>
          <a:noFill/>
        </p:spPr>
        <p:txBody>
          <a:bodyPr wrap="square" lIns="45720" rIns="45720" tIns="27432" bIns="27432" anchor="t">
            <a:spAutoFit/>
          </a:bodyPr>
          <a:lstStyle/>
          <a:p>
            <a:pPr algn="l">
              <a:spcBef>
                <a:spcPts val="0"/>
              </a:spcBef>
            </a:pPr>
            <a:r>
              <a:rPr sz="950" b="0" i="0">
                <a:solidFill>
                  <a:srgbClr val="7A7A7A"/>
                </a:solidFill>
                <a:latin typeface="맑은 고딕"/>
              </a:rPr>
              <a:t>공인 · 기관 (iOS 앱)</a:t>
            </a:r>
          </a:p>
        </p:txBody>
      </p:sp>
      <p:sp>
        <p:nvSpPr>
          <p:cNvPr id="22" name="TextBox 21"/>
          <p:cNvSpPr txBox="1"/>
          <p:nvPr/>
        </p:nvSpPr>
        <p:spPr>
          <a:xfrm>
            <a:off x="685800" y="1741016"/>
            <a:ext cx="3246120" cy="1433779"/>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 모바일 신분증으로 본인확인 → Wallet DID 연결</a:t>
            </a:r>
          </a:p>
          <a:p>
            <a:pPr algn="l">
              <a:spcBef>
                <a:spcPts val="200"/>
              </a:spcBef>
            </a:pPr>
            <a:r>
              <a:rPr sz="950" b="0" i="0">
                <a:solidFill>
                  <a:srgbClr val="404040"/>
                </a:solidFill>
                <a:latin typeface="맑은 고딕"/>
              </a:rPr>
              <a:t>· 영상 선택 → 파일해시 + 지각해시 계산</a:t>
            </a:r>
          </a:p>
          <a:p>
            <a:pPr algn="l">
              <a:spcBef>
                <a:spcPts val="200"/>
              </a:spcBef>
            </a:pPr>
            <a:r>
              <a:rPr sz="950" b="0" i="0">
                <a:solidFill>
                  <a:srgbClr val="404040"/>
                </a:solidFill>
                <a:latin typeface="맑은 고딕"/>
              </a:rPr>
              <a:t>· merkleRoot를 OmniOne Chain에 기록</a:t>
            </a:r>
          </a:p>
          <a:p>
            <a:pPr algn="l">
              <a:spcBef>
                <a:spcPts val="200"/>
              </a:spcBef>
            </a:pPr>
            <a:r>
              <a:rPr sz="950" b="0" i="0">
                <a:solidFill>
                  <a:srgbClr val="404040"/>
                </a:solidFill>
                <a:latin typeface="맑은 고딕"/>
              </a:rPr>
              <a:t>· 등록 사실 보증서(VC)를 Wallet에 발급</a:t>
            </a:r>
          </a:p>
        </p:txBody>
      </p:sp>
      <p:sp>
        <p:nvSpPr>
          <p:cNvPr id="23" name="Right Arrow 22"/>
          <p:cNvSpPr/>
          <p:nvPr/>
        </p:nvSpPr>
        <p:spPr>
          <a:xfrm>
            <a:off x="4096512" y="1976565"/>
            <a:ext cx="128016" cy="307238"/>
          </a:xfrm>
          <a:prstGeom prst="rightArrow">
            <a:avLst/>
          </a:prstGeom>
          <a:solidFill>
            <a:srgbClr val="D5D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251959" y="1106058"/>
            <a:ext cx="3566160" cy="2099461"/>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5" name="Oval 24"/>
          <p:cNvSpPr/>
          <p:nvPr/>
        </p:nvSpPr>
        <p:spPr>
          <a:xfrm>
            <a:off x="4434840" y="1280160"/>
            <a:ext cx="347472" cy="389168"/>
          </a:xfrm>
          <a:prstGeom prst="ellipse">
            <a:avLst/>
          </a:prstGeom>
          <a:solidFill>
            <a:srgbClr val="2E307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맑은 고딕"/>
              </a:rPr>
              <a:t>2</a:t>
            </a:r>
          </a:p>
        </p:txBody>
      </p:sp>
      <p:sp>
        <p:nvSpPr>
          <p:cNvPr id="26" name="TextBox 25"/>
          <p:cNvSpPr txBox="1"/>
          <p:nvPr/>
        </p:nvSpPr>
        <p:spPr>
          <a:xfrm>
            <a:off x="4873751" y="1249435"/>
            <a:ext cx="1097280" cy="409651"/>
          </a:xfrm>
          <a:prstGeom prst="rect">
            <a:avLst/>
          </a:prstGeom>
          <a:noFill/>
        </p:spPr>
        <p:txBody>
          <a:bodyPr wrap="square" lIns="45720" rIns="45720" tIns="27432" bIns="27432" anchor="t">
            <a:spAutoFit/>
          </a:bodyPr>
          <a:lstStyle/>
          <a:p>
            <a:pPr algn="l">
              <a:spcBef>
                <a:spcPts val="0"/>
              </a:spcBef>
            </a:pPr>
            <a:r>
              <a:rPr sz="1500" b="1" i="0">
                <a:solidFill>
                  <a:srgbClr val="2E307E"/>
                </a:solidFill>
                <a:latin typeface="맑은 고딕"/>
              </a:rPr>
              <a:t>유통</a:t>
            </a:r>
          </a:p>
        </p:txBody>
      </p:sp>
      <p:sp>
        <p:nvSpPr>
          <p:cNvPr id="27" name="TextBox 26"/>
          <p:cNvSpPr txBox="1"/>
          <p:nvPr/>
        </p:nvSpPr>
        <p:spPr>
          <a:xfrm>
            <a:off x="5623559" y="1310883"/>
            <a:ext cx="2103120" cy="358444"/>
          </a:xfrm>
          <a:prstGeom prst="rect">
            <a:avLst/>
          </a:prstGeom>
          <a:noFill/>
        </p:spPr>
        <p:txBody>
          <a:bodyPr wrap="square" lIns="45720" rIns="45720" tIns="27432" bIns="27432" anchor="t">
            <a:spAutoFit/>
          </a:bodyPr>
          <a:lstStyle/>
          <a:p>
            <a:pPr algn="l">
              <a:spcBef>
                <a:spcPts val="0"/>
              </a:spcBef>
            </a:pPr>
            <a:r>
              <a:rPr sz="950" b="0" i="0">
                <a:solidFill>
                  <a:srgbClr val="7A7A7A"/>
                </a:solidFill>
                <a:latin typeface="맑은 고딕"/>
              </a:rPr>
              <a:t>SNS · 언론 (변경 없음)</a:t>
            </a:r>
          </a:p>
        </p:txBody>
      </p:sp>
      <p:sp>
        <p:nvSpPr>
          <p:cNvPr id="28" name="TextBox 27"/>
          <p:cNvSpPr txBox="1"/>
          <p:nvPr/>
        </p:nvSpPr>
        <p:spPr>
          <a:xfrm>
            <a:off x="4434840" y="1741016"/>
            <a:ext cx="3246120" cy="1433779"/>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 평소처럼 YouTube · Instagram 게시</a:t>
            </a:r>
          </a:p>
          <a:p>
            <a:pPr algn="l">
              <a:spcBef>
                <a:spcPts val="200"/>
              </a:spcBef>
            </a:pPr>
            <a:r>
              <a:rPr sz="950" b="0" i="0">
                <a:solidFill>
                  <a:srgbClr val="404040"/>
                </a:solidFill>
                <a:latin typeface="맑은 고딕"/>
              </a:rPr>
              <a:t>· 재압축 · 메타데이터 제거 · 재업로드 무관</a:t>
            </a:r>
          </a:p>
          <a:p>
            <a:pPr algn="l">
              <a:spcBef>
                <a:spcPts val="200"/>
              </a:spcBef>
            </a:pPr>
            <a:r>
              <a:rPr sz="950" b="0" i="0">
                <a:solidFill>
                  <a:srgbClr val="404040"/>
                </a:solidFill>
                <a:latin typeface="맑은 고딕"/>
              </a:rPr>
              <a:t>· 원본 영상은 서버에 저장하지 않음</a:t>
            </a:r>
          </a:p>
          <a:p>
            <a:pPr algn="l">
              <a:spcBef>
                <a:spcPts val="200"/>
              </a:spcBef>
            </a:pPr>
            <a:r>
              <a:rPr sz="950" b="0" i="0">
                <a:solidFill>
                  <a:srgbClr val="404040"/>
                </a:solidFill>
                <a:latin typeface="맑은 고딕"/>
              </a:rPr>
              <a:t>· 해시 계산 후 임시 파일 즉시 삭제</a:t>
            </a:r>
          </a:p>
        </p:txBody>
      </p:sp>
      <p:sp>
        <p:nvSpPr>
          <p:cNvPr id="29" name="Right Arrow 28"/>
          <p:cNvSpPr/>
          <p:nvPr/>
        </p:nvSpPr>
        <p:spPr>
          <a:xfrm>
            <a:off x="7845552" y="1976565"/>
            <a:ext cx="128016" cy="307238"/>
          </a:xfrm>
          <a:prstGeom prst="rightArrow">
            <a:avLst/>
          </a:prstGeom>
          <a:solidFill>
            <a:srgbClr val="D5D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01000" y="1106058"/>
            <a:ext cx="3566160" cy="2099461"/>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31" name="Oval 30"/>
          <p:cNvSpPr/>
          <p:nvPr/>
        </p:nvSpPr>
        <p:spPr>
          <a:xfrm>
            <a:off x="8183879" y="1280160"/>
            <a:ext cx="347472" cy="389168"/>
          </a:xfrm>
          <a:prstGeom prst="ellipse">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맑은 고딕"/>
              </a:rPr>
              <a:t>3</a:t>
            </a:r>
          </a:p>
        </p:txBody>
      </p:sp>
      <p:sp>
        <p:nvSpPr>
          <p:cNvPr id="32" name="TextBox 31"/>
          <p:cNvSpPr txBox="1"/>
          <p:nvPr/>
        </p:nvSpPr>
        <p:spPr>
          <a:xfrm>
            <a:off x="8622792" y="1249435"/>
            <a:ext cx="1097280" cy="409651"/>
          </a:xfrm>
          <a:prstGeom prst="rect">
            <a:avLst/>
          </a:prstGeom>
          <a:noFill/>
        </p:spPr>
        <p:txBody>
          <a:bodyPr wrap="square" lIns="45720" rIns="45720" tIns="27432" bIns="27432" anchor="t">
            <a:spAutoFit/>
          </a:bodyPr>
          <a:lstStyle/>
          <a:p>
            <a:pPr algn="l">
              <a:spcBef>
                <a:spcPts val="0"/>
              </a:spcBef>
            </a:pPr>
            <a:r>
              <a:rPr sz="1500" b="1" i="0">
                <a:solidFill>
                  <a:srgbClr val="1E8449"/>
                </a:solidFill>
                <a:latin typeface="맑은 고딕"/>
              </a:rPr>
              <a:t>검증</a:t>
            </a:r>
          </a:p>
        </p:txBody>
      </p:sp>
      <p:sp>
        <p:nvSpPr>
          <p:cNvPr id="33" name="TextBox 32"/>
          <p:cNvSpPr txBox="1"/>
          <p:nvPr/>
        </p:nvSpPr>
        <p:spPr>
          <a:xfrm>
            <a:off x="9372600" y="1310883"/>
            <a:ext cx="2103120" cy="358444"/>
          </a:xfrm>
          <a:prstGeom prst="rect">
            <a:avLst/>
          </a:prstGeom>
          <a:noFill/>
        </p:spPr>
        <p:txBody>
          <a:bodyPr wrap="square" lIns="45720" rIns="45720" tIns="27432" bIns="27432" anchor="t">
            <a:spAutoFit/>
          </a:bodyPr>
          <a:lstStyle/>
          <a:p>
            <a:pPr algn="l">
              <a:spcBef>
                <a:spcPts val="0"/>
              </a:spcBef>
            </a:pPr>
            <a:r>
              <a:rPr sz="950" b="0" i="0">
                <a:solidFill>
                  <a:srgbClr val="7A7A7A"/>
                </a:solidFill>
                <a:latin typeface="맑은 고딕"/>
              </a:rPr>
              <a:t>시민 · 언론 (웹 · Chrome 확장)</a:t>
            </a:r>
          </a:p>
        </p:txBody>
      </p:sp>
      <p:sp>
        <p:nvSpPr>
          <p:cNvPr id="34" name="TextBox 33"/>
          <p:cNvSpPr txBox="1"/>
          <p:nvPr/>
        </p:nvSpPr>
        <p:spPr>
          <a:xfrm>
            <a:off x="8183879" y="1741016"/>
            <a:ext cx="3246120" cy="1433779"/>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 로그인 없이 파일 업로드 또는 URL 입력</a:t>
            </a:r>
          </a:p>
          <a:p>
            <a:pPr algn="l">
              <a:spcBef>
                <a:spcPts val="200"/>
              </a:spcBef>
            </a:pPr>
            <a:r>
              <a:rPr sz="950" b="0" i="0">
                <a:solidFill>
                  <a:srgbClr val="404040"/>
                </a:solidFill>
                <a:latin typeface="맑은 고딕"/>
              </a:rPr>
              <a:t>· 캐시 → 정확 일치 → 유사도 → 온체인 → VC 순</a:t>
            </a:r>
          </a:p>
          <a:p>
            <a:pPr algn="l">
              <a:spcBef>
                <a:spcPts val="200"/>
              </a:spcBef>
            </a:pPr>
            <a:r>
              <a:rPr sz="950" b="0" i="0">
                <a:solidFill>
                  <a:srgbClr val="404040"/>
                </a:solidFill>
                <a:latin typeface="맑은 고딕"/>
              </a:rPr>
              <a:t>· 결과: '누가 · 언제 등록한 진본' / 미등록</a:t>
            </a:r>
          </a:p>
          <a:p>
            <a:pPr algn="l">
              <a:spcBef>
                <a:spcPts val="200"/>
              </a:spcBef>
            </a:pPr>
            <a:r>
              <a:rPr sz="950" b="0" i="0">
                <a:solidFill>
                  <a:srgbClr val="404040"/>
                </a:solidFill>
                <a:latin typeface="맑은 고딕"/>
              </a:rPr>
              <a:t>· '미등록 ≠ 가짜' 안내를 응답에 포함</a:t>
            </a:r>
          </a:p>
        </p:txBody>
      </p:sp>
      <p:sp>
        <p:nvSpPr>
          <p:cNvPr id="35" name="TextBox 34"/>
          <p:cNvSpPr txBox="1"/>
          <p:nvPr/>
        </p:nvSpPr>
        <p:spPr>
          <a:xfrm>
            <a:off x="502920" y="3410346"/>
            <a:ext cx="7315200" cy="327720"/>
          </a:xfrm>
          <a:prstGeom prst="rect">
            <a:avLst/>
          </a:prstGeom>
          <a:noFill/>
        </p:spPr>
        <p:txBody>
          <a:bodyPr wrap="square" lIns="45720" rIns="45720" tIns="27432" bIns="27432" anchor="t">
            <a:spAutoFit/>
          </a:bodyPr>
          <a:lstStyle/>
          <a:p>
            <a:pPr algn="l">
              <a:spcBef>
                <a:spcPts val="0"/>
              </a:spcBef>
            </a:pPr>
            <a:r>
              <a:rPr sz="1250" b="1" i="0">
                <a:solidFill>
                  <a:srgbClr val="2E307E"/>
                </a:solidFill>
                <a:latin typeface="맑은 고딕"/>
              </a:rPr>
              <a:t>아키텍처 — 과제 3종 실연동 + 자체 개발 저장소</a:t>
            </a:r>
          </a:p>
        </p:txBody>
      </p:sp>
      <p:sp>
        <p:nvSpPr>
          <p:cNvPr id="36" name="Rounded Rectangle 35"/>
          <p:cNvSpPr/>
          <p:nvPr/>
        </p:nvSpPr>
        <p:spPr>
          <a:xfrm>
            <a:off x="502920" y="3768791"/>
            <a:ext cx="1463040" cy="1177747"/>
          </a:xfrm>
          <a:prstGeom prst="roundRect">
            <a:avLst>
              <a:gd name="adj" fmla="val 6000"/>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37" name="TextBox 36"/>
          <p:cNvSpPr txBox="1"/>
          <p:nvPr/>
        </p:nvSpPr>
        <p:spPr>
          <a:xfrm>
            <a:off x="594360" y="3850721"/>
            <a:ext cx="1325880" cy="307238"/>
          </a:xfrm>
          <a:prstGeom prst="rect">
            <a:avLst/>
          </a:prstGeom>
          <a:noFill/>
        </p:spPr>
        <p:txBody>
          <a:bodyPr wrap="square" lIns="45720" rIns="45720" tIns="27432" bIns="27432" anchor="t">
            <a:spAutoFit/>
          </a:bodyPr>
          <a:lstStyle/>
          <a:p>
            <a:pPr algn="l">
              <a:spcBef>
                <a:spcPts val="0"/>
              </a:spcBef>
            </a:pPr>
            <a:r>
              <a:rPr sz="1050" b="1" i="0">
                <a:solidFill>
                  <a:srgbClr val="1E2761"/>
                </a:solidFill>
                <a:latin typeface="맑은 고딕"/>
              </a:rPr>
              <a:t>iOS 앱</a:t>
            </a:r>
          </a:p>
        </p:txBody>
      </p:sp>
      <p:sp>
        <p:nvSpPr>
          <p:cNvPr id="38" name="TextBox 37"/>
          <p:cNvSpPr txBox="1"/>
          <p:nvPr/>
        </p:nvSpPr>
        <p:spPr>
          <a:xfrm>
            <a:off x="594360" y="4137477"/>
            <a:ext cx="1325880" cy="512064"/>
          </a:xfrm>
          <a:prstGeom prst="rect">
            <a:avLst/>
          </a:prstGeom>
          <a:noFill/>
        </p:spPr>
        <p:txBody>
          <a:bodyPr wrap="square" lIns="45720" rIns="45720" tIns="27432" bIns="27432" anchor="t">
            <a:spAutoFit/>
          </a:bodyPr>
          <a:lstStyle/>
          <a:p>
            <a:pPr algn="l">
              <a:spcBef>
                <a:spcPts val="0"/>
              </a:spcBef>
            </a:pPr>
            <a:r>
              <a:rPr sz="850" b="0" i="0">
                <a:solidFill>
                  <a:srgbClr val="404040"/>
                </a:solidFill>
                <a:latin typeface="맑은 고딕"/>
              </a:rPr>
              <a:t>등록자 Wallet · 영상 등록 · 보증서 보관</a:t>
            </a:r>
          </a:p>
        </p:txBody>
      </p:sp>
      <p:sp>
        <p:nvSpPr>
          <p:cNvPr id="39" name="TextBox 38"/>
          <p:cNvSpPr txBox="1"/>
          <p:nvPr/>
        </p:nvSpPr>
        <p:spPr>
          <a:xfrm>
            <a:off x="594360" y="4629058"/>
            <a:ext cx="1325880" cy="307238"/>
          </a:xfrm>
          <a:prstGeom prst="rect">
            <a:avLst/>
          </a:prstGeom>
          <a:noFill/>
        </p:spPr>
        <p:txBody>
          <a:bodyPr wrap="square" lIns="45720" rIns="45720" tIns="27432" bIns="27432" anchor="t">
            <a:spAutoFit/>
          </a:bodyPr>
          <a:lstStyle/>
          <a:p>
            <a:pPr algn="l">
              <a:spcBef>
                <a:spcPts val="0"/>
              </a:spcBef>
            </a:pPr>
            <a:r>
              <a:rPr sz="750" b="0" i="0">
                <a:solidFill>
                  <a:srgbClr val="7A7A7A"/>
                </a:solidFill>
                <a:latin typeface="맑은 고딕"/>
              </a:rPr>
              <a:t>Swift · DIDWalletSDK</a:t>
            </a:r>
          </a:p>
        </p:txBody>
      </p:sp>
      <p:sp>
        <p:nvSpPr>
          <p:cNvPr id="40" name="Rounded Rectangle 39"/>
          <p:cNvSpPr/>
          <p:nvPr/>
        </p:nvSpPr>
        <p:spPr>
          <a:xfrm>
            <a:off x="2039112" y="3768791"/>
            <a:ext cx="1463040" cy="1177747"/>
          </a:xfrm>
          <a:prstGeom prst="roundRect">
            <a:avLst>
              <a:gd name="adj" fmla="val 6000"/>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41" name="TextBox 40"/>
          <p:cNvSpPr txBox="1"/>
          <p:nvPr/>
        </p:nvSpPr>
        <p:spPr>
          <a:xfrm>
            <a:off x="2130552" y="3850721"/>
            <a:ext cx="1325880" cy="307238"/>
          </a:xfrm>
          <a:prstGeom prst="rect">
            <a:avLst/>
          </a:prstGeom>
          <a:noFill/>
        </p:spPr>
        <p:txBody>
          <a:bodyPr wrap="square" lIns="45720" rIns="45720" tIns="27432" bIns="27432" anchor="t">
            <a:spAutoFit/>
          </a:bodyPr>
          <a:lstStyle/>
          <a:p>
            <a:pPr algn="l">
              <a:spcBef>
                <a:spcPts val="0"/>
              </a:spcBef>
            </a:pPr>
            <a:r>
              <a:rPr sz="1050" b="1" i="0">
                <a:solidFill>
                  <a:srgbClr val="1E2761"/>
                </a:solidFill>
                <a:latin typeface="맑은 고딕"/>
              </a:rPr>
              <a:t>검증 웹</a:t>
            </a:r>
          </a:p>
        </p:txBody>
      </p:sp>
      <p:sp>
        <p:nvSpPr>
          <p:cNvPr id="42" name="TextBox 41"/>
          <p:cNvSpPr txBox="1"/>
          <p:nvPr/>
        </p:nvSpPr>
        <p:spPr>
          <a:xfrm>
            <a:off x="2130552" y="4137477"/>
            <a:ext cx="1325880" cy="512064"/>
          </a:xfrm>
          <a:prstGeom prst="rect">
            <a:avLst/>
          </a:prstGeom>
          <a:noFill/>
        </p:spPr>
        <p:txBody>
          <a:bodyPr wrap="square" lIns="45720" rIns="45720" tIns="27432" bIns="27432" anchor="t">
            <a:spAutoFit/>
          </a:bodyPr>
          <a:lstStyle/>
          <a:p>
            <a:pPr algn="l">
              <a:spcBef>
                <a:spcPts val="0"/>
              </a:spcBef>
            </a:pPr>
            <a:r>
              <a:rPr sz="850" b="0" i="0">
                <a:solidFill>
                  <a:srgbClr val="404040"/>
                </a:solidFill>
                <a:latin typeface="맑은 고딕"/>
              </a:rPr>
              <a:t>파일 업로드 검증, 로그인 불필요</a:t>
            </a:r>
          </a:p>
        </p:txBody>
      </p:sp>
      <p:sp>
        <p:nvSpPr>
          <p:cNvPr id="43" name="TextBox 42"/>
          <p:cNvSpPr txBox="1"/>
          <p:nvPr/>
        </p:nvSpPr>
        <p:spPr>
          <a:xfrm>
            <a:off x="2130552" y="4629058"/>
            <a:ext cx="1325880" cy="307238"/>
          </a:xfrm>
          <a:prstGeom prst="rect">
            <a:avLst/>
          </a:prstGeom>
          <a:noFill/>
        </p:spPr>
        <p:txBody>
          <a:bodyPr wrap="square" lIns="45720" rIns="45720" tIns="27432" bIns="27432" anchor="t">
            <a:spAutoFit/>
          </a:bodyPr>
          <a:lstStyle/>
          <a:p>
            <a:pPr algn="l">
              <a:spcBef>
                <a:spcPts val="0"/>
              </a:spcBef>
            </a:pPr>
            <a:r>
              <a:rPr sz="750" b="0" i="0">
                <a:solidFill>
                  <a:srgbClr val="7A7A7A"/>
                </a:solidFill>
                <a:latin typeface="맑은 고딕"/>
              </a:rPr>
              <a:t>Next.js · Cloudflare</a:t>
            </a:r>
          </a:p>
        </p:txBody>
      </p:sp>
      <p:sp>
        <p:nvSpPr>
          <p:cNvPr id="44" name="Rounded Rectangle 43"/>
          <p:cNvSpPr/>
          <p:nvPr/>
        </p:nvSpPr>
        <p:spPr>
          <a:xfrm>
            <a:off x="3575304" y="3768791"/>
            <a:ext cx="1463040" cy="1177747"/>
          </a:xfrm>
          <a:prstGeom prst="roundRect">
            <a:avLst>
              <a:gd name="adj" fmla="val 6000"/>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45" name="TextBox 44"/>
          <p:cNvSpPr txBox="1"/>
          <p:nvPr/>
        </p:nvSpPr>
        <p:spPr>
          <a:xfrm>
            <a:off x="3666744" y="3850721"/>
            <a:ext cx="1325880" cy="307238"/>
          </a:xfrm>
          <a:prstGeom prst="rect">
            <a:avLst/>
          </a:prstGeom>
          <a:noFill/>
        </p:spPr>
        <p:txBody>
          <a:bodyPr wrap="square" lIns="45720" rIns="45720" tIns="27432" bIns="27432" anchor="t">
            <a:spAutoFit/>
          </a:bodyPr>
          <a:lstStyle/>
          <a:p>
            <a:pPr algn="l">
              <a:spcBef>
                <a:spcPts val="0"/>
              </a:spcBef>
            </a:pPr>
            <a:r>
              <a:rPr sz="1050" b="1" i="0">
                <a:solidFill>
                  <a:srgbClr val="1E2761"/>
                </a:solidFill>
                <a:latin typeface="맑은 고딕"/>
              </a:rPr>
              <a:t>Chrome 확장</a:t>
            </a:r>
          </a:p>
        </p:txBody>
      </p:sp>
      <p:sp>
        <p:nvSpPr>
          <p:cNvPr id="46" name="TextBox 45"/>
          <p:cNvSpPr txBox="1"/>
          <p:nvPr/>
        </p:nvSpPr>
        <p:spPr>
          <a:xfrm>
            <a:off x="3666744" y="4137477"/>
            <a:ext cx="1325880" cy="512064"/>
          </a:xfrm>
          <a:prstGeom prst="rect">
            <a:avLst/>
          </a:prstGeom>
          <a:noFill/>
        </p:spPr>
        <p:txBody>
          <a:bodyPr wrap="square" lIns="45720" rIns="45720" tIns="27432" bIns="27432" anchor="t">
            <a:spAutoFit/>
          </a:bodyPr>
          <a:lstStyle/>
          <a:p>
            <a:pPr algn="l">
              <a:spcBef>
                <a:spcPts val="0"/>
              </a:spcBef>
            </a:pPr>
            <a:r>
              <a:rPr sz="850" b="0" i="0">
                <a:solidFill>
                  <a:srgbClr val="404040"/>
                </a:solidFill>
                <a:latin typeface="맑은 고딕"/>
              </a:rPr>
              <a:t>YouTube · Instagram 시청 중 자동 검증</a:t>
            </a:r>
          </a:p>
        </p:txBody>
      </p:sp>
      <p:sp>
        <p:nvSpPr>
          <p:cNvPr id="47" name="TextBox 46"/>
          <p:cNvSpPr txBox="1"/>
          <p:nvPr/>
        </p:nvSpPr>
        <p:spPr>
          <a:xfrm>
            <a:off x="3666744" y="4629058"/>
            <a:ext cx="1325880" cy="307238"/>
          </a:xfrm>
          <a:prstGeom prst="rect">
            <a:avLst/>
          </a:prstGeom>
          <a:noFill/>
        </p:spPr>
        <p:txBody>
          <a:bodyPr wrap="square" lIns="45720" rIns="45720" tIns="27432" bIns="27432" anchor="t">
            <a:spAutoFit/>
          </a:bodyPr>
          <a:lstStyle/>
          <a:p>
            <a:pPr algn="l">
              <a:spcBef>
                <a:spcPts val="0"/>
              </a:spcBef>
            </a:pPr>
            <a:r>
              <a:rPr sz="750" b="0" i="0">
                <a:solidFill>
                  <a:srgbClr val="7A7A7A"/>
                </a:solidFill>
                <a:latin typeface="맑은 고딕"/>
              </a:rPr>
              <a:t>Manifest V3</a:t>
            </a:r>
          </a:p>
        </p:txBody>
      </p:sp>
      <p:sp>
        <p:nvSpPr>
          <p:cNvPr id="48" name="Rounded Rectangle 47"/>
          <p:cNvSpPr/>
          <p:nvPr/>
        </p:nvSpPr>
        <p:spPr>
          <a:xfrm>
            <a:off x="5111496" y="3768791"/>
            <a:ext cx="1463040" cy="1177747"/>
          </a:xfrm>
          <a:prstGeom prst="roundRect">
            <a:avLst>
              <a:gd name="adj" fmla="val 6000"/>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49" name="TextBox 48"/>
          <p:cNvSpPr txBox="1"/>
          <p:nvPr/>
        </p:nvSpPr>
        <p:spPr>
          <a:xfrm>
            <a:off x="5202936" y="3850721"/>
            <a:ext cx="1325880" cy="307238"/>
          </a:xfrm>
          <a:prstGeom prst="rect">
            <a:avLst/>
          </a:prstGeom>
          <a:noFill/>
        </p:spPr>
        <p:txBody>
          <a:bodyPr wrap="square" lIns="45720" rIns="45720" tIns="27432" bIns="27432" anchor="t">
            <a:spAutoFit/>
          </a:bodyPr>
          <a:lstStyle/>
          <a:p>
            <a:pPr algn="l">
              <a:spcBef>
                <a:spcPts val="0"/>
              </a:spcBef>
            </a:pPr>
            <a:r>
              <a:rPr sz="1050" b="1" i="0">
                <a:solidFill>
                  <a:srgbClr val="1E2761"/>
                </a:solidFill>
                <a:latin typeface="맑은 고딕"/>
              </a:rPr>
              <a:t>백엔드</a:t>
            </a:r>
          </a:p>
        </p:txBody>
      </p:sp>
      <p:sp>
        <p:nvSpPr>
          <p:cNvPr id="50" name="TextBox 49"/>
          <p:cNvSpPr txBox="1"/>
          <p:nvPr/>
        </p:nvSpPr>
        <p:spPr>
          <a:xfrm>
            <a:off x="5202936" y="4137477"/>
            <a:ext cx="1325880" cy="512064"/>
          </a:xfrm>
          <a:prstGeom prst="rect">
            <a:avLst/>
          </a:prstGeom>
          <a:noFill/>
        </p:spPr>
        <p:txBody>
          <a:bodyPr wrap="square" lIns="45720" rIns="45720" tIns="27432" bIns="27432" anchor="t">
            <a:spAutoFit/>
          </a:bodyPr>
          <a:lstStyle/>
          <a:p>
            <a:pPr algn="l">
              <a:spcBef>
                <a:spcPts val="0"/>
              </a:spcBef>
            </a:pPr>
            <a:r>
              <a:rPr sz="850" b="0" i="0">
                <a:solidFill>
                  <a:srgbClr val="404040"/>
                </a:solidFill>
                <a:latin typeface="맑은 고딕"/>
              </a:rPr>
              <a:t>등록·검증·인증 API 19개, 외부 연동 허브</a:t>
            </a:r>
          </a:p>
        </p:txBody>
      </p:sp>
      <p:sp>
        <p:nvSpPr>
          <p:cNvPr id="51" name="TextBox 50"/>
          <p:cNvSpPr txBox="1"/>
          <p:nvPr/>
        </p:nvSpPr>
        <p:spPr>
          <a:xfrm>
            <a:off x="5202936" y="4629058"/>
            <a:ext cx="1325880" cy="307238"/>
          </a:xfrm>
          <a:prstGeom prst="rect">
            <a:avLst/>
          </a:prstGeom>
          <a:noFill/>
        </p:spPr>
        <p:txBody>
          <a:bodyPr wrap="square" lIns="45720" rIns="45720" tIns="27432" bIns="27432" anchor="t">
            <a:spAutoFit/>
          </a:bodyPr>
          <a:lstStyle/>
          <a:p>
            <a:pPr algn="l">
              <a:spcBef>
                <a:spcPts val="0"/>
              </a:spcBef>
            </a:pPr>
            <a:r>
              <a:rPr sz="750" b="0" i="0">
                <a:solidFill>
                  <a:srgbClr val="7A7A7A"/>
                </a:solidFill>
                <a:latin typeface="맑은 고딕"/>
              </a:rPr>
              <a:t>Java 21 · Spring Boot · PostgreSQL · Redis</a:t>
            </a:r>
          </a:p>
        </p:txBody>
      </p:sp>
      <p:sp>
        <p:nvSpPr>
          <p:cNvPr id="52" name="Rounded Rectangle 51"/>
          <p:cNvSpPr/>
          <p:nvPr/>
        </p:nvSpPr>
        <p:spPr>
          <a:xfrm>
            <a:off x="6647688" y="3768791"/>
            <a:ext cx="1463040" cy="1177747"/>
          </a:xfrm>
          <a:prstGeom prst="roundRect">
            <a:avLst>
              <a:gd name="adj" fmla="val 6000"/>
            </a:avLst>
          </a:prstGeom>
          <a:solidFill>
            <a:srgbClr val="E4E8F5"/>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53" name="TextBox 52"/>
          <p:cNvSpPr txBox="1"/>
          <p:nvPr/>
        </p:nvSpPr>
        <p:spPr>
          <a:xfrm>
            <a:off x="6739127" y="3850721"/>
            <a:ext cx="1325880" cy="307238"/>
          </a:xfrm>
          <a:prstGeom prst="rect">
            <a:avLst/>
          </a:prstGeom>
          <a:noFill/>
        </p:spPr>
        <p:txBody>
          <a:bodyPr wrap="square" lIns="45720" rIns="45720" tIns="27432" bIns="27432" anchor="t">
            <a:spAutoFit/>
          </a:bodyPr>
          <a:lstStyle/>
          <a:p>
            <a:pPr algn="l">
              <a:spcBef>
                <a:spcPts val="0"/>
              </a:spcBef>
            </a:pPr>
            <a:r>
              <a:rPr sz="1050" b="1" i="0">
                <a:solidFill>
                  <a:srgbClr val="7A7A7A"/>
                </a:solidFill>
                <a:latin typeface="맑은 고딕"/>
              </a:rPr>
              <a:t>[카카오톡 봇]</a:t>
            </a:r>
          </a:p>
        </p:txBody>
      </p:sp>
      <p:sp>
        <p:nvSpPr>
          <p:cNvPr id="54" name="TextBox 53"/>
          <p:cNvSpPr txBox="1"/>
          <p:nvPr/>
        </p:nvSpPr>
        <p:spPr>
          <a:xfrm>
            <a:off x="6739127" y="4137477"/>
            <a:ext cx="1325880" cy="512064"/>
          </a:xfrm>
          <a:prstGeom prst="rect">
            <a:avLst/>
          </a:prstGeom>
          <a:noFill/>
        </p:spPr>
        <p:txBody>
          <a:bodyPr wrap="square" lIns="45720" rIns="45720" tIns="27432" bIns="27432" anchor="t">
            <a:spAutoFit/>
          </a:bodyPr>
          <a:lstStyle/>
          <a:p>
            <a:pPr algn="l">
              <a:spcBef>
                <a:spcPts val="0"/>
              </a:spcBef>
            </a:pPr>
            <a:r>
              <a:rPr sz="850" b="0" i="0">
                <a:solidFill>
                  <a:srgbClr val="7A7A7A"/>
                </a:solidFill>
                <a:latin typeface="맑은 고딕"/>
              </a:rPr>
              <a:t>[발표 전 구현 — 내용 기입]</a:t>
            </a:r>
          </a:p>
        </p:txBody>
      </p:sp>
      <p:sp>
        <p:nvSpPr>
          <p:cNvPr id="55" name="TextBox 54"/>
          <p:cNvSpPr txBox="1"/>
          <p:nvPr/>
        </p:nvSpPr>
        <p:spPr>
          <a:xfrm>
            <a:off x="6739127" y="4629058"/>
            <a:ext cx="1325880" cy="307238"/>
          </a:xfrm>
          <a:prstGeom prst="rect">
            <a:avLst/>
          </a:prstGeom>
          <a:noFill/>
        </p:spPr>
        <p:txBody>
          <a:bodyPr wrap="square" lIns="45720" rIns="45720" tIns="27432" bIns="27432" anchor="t">
            <a:spAutoFit/>
          </a:bodyPr>
          <a:lstStyle/>
          <a:p>
            <a:pPr algn="l">
              <a:spcBef>
                <a:spcPts val="0"/>
              </a:spcBef>
            </a:pPr>
            <a:r>
              <a:rPr sz="750" b="0" i="0">
                <a:solidFill>
                  <a:srgbClr val="7A7A7A"/>
                </a:solidFill>
                <a:latin typeface="맑은 고딕"/>
              </a:rPr>
              <a:t>[기술 스택]</a:t>
            </a:r>
          </a:p>
        </p:txBody>
      </p:sp>
      <p:sp>
        <p:nvSpPr>
          <p:cNvPr id="56" name="Rounded Rectangle 55"/>
          <p:cNvSpPr/>
          <p:nvPr/>
        </p:nvSpPr>
        <p:spPr>
          <a:xfrm>
            <a:off x="8229600" y="3768791"/>
            <a:ext cx="3429000" cy="348203"/>
          </a:xfrm>
          <a:prstGeom prst="roundRect">
            <a:avLst>
              <a:gd name="adj" fmla="val 6000"/>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57" name="Rounded Rectangle 56"/>
          <p:cNvSpPr/>
          <p:nvPr/>
        </p:nvSpPr>
        <p:spPr>
          <a:xfrm>
            <a:off x="8302752" y="3819996"/>
            <a:ext cx="548640" cy="245790"/>
          </a:xfrm>
          <a:prstGeom prst="roundRect">
            <a:avLst>
              <a:gd name="adj" fmla="val 5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1" i="0">
                <a:solidFill>
                  <a:srgbClr val="FFFFFF"/>
                </a:solidFill>
                <a:latin typeface="맑은 고딕"/>
              </a:rPr>
              <a:t>필수</a:t>
            </a:r>
          </a:p>
        </p:txBody>
      </p:sp>
      <p:sp>
        <p:nvSpPr>
          <p:cNvPr id="58" name="TextBox 57"/>
          <p:cNvSpPr txBox="1"/>
          <p:nvPr/>
        </p:nvSpPr>
        <p:spPr>
          <a:xfrm>
            <a:off x="8915400" y="3789273"/>
            <a:ext cx="2697480" cy="307238"/>
          </a:xfrm>
          <a:prstGeom prst="rect">
            <a:avLst/>
          </a:prstGeom>
          <a:noFill/>
        </p:spPr>
        <p:txBody>
          <a:bodyPr wrap="square" lIns="45720" rIns="45720" tIns="27432" bIns="27432" anchor="ctr">
            <a:spAutoFit/>
          </a:bodyPr>
          <a:lstStyle/>
          <a:p>
            <a:pPr algn="l"/>
            <a:r>
              <a:rPr sz="950" b="1" i="0">
                <a:solidFill>
                  <a:srgbClr val="1E2761"/>
                </a:solidFill>
                <a:latin typeface="맑은 고딕"/>
              </a:rPr>
              <a:t>OmniOne CX  </a:t>
            </a:r>
            <a:r>
              <a:rPr sz="850" b="0" i="0">
                <a:solidFill>
                  <a:srgbClr val="404040"/>
                </a:solidFill>
                <a:latin typeface="맑은 고딕"/>
              </a:rPr>
              <a:t>모바일 신분증 본인확인 · 로그인</a:t>
            </a:r>
          </a:p>
        </p:txBody>
      </p:sp>
      <p:sp>
        <p:nvSpPr>
          <p:cNvPr id="59" name="Rounded Rectangle 58"/>
          <p:cNvSpPr/>
          <p:nvPr/>
        </p:nvSpPr>
        <p:spPr>
          <a:xfrm>
            <a:off x="8229600" y="4168199"/>
            <a:ext cx="3429000" cy="348203"/>
          </a:xfrm>
          <a:prstGeom prst="roundRect">
            <a:avLst>
              <a:gd name="adj" fmla="val 6000"/>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60" name="Rounded Rectangle 59"/>
          <p:cNvSpPr/>
          <p:nvPr/>
        </p:nvSpPr>
        <p:spPr>
          <a:xfrm>
            <a:off x="8302752" y="4219406"/>
            <a:ext cx="548640" cy="245790"/>
          </a:xfrm>
          <a:prstGeom prst="roundRect">
            <a:avLst>
              <a:gd name="adj" fmla="val 5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1" i="0">
                <a:solidFill>
                  <a:srgbClr val="FFFFFF"/>
                </a:solidFill>
                <a:latin typeface="맑은 고딕"/>
              </a:rPr>
              <a:t>선택 1</a:t>
            </a:r>
          </a:p>
        </p:txBody>
      </p:sp>
      <p:sp>
        <p:nvSpPr>
          <p:cNvPr id="61" name="TextBox 60"/>
          <p:cNvSpPr txBox="1"/>
          <p:nvPr/>
        </p:nvSpPr>
        <p:spPr>
          <a:xfrm>
            <a:off x="8915400" y="4188682"/>
            <a:ext cx="2697480" cy="307238"/>
          </a:xfrm>
          <a:prstGeom prst="rect">
            <a:avLst/>
          </a:prstGeom>
          <a:noFill/>
        </p:spPr>
        <p:txBody>
          <a:bodyPr wrap="square" lIns="45720" rIns="45720" tIns="27432" bIns="27432" anchor="ctr">
            <a:spAutoFit/>
          </a:bodyPr>
          <a:lstStyle/>
          <a:p>
            <a:pPr algn="l"/>
            <a:r>
              <a:rPr sz="950" b="1" i="0">
                <a:solidFill>
                  <a:srgbClr val="1E2761"/>
                </a:solidFill>
                <a:latin typeface="맑은 고딕"/>
              </a:rPr>
              <a:t>Open DID  </a:t>
            </a:r>
            <a:r>
              <a:rPr sz="850" b="0" i="0">
                <a:solidFill>
                  <a:srgbClr val="404040"/>
                </a:solidFill>
                <a:latin typeface="맑은 고딕"/>
              </a:rPr>
              <a:t>VC 발급·검증 (Issuer · Verifier · TAS)</a:t>
            </a:r>
          </a:p>
        </p:txBody>
      </p:sp>
      <p:sp>
        <p:nvSpPr>
          <p:cNvPr id="62" name="Rounded Rectangle 61"/>
          <p:cNvSpPr/>
          <p:nvPr/>
        </p:nvSpPr>
        <p:spPr>
          <a:xfrm>
            <a:off x="8229600" y="4567610"/>
            <a:ext cx="3429000" cy="348203"/>
          </a:xfrm>
          <a:prstGeom prst="roundRect">
            <a:avLst>
              <a:gd name="adj" fmla="val 6000"/>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63" name="Rounded Rectangle 62"/>
          <p:cNvSpPr/>
          <p:nvPr/>
        </p:nvSpPr>
        <p:spPr>
          <a:xfrm>
            <a:off x="8302752" y="4618817"/>
            <a:ext cx="548640" cy="245790"/>
          </a:xfrm>
          <a:prstGeom prst="roundRect">
            <a:avLst>
              <a:gd name="adj" fmla="val 5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1" i="0">
                <a:solidFill>
                  <a:srgbClr val="FFFFFF"/>
                </a:solidFill>
                <a:latin typeface="맑은 고딕"/>
              </a:rPr>
              <a:t>선택 2</a:t>
            </a:r>
          </a:p>
        </p:txBody>
      </p:sp>
      <p:sp>
        <p:nvSpPr>
          <p:cNvPr id="64" name="TextBox 63"/>
          <p:cNvSpPr txBox="1"/>
          <p:nvPr/>
        </p:nvSpPr>
        <p:spPr>
          <a:xfrm>
            <a:off x="8915400" y="4588093"/>
            <a:ext cx="2697480" cy="307238"/>
          </a:xfrm>
          <a:prstGeom prst="rect">
            <a:avLst/>
          </a:prstGeom>
          <a:noFill/>
        </p:spPr>
        <p:txBody>
          <a:bodyPr wrap="square" lIns="45720" rIns="45720" tIns="27432" bIns="27432" anchor="ctr">
            <a:spAutoFit/>
          </a:bodyPr>
          <a:lstStyle/>
          <a:p>
            <a:pPr algn="l"/>
            <a:r>
              <a:rPr sz="950" b="1" i="0">
                <a:solidFill>
                  <a:srgbClr val="1E2761"/>
                </a:solidFill>
                <a:latin typeface="맑은 고딕"/>
              </a:rPr>
              <a:t>OmniOne Chain  </a:t>
            </a:r>
            <a:r>
              <a:rPr sz="850" b="0" i="0">
                <a:solidFill>
                  <a:srgbClr val="404040"/>
                </a:solidFill>
                <a:latin typeface="맑은 고딕"/>
              </a:rPr>
              <a:t>JinBon.sol — merkleRoot 온체인 기록</a:t>
            </a:r>
          </a:p>
        </p:txBody>
      </p:sp>
      <p:sp>
        <p:nvSpPr>
          <p:cNvPr id="65" name="Rounded Rectangle 64"/>
          <p:cNvSpPr/>
          <p:nvPr/>
        </p:nvSpPr>
        <p:spPr>
          <a:xfrm>
            <a:off x="502920" y="5202570"/>
            <a:ext cx="11155680" cy="1075334"/>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73152" wrap="square"/>
          <a:lstStyle/>
          <a:p>
            <a:pPr algn="l"/>
            <a:r>
              <a:rPr sz="1200" b="1" i="0">
                <a:solidFill>
                  <a:srgbClr val="F9E76C"/>
                </a:solidFill>
                <a:latin typeface="맑은 고딕"/>
              </a:rPr>
              <a:t>핵심 설계   </a:t>
            </a:r>
            <a:r>
              <a:rPr sz="1200" b="0" i="0">
                <a:solidFill>
                  <a:srgbClr val="FFFFFF"/>
                </a:solidFill>
                <a:latin typeface="맑은 고딕"/>
              </a:rPr>
              <a:t>merkleRoot = SHA-256(지각해시 ‖ 파일해시) — 체인에는 이 값과 등록자 DID · 서명만 기록. 검증 시 서명을 재계산해 DB와 온체인 값 양쪽에 대조하므로 DB가 조작돼도 탐지. 원본 영상 · 개인식별정보(CI)는 저장하지 않음.</a:t>
            </a:r>
          </a:p>
        </p:txBody>
      </p:sp>
    </p:spTree>
    <p:extLst>
      <p:ext uri="{BB962C8B-B14F-4D97-AF65-F5344CB8AC3E}">
        <p14:creationId xmlns:p14="http://schemas.microsoft.com/office/powerpoint/2010/main" val="32499766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57F28-B3E8-F644-4200-082BA0AB6CD8}"/>
            </a:ext>
          </a:extLst>
        </p:cNvPr>
        <p:cNvGrpSpPr/>
        <p:nvPr/>
      </p:nvGrpSpPr>
      <p:grpSpPr>
        <a:xfrm>
          <a:off x="0" y="0"/>
          <a:ext cx="0" cy="0"/>
          <a:chOff x="0" y="0"/>
          <a:chExt cx="0" cy="0"/>
        </a:xfrm>
      </p:grpSpPr>
      <p:sp>
        <p:nvSpPr>
          <p:cNvPr id="16" name="내용 개체 틀 2">
            <a:extLst>
              <a:ext uri="{FF2B5EF4-FFF2-40B4-BE49-F238E27FC236}">
                <a16:creationId xmlns:a16="http://schemas.microsoft.com/office/drawing/2014/main" id="{C1259860-F0D7-2696-89C7-C6D4C956C128}"/>
              </a:ext>
            </a:extLst>
          </p:cNvPr>
          <p:cNvSpPr>
            <a:spLocks noGrp="1"/>
          </p:cNvSpPr>
          <p:nvPr>
            <p:ph sz="quarter" idx="15"/>
          </p:nvPr>
        </p:nvSpPr>
        <p:spPr>
          <a:xfrm>
            <a:off x="236707" y="9236"/>
            <a:ext cx="11553218" cy="486137"/>
          </a:xfrm>
        </p:spPr>
        <p:txBody>
          <a:bodyPr anchor="ctr">
            <a:normAutofit/>
          </a:bodyPr>
          <a:lstStyle/>
          <a:p>
            <a:pPr marL="514350" indent="-514350">
              <a:buFont typeface="+mj-lt"/>
              <a:buAutoNum type="romanUcPeriod" startAt="3"/>
            </a:pPr>
            <a:r>
              <a:rPr lang="ko-KR" altLang="en-US" sz="1801" dirty="0" err="1" smtClean="0"/>
              <a:t>제안내용의</a:t>
            </a:r>
            <a:r>
              <a:rPr lang="ko-KR" altLang="en-US" sz="1801" dirty="0" smtClean="0"/>
              <a:t> 상세 설명</a:t>
            </a:r>
            <a:endParaRPr lang="x-none" altLang="en-US" sz="1801" dirty="0"/>
          </a:p>
        </p:txBody>
      </p:sp>
      <p:sp>
        <p:nvSpPr>
          <p:cNvPr id="17" name="TextBox 16"/>
          <p:cNvSpPr txBox="1"/>
          <p:nvPr/>
        </p:nvSpPr>
        <p:spPr>
          <a:xfrm>
            <a:off x="502920" y="566928"/>
            <a:ext cx="11155680" cy="411480"/>
          </a:xfrm>
          <a:prstGeom prst="rect">
            <a:avLst/>
          </a:prstGeom>
          <a:noFill/>
        </p:spPr>
        <p:txBody>
          <a:bodyPr wrap="square" lIns="45720" rIns="45720" tIns="27432" bIns="27432" anchor="t">
            <a:spAutoFit/>
          </a:bodyPr>
          <a:lstStyle/>
          <a:p>
            <a:pPr algn="l">
              <a:spcBef>
                <a:spcPts val="0"/>
              </a:spcBef>
            </a:pPr>
            <a:r>
              <a:rPr sz="1700" b="1" i="0">
                <a:solidFill>
                  <a:srgbClr val="1E2761"/>
                </a:solidFill>
                <a:latin typeface="맑은 고딕"/>
              </a:rPr>
              <a:t>시연 — 등록부터 SNS 검증까지, 실제 동작 (3분)</a:t>
            </a:r>
          </a:p>
        </p:txBody>
      </p:sp>
      <p:sp>
        <p:nvSpPr>
          <p:cNvPr id="18" name="Rectangle 17"/>
          <p:cNvSpPr/>
          <p:nvPr/>
        </p:nvSpPr>
        <p:spPr>
          <a:xfrm>
            <a:off x="502920" y="1106058"/>
            <a:ext cx="6766560" cy="4260372"/>
          </a:xfrm>
          <a:prstGeom prst="rect">
            <a:avLst/>
          </a:prstGeom>
          <a:solidFill>
            <a:srgbClr val="11142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9" name="TextBox 18"/>
          <p:cNvSpPr txBox="1"/>
          <p:nvPr/>
        </p:nvSpPr>
        <p:spPr>
          <a:xfrm>
            <a:off x="502920" y="2642250"/>
            <a:ext cx="6766560" cy="512064"/>
          </a:xfrm>
          <a:prstGeom prst="rect">
            <a:avLst/>
          </a:prstGeom>
          <a:noFill/>
        </p:spPr>
        <p:txBody>
          <a:bodyPr wrap="square" lIns="45720" rIns="45720" tIns="27432" bIns="27432" anchor="t">
            <a:spAutoFit/>
          </a:bodyPr>
          <a:lstStyle/>
          <a:p>
            <a:pPr algn="ctr">
              <a:spcBef>
                <a:spcPts val="0"/>
              </a:spcBef>
            </a:pPr>
            <a:r>
              <a:rPr sz="1800" b="1" i="0">
                <a:solidFill>
                  <a:srgbClr val="FFFFFF"/>
                </a:solidFill>
                <a:latin typeface="맑은 고딕"/>
              </a:rPr>
              <a:t>▶  시연 영상 삽입 위치</a:t>
            </a:r>
          </a:p>
        </p:txBody>
      </p:sp>
      <p:sp>
        <p:nvSpPr>
          <p:cNvPr id="20" name="TextBox 19"/>
          <p:cNvSpPr txBox="1"/>
          <p:nvPr/>
        </p:nvSpPr>
        <p:spPr>
          <a:xfrm>
            <a:off x="502920" y="3205520"/>
            <a:ext cx="6766560" cy="409651"/>
          </a:xfrm>
          <a:prstGeom prst="rect">
            <a:avLst/>
          </a:prstGeom>
          <a:noFill/>
        </p:spPr>
        <p:txBody>
          <a:bodyPr wrap="square" lIns="45720" rIns="45720" tIns="27432" bIns="27432" anchor="t">
            <a:spAutoFit/>
          </a:bodyPr>
          <a:lstStyle/>
          <a:p>
            <a:pPr algn="ctr">
              <a:spcBef>
                <a:spcPts val="0"/>
              </a:spcBef>
            </a:pPr>
            <a:r>
              <a:rPr sz="1000" b="0" i="0">
                <a:solidFill>
                  <a:srgbClr val="B8BCD6"/>
                </a:solidFill>
                <a:latin typeface="맑은 고딕"/>
              </a:rPr>
              <a:t>16:9 · 3분 이내 · 삽입 &gt; 비디오 로 이 자리에 배치</a:t>
            </a:r>
          </a:p>
        </p:txBody>
      </p:sp>
      <p:sp>
        <p:nvSpPr>
          <p:cNvPr id="21" name="TextBox 20"/>
          <p:cNvSpPr txBox="1"/>
          <p:nvPr/>
        </p:nvSpPr>
        <p:spPr>
          <a:xfrm>
            <a:off x="502920" y="4895331"/>
            <a:ext cx="6766560" cy="358444"/>
          </a:xfrm>
          <a:prstGeom prst="rect">
            <a:avLst/>
          </a:prstGeom>
          <a:noFill/>
        </p:spPr>
        <p:txBody>
          <a:bodyPr wrap="square" lIns="45720" rIns="45720" tIns="27432" bIns="27432" anchor="t">
            <a:spAutoFit/>
          </a:bodyPr>
          <a:lstStyle/>
          <a:p>
            <a:pPr algn="ctr">
              <a:spcBef>
                <a:spcPts val="0"/>
              </a:spcBef>
            </a:pPr>
            <a:r>
              <a:rPr sz="950" b="0" i="0">
                <a:solidFill>
                  <a:srgbClr val="B8BCD6"/>
                </a:solidFill>
                <a:latin typeface="맑은 고딕"/>
              </a:rPr>
              <a:t>발표 총 8분 = 슬라이드 5분 + 시연 3분</a:t>
            </a:r>
          </a:p>
        </p:txBody>
      </p:sp>
      <p:sp>
        <p:nvSpPr>
          <p:cNvPr id="22" name="TextBox 21"/>
          <p:cNvSpPr txBox="1"/>
          <p:nvPr/>
        </p:nvSpPr>
        <p:spPr>
          <a:xfrm>
            <a:off x="7498079" y="1054851"/>
            <a:ext cx="4160520" cy="327720"/>
          </a:xfrm>
          <a:prstGeom prst="rect">
            <a:avLst/>
          </a:prstGeom>
          <a:noFill/>
        </p:spPr>
        <p:txBody>
          <a:bodyPr wrap="square" lIns="45720" rIns="45720" tIns="27432" bIns="27432" anchor="t">
            <a:spAutoFit/>
          </a:bodyPr>
          <a:lstStyle/>
          <a:p>
            <a:pPr algn="l">
              <a:spcBef>
                <a:spcPts val="0"/>
              </a:spcBef>
            </a:pPr>
            <a:r>
              <a:rPr sz="1250" b="1" i="0">
                <a:solidFill>
                  <a:srgbClr val="2E307E"/>
                </a:solidFill>
                <a:latin typeface="맑은 고딕"/>
              </a:rPr>
              <a:t>시연 시나리오 (누적 시간)</a:t>
            </a:r>
          </a:p>
        </p:txBody>
      </p:sp>
      <p:sp>
        <p:nvSpPr>
          <p:cNvPr id="23" name="Rounded Rectangle 22"/>
          <p:cNvSpPr/>
          <p:nvPr/>
        </p:nvSpPr>
        <p:spPr>
          <a:xfrm>
            <a:off x="7498079" y="1413296"/>
            <a:ext cx="4160520" cy="696407"/>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4" name="Rounded Rectangle 23"/>
          <p:cNvSpPr/>
          <p:nvPr/>
        </p:nvSpPr>
        <p:spPr>
          <a:xfrm>
            <a:off x="7607807" y="1618122"/>
            <a:ext cx="502920" cy="266273"/>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1" i="0">
                <a:solidFill>
                  <a:srgbClr val="FFFFFF"/>
                </a:solidFill>
                <a:latin typeface="맑은 고딕"/>
              </a:rPr>
              <a:t>0:00</a:t>
            </a:r>
          </a:p>
        </p:txBody>
      </p:sp>
      <p:sp>
        <p:nvSpPr>
          <p:cNvPr id="25" name="TextBox 24"/>
          <p:cNvSpPr txBox="1"/>
          <p:nvPr/>
        </p:nvSpPr>
        <p:spPr>
          <a:xfrm>
            <a:off x="8211311" y="1474744"/>
            <a:ext cx="3337560" cy="307238"/>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1. 본인확인 · 가입</a:t>
            </a:r>
          </a:p>
        </p:txBody>
      </p:sp>
      <p:sp>
        <p:nvSpPr>
          <p:cNvPr id="26" name="TextBox 25"/>
          <p:cNvSpPr txBox="1"/>
          <p:nvPr/>
        </p:nvSpPr>
        <p:spPr>
          <a:xfrm>
            <a:off x="8211311" y="1751258"/>
            <a:ext cx="3337560" cy="358444"/>
          </a:xfrm>
          <a:prstGeom prst="rect">
            <a:avLst/>
          </a:prstGeom>
          <a:noFill/>
        </p:spPr>
        <p:txBody>
          <a:bodyPr wrap="square" lIns="45720" rIns="45720" tIns="27432" bIns="27432" anchor="t">
            <a:spAutoFit/>
          </a:bodyPr>
          <a:lstStyle/>
          <a:p>
            <a:pPr algn="l">
              <a:spcBef>
                <a:spcPts val="0"/>
              </a:spcBef>
            </a:pPr>
            <a:r>
              <a:rPr sz="850" b="0" i="0">
                <a:solidFill>
                  <a:srgbClr val="404040"/>
                </a:solidFill>
                <a:latin typeface="맑은 고딕"/>
              </a:rPr>
              <a:t>모바일 신분증(OmniOne CX) 인증 → Wallet DID 연결</a:t>
            </a:r>
          </a:p>
        </p:txBody>
      </p:sp>
      <p:sp>
        <p:nvSpPr>
          <p:cNvPr id="27" name="Rounded Rectangle 26"/>
          <p:cNvSpPr/>
          <p:nvPr/>
        </p:nvSpPr>
        <p:spPr>
          <a:xfrm>
            <a:off x="7498079" y="2191632"/>
            <a:ext cx="4160520" cy="696407"/>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8" name="Rounded Rectangle 27"/>
          <p:cNvSpPr/>
          <p:nvPr/>
        </p:nvSpPr>
        <p:spPr>
          <a:xfrm>
            <a:off x="7607807" y="2396459"/>
            <a:ext cx="502920" cy="266273"/>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1" i="0">
                <a:solidFill>
                  <a:srgbClr val="FFFFFF"/>
                </a:solidFill>
                <a:latin typeface="맑은 고딕"/>
              </a:rPr>
              <a:t>0:30</a:t>
            </a:r>
          </a:p>
        </p:txBody>
      </p:sp>
      <p:sp>
        <p:nvSpPr>
          <p:cNvPr id="29" name="TextBox 28"/>
          <p:cNvSpPr txBox="1"/>
          <p:nvPr/>
        </p:nvSpPr>
        <p:spPr>
          <a:xfrm>
            <a:off x="8211311" y="2253081"/>
            <a:ext cx="3337560" cy="307238"/>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2. 영상 등록</a:t>
            </a:r>
          </a:p>
        </p:txBody>
      </p:sp>
      <p:sp>
        <p:nvSpPr>
          <p:cNvPr id="30" name="TextBox 29"/>
          <p:cNvSpPr txBox="1"/>
          <p:nvPr/>
        </p:nvSpPr>
        <p:spPr>
          <a:xfrm>
            <a:off x="8211311" y="2529596"/>
            <a:ext cx="3337560" cy="358444"/>
          </a:xfrm>
          <a:prstGeom prst="rect">
            <a:avLst/>
          </a:prstGeom>
          <a:noFill/>
        </p:spPr>
        <p:txBody>
          <a:bodyPr wrap="square" lIns="45720" rIns="45720" tIns="27432" bIns="27432" anchor="t">
            <a:spAutoFit/>
          </a:bodyPr>
          <a:lstStyle/>
          <a:p>
            <a:pPr algn="l">
              <a:spcBef>
                <a:spcPts val="0"/>
              </a:spcBef>
            </a:pPr>
            <a:r>
              <a:rPr sz="850" b="0" i="0">
                <a:solidFill>
                  <a:srgbClr val="404040"/>
                </a:solidFill>
                <a:latin typeface="맑은 고딕"/>
              </a:rPr>
              <a:t>영상 선택 → 온체인 트랜잭션 → 보증서(VC) Wallet 발급</a:t>
            </a:r>
          </a:p>
        </p:txBody>
      </p:sp>
      <p:sp>
        <p:nvSpPr>
          <p:cNvPr id="31" name="Rounded Rectangle 30"/>
          <p:cNvSpPr/>
          <p:nvPr/>
        </p:nvSpPr>
        <p:spPr>
          <a:xfrm>
            <a:off x="7498079" y="2969971"/>
            <a:ext cx="4160520" cy="696407"/>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32" name="Rounded Rectangle 31"/>
          <p:cNvSpPr/>
          <p:nvPr/>
        </p:nvSpPr>
        <p:spPr>
          <a:xfrm>
            <a:off x="7607807" y="3174796"/>
            <a:ext cx="502920" cy="266273"/>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1" i="0">
                <a:solidFill>
                  <a:srgbClr val="FFFFFF"/>
                </a:solidFill>
                <a:latin typeface="맑은 고딕"/>
              </a:rPr>
              <a:t>1:15</a:t>
            </a:r>
          </a:p>
        </p:txBody>
      </p:sp>
      <p:sp>
        <p:nvSpPr>
          <p:cNvPr id="33" name="TextBox 32"/>
          <p:cNvSpPr txBox="1"/>
          <p:nvPr/>
        </p:nvSpPr>
        <p:spPr>
          <a:xfrm>
            <a:off x="8211311" y="3031418"/>
            <a:ext cx="3337560" cy="307238"/>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3. 웹 파일 검증</a:t>
            </a:r>
          </a:p>
        </p:txBody>
      </p:sp>
      <p:sp>
        <p:nvSpPr>
          <p:cNvPr id="34" name="TextBox 33"/>
          <p:cNvSpPr txBox="1"/>
          <p:nvPr/>
        </p:nvSpPr>
        <p:spPr>
          <a:xfrm>
            <a:off x="8211311" y="3307933"/>
            <a:ext cx="3337560" cy="358444"/>
          </a:xfrm>
          <a:prstGeom prst="rect">
            <a:avLst/>
          </a:prstGeom>
          <a:noFill/>
        </p:spPr>
        <p:txBody>
          <a:bodyPr wrap="square" lIns="45720" rIns="45720" tIns="27432" bIns="27432" anchor="t">
            <a:spAutoFit/>
          </a:bodyPr>
          <a:lstStyle/>
          <a:p>
            <a:pPr algn="l">
              <a:spcBef>
                <a:spcPts val="0"/>
              </a:spcBef>
            </a:pPr>
            <a:r>
              <a:rPr sz="850" b="0" i="0">
                <a:solidFill>
                  <a:srgbClr val="404040"/>
                </a:solidFill>
                <a:latin typeface="맑은 고딕"/>
              </a:rPr>
              <a:t>같은 파일 업로드 → EXACT_MATCH · 등록자 DID · 등록 시각 표시</a:t>
            </a:r>
          </a:p>
        </p:txBody>
      </p:sp>
      <p:sp>
        <p:nvSpPr>
          <p:cNvPr id="35" name="Rounded Rectangle 34"/>
          <p:cNvSpPr/>
          <p:nvPr/>
        </p:nvSpPr>
        <p:spPr>
          <a:xfrm>
            <a:off x="7498079" y="3748308"/>
            <a:ext cx="4160520" cy="696407"/>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36" name="Rounded Rectangle 35"/>
          <p:cNvSpPr/>
          <p:nvPr/>
        </p:nvSpPr>
        <p:spPr>
          <a:xfrm>
            <a:off x="7607807" y="3953134"/>
            <a:ext cx="502920" cy="266273"/>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1" i="0">
                <a:solidFill>
                  <a:srgbClr val="FFFFFF"/>
                </a:solidFill>
                <a:latin typeface="맑은 고딕"/>
              </a:rPr>
              <a:t>1:45</a:t>
            </a:r>
          </a:p>
        </p:txBody>
      </p:sp>
      <p:sp>
        <p:nvSpPr>
          <p:cNvPr id="37" name="TextBox 36"/>
          <p:cNvSpPr txBox="1"/>
          <p:nvPr/>
        </p:nvSpPr>
        <p:spPr>
          <a:xfrm>
            <a:off x="8211311" y="3809756"/>
            <a:ext cx="3337560" cy="307238"/>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4. Chrome 확장</a:t>
            </a:r>
          </a:p>
        </p:txBody>
      </p:sp>
      <p:sp>
        <p:nvSpPr>
          <p:cNvPr id="38" name="TextBox 37"/>
          <p:cNvSpPr txBox="1"/>
          <p:nvPr/>
        </p:nvSpPr>
        <p:spPr>
          <a:xfrm>
            <a:off x="8211311" y="4086270"/>
            <a:ext cx="3337560" cy="358444"/>
          </a:xfrm>
          <a:prstGeom prst="rect">
            <a:avLst/>
          </a:prstGeom>
          <a:noFill/>
        </p:spPr>
        <p:txBody>
          <a:bodyPr wrap="square" lIns="45720" rIns="45720" tIns="27432" bIns="27432" anchor="t">
            <a:spAutoFit/>
          </a:bodyPr>
          <a:lstStyle/>
          <a:p>
            <a:pPr algn="l">
              <a:spcBef>
                <a:spcPts val="0"/>
              </a:spcBef>
            </a:pPr>
            <a:r>
              <a:rPr sz="850" b="0" i="0">
                <a:solidFill>
                  <a:srgbClr val="404040"/>
                </a:solidFill>
                <a:latin typeface="맑은 고딕"/>
              </a:rPr>
              <a:t>YouTube 시청 중 자동 검증 → 진본 배지 표시</a:t>
            </a:r>
          </a:p>
        </p:txBody>
      </p:sp>
      <p:sp>
        <p:nvSpPr>
          <p:cNvPr id="39" name="Rounded Rectangle 38"/>
          <p:cNvSpPr/>
          <p:nvPr/>
        </p:nvSpPr>
        <p:spPr>
          <a:xfrm>
            <a:off x="7498079" y="4526645"/>
            <a:ext cx="4160520" cy="696407"/>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40" name="Rounded Rectangle 39"/>
          <p:cNvSpPr/>
          <p:nvPr/>
        </p:nvSpPr>
        <p:spPr>
          <a:xfrm>
            <a:off x="7607807" y="4731471"/>
            <a:ext cx="502920" cy="266273"/>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1" i="0">
                <a:solidFill>
                  <a:srgbClr val="FFFFFF"/>
                </a:solidFill>
                <a:latin typeface="맑은 고딕"/>
              </a:rPr>
              <a:t>2:30</a:t>
            </a:r>
          </a:p>
        </p:txBody>
      </p:sp>
      <p:sp>
        <p:nvSpPr>
          <p:cNvPr id="41" name="TextBox 40"/>
          <p:cNvSpPr txBox="1"/>
          <p:nvPr/>
        </p:nvSpPr>
        <p:spPr>
          <a:xfrm>
            <a:off x="8211311" y="4588093"/>
            <a:ext cx="3337560" cy="307238"/>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5. 재인코딩 · 미등록</a:t>
            </a:r>
          </a:p>
        </p:txBody>
      </p:sp>
      <p:sp>
        <p:nvSpPr>
          <p:cNvPr id="42" name="TextBox 41"/>
          <p:cNvSpPr txBox="1"/>
          <p:nvPr/>
        </p:nvSpPr>
        <p:spPr>
          <a:xfrm>
            <a:off x="8211311" y="4864608"/>
            <a:ext cx="3337560" cy="358444"/>
          </a:xfrm>
          <a:prstGeom prst="rect">
            <a:avLst/>
          </a:prstGeom>
          <a:noFill/>
        </p:spPr>
        <p:txBody>
          <a:bodyPr wrap="square" lIns="45720" rIns="45720" tIns="27432" bIns="27432" anchor="t">
            <a:spAutoFit/>
          </a:bodyPr>
          <a:lstStyle/>
          <a:p>
            <a:pPr algn="l">
              <a:spcBef>
                <a:spcPts val="0"/>
              </a:spcBef>
            </a:pPr>
            <a:r>
              <a:rPr sz="850" b="0" i="0">
                <a:solidFill>
                  <a:srgbClr val="404040"/>
                </a:solidFill>
                <a:latin typeface="맑은 고딕"/>
              </a:rPr>
              <a:t>재인코딩 영상 → SIMILAR_MATCH  /  미등록 영상 → '미등록 ≠ 가짜' 안내</a:t>
            </a:r>
          </a:p>
        </p:txBody>
      </p:sp>
      <p:sp>
        <p:nvSpPr>
          <p:cNvPr id="43" name="Rounded Rectangle 42"/>
          <p:cNvSpPr/>
          <p:nvPr/>
        </p:nvSpPr>
        <p:spPr>
          <a:xfrm>
            <a:off x="502920" y="5561015"/>
            <a:ext cx="11155680" cy="716889"/>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73152" wrap="square"/>
          <a:lstStyle/>
          <a:p>
            <a:pPr algn="l"/>
            <a:r>
              <a:rPr sz="1200" b="1" i="0">
                <a:solidFill>
                  <a:srgbClr val="F9E76C"/>
                </a:solidFill>
                <a:latin typeface="맑은 고딕"/>
              </a:rPr>
              <a:t>시연의 요점   </a:t>
            </a:r>
            <a:r>
              <a:rPr sz="1200" b="0" i="0">
                <a:solidFill>
                  <a:srgbClr val="FFFFFF"/>
                </a:solidFill>
                <a:latin typeface="맑은 고딕"/>
              </a:rPr>
              <a:t>SNS에서 재인코딩된 영상도 원본과 자동 재연결됩니다 — 실제 유통 환경에서 작동한다는 증거이며, C2PA가 끊기는 지점입니다.</a:t>
            </a:r>
          </a:p>
        </p:txBody>
      </p:sp>
    </p:spTree>
    <p:extLst>
      <p:ext uri="{BB962C8B-B14F-4D97-AF65-F5344CB8AC3E}">
        <p14:creationId xmlns:p14="http://schemas.microsoft.com/office/powerpoint/2010/main" val="32499766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57F28-B3E8-F644-4200-082BA0AB6CD8}"/>
            </a:ext>
          </a:extLst>
        </p:cNvPr>
        <p:cNvGrpSpPr/>
        <p:nvPr/>
      </p:nvGrpSpPr>
      <p:grpSpPr>
        <a:xfrm>
          <a:off x="0" y="0"/>
          <a:ext cx="0" cy="0"/>
          <a:chOff x="0" y="0"/>
          <a:chExt cx="0" cy="0"/>
        </a:xfrm>
      </p:grpSpPr>
      <p:sp>
        <p:nvSpPr>
          <p:cNvPr id="16" name="내용 개체 틀 2">
            <a:extLst>
              <a:ext uri="{FF2B5EF4-FFF2-40B4-BE49-F238E27FC236}">
                <a16:creationId xmlns:a16="http://schemas.microsoft.com/office/drawing/2014/main" id="{C1259860-F0D7-2696-89C7-C6D4C956C128}"/>
              </a:ext>
            </a:extLst>
          </p:cNvPr>
          <p:cNvSpPr>
            <a:spLocks noGrp="1"/>
          </p:cNvSpPr>
          <p:nvPr>
            <p:ph sz="quarter" idx="15"/>
          </p:nvPr>
        </p:nvSpPr>
        <p:spPr>
          <a:xfrm>
            <a:off x="236707" y="9236"/>
            <a:ext cx="11553218" cy="486137"/>
          </a:xfrm>
        </p:spPr>
        <p:txBody>
          <a:bodyPr anchor="ctr">
            <a:normAutofit/>
          </a:bodyPr>
          <a:lstStyle/>
          <a:p>
            <a:pPr marL="514350" indent="-514350">
              <a:buFont typeface="+mj-lt"/>
              <a:buAutoNum type="romanUcPeriod" startAt="4"/>
            </a:pPr>
            <a:r>
              <a:rPr lang="ko-KR" altLang="en-US" sz="1801" dirty="0" err="1" smtClean="0"/>
              <a:t>제안내용의</a:t>
            </a:r>
            <a:r>
              <a:rPr lang="ko-KR" altLang="en-US" sz="1801" dirty="0" smtClean="0"/>
              <a:t> 차별성</a:t>
            </a:r>
            <a:endParaRPr lang="x-none" altLang="en-US" sz="1801" dirty="0"/>
          </a:p>
        </p:txBody>
      </p:sp>
      <p:sp>
        <p:nvSpPr>
          <p:cNvPr id="17" name="TextBox 16"/>
          <p:cNvSpPr txBox="1"/>
          <p:nvPr/>
        </p:nvSpPr>
        <p:spPr>
          <a:xfrm>
            <a:off x="502920" y="566928"/>
            <a:ext cx="11155680" cy="411480"/>
          </a:xfrm>
          <a:prstGeom prst="rect">
            <a:avLst/>
          </a:prstGeom>
          <a:noFill/>
        </p:spPr>
        <p:txBody>
          <a:bodyPr wrap="square" lIns="45720" rIns="45720" tIns="27432" bIns="27432" anchor="t">
            <a:spAutoFit/>
          </a:bodyPr>
          <a:lstStyle/>
          <a:p>
            <a:pPr algn="l">
              <a:spcBef>
                <a:spcPts val="0"/>
              </a:spcBef>
            </a:pPr>
            <a:r>
              <a:rPr sz="1700" b="1" i="0">
                <a:solidFill>
                  <a:srgbClr val="1E2761"/>
                </a:solidFill>
                <a:latin typeface="맑은 고딕"/>
              </a:rPr>
              <a:t>'탐지'가 아니라 '증명'입니다 — 그리고 C2PA가 끊기는 곳에서 작동합니다</a:t>
            </a:r>
          </a:p>
        </p:txBody>
      </p:sp>
      <p:sp>
        <p:nvSpPr>
          <p:cNvPr id="18" name="Rounded Rectangle 17"/>
          <p:cNvSpPr/>
          <p:nvPr/>
        </p:nvSpPr>
        <p:spPr>
          <a:xfrm>
            <a:off x="502920" y="1106058"/>
            <a:ext cx="5486400" cy="1945843"/>
          </a:xfrm>
          <a:prstGeom prst="roundRect">
            <a:avLst>
              <a:gd name="adj" fmla="val 6000"/>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9" name="TextBox 18"/>
          <p:cNvSpPr txBox="1"/>
          <p:nvPr/>
        </p:nvSpPr>
        <p:spPr>
          <a:xfrm>
            <a:off x="685800" y="1228952"/>
            <a:ext cx="5120640" cy="327720"/>
          </a:xfrm>
          <a:prstGeom prst="rect">
            <a:avLst/>
          </a:prstGeom>
          <a:noFill/>
        </p:spPr>
        <p:txBody>
          <a:bodyPr wrap="square" lIns="45720" rIns="45720" tIns="27432" bIns="27432" anchor="t">
            <a:spAutoFit/>
          </a:bodyPr>
          <a:lstStyle/>
          <a:p>
            <a:pPr algn="l">
              <a:spcBef>
                <a:spcPts val="0"/>
              </a:spcBef>
            </a:pPr>
            <a:r>
              <a:rPr sz="1250" b="1" i="0">
                <a:solidFill>
                  <a:srgbClr val="1E2761"/>
                </a:solidFill>
                <a:latin typeface="맑은 고딕"/>
              </a:rPr>
              <a:t>vs. C2PA (콘텐츠 출처 표준)</a:t>
            </a:r>
          </a:p>
        </p:txBody>
      </p:sp>
      <p:sp>
        <p:nvSpPr>
          <p:cNvPr id="20" name="Rounded Rectangle 19"/>
          <p:cNvSpPr/>
          <p:nvPr/>
        </p:nvSpPr>
        <p:spPr>
          <a:xfrm>
            <a:off x="685800" y="1669328"/>
            <a:ext cx="777240" cy="286755"/>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1" i="0">
                <a:solidFill>
                  <a:srgbClr val="FFFFFF"/>
                </a:solidFill>
                <a:latin typeface="맑은 고딕"/>
              </a:rPr>
              <a:t>기존</a:t>
            </a:r>
          </a:p>
        </p:txBody>
      </p:sp>
      <p:sp>
        <p:nvSpPr>
          <p:cNvPr id="21" name="TextBox 20"/>
          <p:cNvSpPr txBox="1"/>
          <p:nvPr/>
        </p:nvSpPr>
        <p:spPr>
          <a:xfrm>
            <a:off x="1554480" y="1597639"/>
            <a:ext cx="4251960" cy="614476"/>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서명이 파일 메타데이터에 있어 SNS 재압축 시 소실 → 검증 체인 단절. 해외 표준이라 한국 신원체계와 미연동</a:t>
            </a:r>
          </a:p>
        </p:txBody>
      </p:sp>
      <p:sp>
        <p:nvSpPr>
          <p:cNvPr id="22" name="Rounded Rectangle 21"/>
          <p:cNvSpPr/>
          <p:nvPr/>
        </p:nvSpPr>
        <p:spPr>
          <a:xfrm>
            <a:off x="685800" y="2335011"/>
            <a:ext cx="777240" cy="286755"/>
          </a:xfrm>
          <a:prstGeom prst="roundRect">
            <a:avLst>
              <a:gd name="adj" fmla="val 5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1" i="0">
                <a:solidFill>
                  <a:srgbClr val="FFFFFF"/>
                </a:solidFill>
                <a:latin typeface="맑은 고딕"/>
              </a:rPr>
              <a:t>진본</a:t>
            </a:r>
          </a:p>
        </p:txBody>
      </p:sp>
      <p:sp>
        <p:nvSpPr>
          <p:cNvPr id="23" name="TextBox 22"/>
          <p:cNvSpPr txBox="1"/>
          <p:nvPr/>
        </p:nvSpPr>
        <p:spPr>
          <a:xfrm>
            <a:off x="1554480" y="2263322"/>
            <a:ext cx="4251960" cy="716889"/>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서명·해시를 파일이 아닌 체인에 기록 + 지각해시로 재압축 후 재연결. 모바일 신분증으로 등록자 신원까지 보증</a:t>
            </a:r>
          </a:p>
        </p:txBody>
      </p:sp>
      <p:sp>
        <p:nvSpPr>
          <p:cNvPr id="24" name="Rounded Rectangle 23"/>
          <p:cNvSpPr/>
          <p:nvPr/>
        </p:nvSpPr>
        <p:spPr>
          <a:xfrm>
            <a:off x="6172200" y="1106058"/>
            <a:ext cx="5486400" cy="1945843"/>
          </a:xfrm>
          <a:prstGeom prst="roundRect">
            <a:avLst>
              <a:gd name="adj" fmla="val 6000"/>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5" name="TextBox 24"/>
          <p:cNvSpPr txBox="1"/>
          <p:nvPr/>
        </p:nvSpPr>
        <p:spPr>
          <a:xfrm>
            <a:off x="6355080" y="1228952"/>
            <a:ext cx="5120640" cy="327720"/>
          </a:xfrm>
          <a:prstGeom prst="rect">
            <a:avLst/>
          </a:prstGeom>
          <a:noFill/>
        </p:spPr>
        <p:txBody>
          <a:bodyPr wrap="square" lIns="45720" rIns="45720" tIns="27432" bIns="27432" anchor="t">
            <a:spAutoFit/>
          </a:bodyPr>
          <a:lstStyle/>
          <a:p>
            <a:pPr algn="l">
              <a:spcBef>
                <a:spcPts val="0"/>
              </a:spcBef>
            </a:pPr>
            <a:r>
              <a:rPr sz="1250" b="1" i="0">
                <a:solidFill>
                  <a:srgbClr val="1E2761"/>
                </a:solidFill>
                <a:latin typeface="맑은 고딕"/>
              </a:rPr>
              <a:t>vs. 딥페이크 '탐지' AI</a:t>
            </a:r>
          </a:p>
        </p:txBody>
      </p:sp>
      <p:sp>
        <p:nvSpPr>
          <p:cNvPr id="26" name="Rounded Rectangle 25"/>
          <p:cNvSpPr/>
          <p:nvPr/>
        </p:nvSpPr>
        <p:spPr>
          <a:xfrm>
            <a:off x="6355080" y="1669328"/>
            <a:ext cx="777240" cy="286755"/>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1" i="0">
                <a:solidFill>
                  <a:srgbClr val="FFFFFF"/>
                </a:solidFill>
                <a:latin typeface="맑은 고딕"/>
              </a:rPr>
              <a:t>기존</a:t>
            </a:r>
          </a:p>
        </p:txBody>
      </p:sp>
      <p:sp>
        <p:nvSpPr>
          <p:cNvPr id="27" name="TextBox 26"/>
          <p:cNvSpPr txBox="1"/>
          <p:nvPr/>
        </p:nvSpPr>
        <p:spPr>
          <a:xfrm>
            <a:off x="7223760" y="1597639"/>
            <a:ext cx="4251960" cy="614476"/>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위조 여부를 확률로 추정 — 오탐·미탐 존재, 새 생성 기법마다 재학습 필요</a:t>
            </a:r>
          </a:p>
        </p:txBody>
      </p:sp>
      <p:sp>
        <p:nvSpPr>
          <p:cNvPr id="28" name="Rounded Rectangle 27"/>
          <p:cNvSpPr/>
          <p:nvPr/>
        </p:nvSpPr>
        <p:spPr>
          <a:xfrm>
            <a:off x="6355080" y="2335011"/>
            <a:ext cx="777240" cy="286755"/>
          </a:xfrm>
          <a:prstGeom prst="roundRect">
            <a:avLst>
              <a:gd name="adj" fmla="val 5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1" i="0">
                <a:solidFill>
                  <a:srgbClr val="FFFFFF"/>
                </a:solidFill>
                <a:latin typeface="맑은 고딕"/>
              </a:rPr>
              <a:t>진본</a:t>
            </a:r>
          </a:p>
        </p:txBody>
      </p:sp>
      <p:sp>
        <p:nvSpPr>
          <p:cNvPr id="29" name="TextBox 28"/>
          <p:cNvSpPr txBox="1"/>
          <p:nvPr/>
        </p:nvSpPr>
        <p:spPr>
          <a:xfrm>
            <a:off x="7223760" y="2263322"/>
            <a:ext cx="4251960" cy="716889"/>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추정이 아닌 검증. 등록자 서명과 온체인 기록을 재계산·대조해 '누가 언제' 등록했는지를 확정</a:t>
            </a:r>
          </a:p>
        </p:txBody>
      </p:sp>
      <p:sp>
        <p:nvSpPr>
          <p:cNvPr id="30" name="TextBox 29"/>
          <p:cNvSpPr txBox="1"/>
          <p:nvPr/>
        </p:nvSpPr>
        <p:spPr>
          <a:xfrm>
            <a:off x="502920" y="3256727"/>
            <a:ext cx="5486400" cy="327720"/>
          </a:xfrm>
          <a:prstGeom prst="rect">
            <a:avLst/>
          </a:prstGeom>
          <a:noFill/>
        </p:spPr>
        <p:txBody>
          <a:bodyPr wrap="square" lIns="45720" rIns="45720" tIns="27432" bIns="27432" anchor="t">
            <a:spAutoFit/>
          </a:bodyPr>
          <a:lstStyle/>
          <a:p>
            <a:pPr algn="l">
              <a:spcBef>
                <a:spcPts val="0"/>
              </a:spcBef>
            </a:pPr>
            <a:r>
              <a:rPr sz="1250" b="1" i="0">
                <a:solidFill>
                  <a:srgbClr val="2E307E"/>
                </a:solidFill>
                <a:latin typeface="맑은 고딕"/>
              </a:rPr>
              <a:t>사업적으로 의미 있는 차별점</a:t>
            </a:r>
          </a:p>
        </p:txBody>
      </p:sp>
      <p:sp>
        <p:nvSpPr>
          <p:cNvPr id="31" name="Rounded Rectangle 30"/>
          <p:cNvSpPr/>
          <p:nvPr/>
        </p:nvSpPr>
        <p:spPr>
          <a:xfrm>
            <a:off x="502920" y="3615171"/>
            <a:ext cx="2674620" cy="1536192"/>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32" name="Oval 31"/>
          <p:cNvSpPr/>
          <p:nvPr/>
        </p:nvSpPr>
        <p:spPr>
          <a:xfrm>
            <a:off x="640080" y="3768791"/>
            <a:ext cx="292608" cy="3277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맑은 고딕"/>
              </a:rPr>
              <a:t>1</a:t>
            </a:r>
          </a:p>
        </p:txBody>
      </p:sp>
      <p:sp>
        <p:nvSpPr>
          <p:cNvPr id="33" name="TextBox 32"/>
          <p:cNvSpPr txBox="1"/>
          <p:nvPr/>
        </p:nvSpPr>
        <p:spPr>
          <a:xfrm>
            <a:off x="1005840" y="3738067"/>
            <a:ext cx="2057400" cy="358444"/>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보완재 포지셔닝</a:t>
            </a:r>
          </a:p>
        </p:txBody>
      </p:sp>
      <p:sp>
        <p:nvSpPr>
          <p:cNvPr id="34" name="TextBox 33"/>
          <p:cNvSpPr txBox="1"/>
          <p:nvPr/>
        </p:nvSpPr>
        <p:spPr>
          <a:xfrm>
            <a:off x="640080" y="4147718"/>
            <a:ext cx="2423160" cy="1024128"/>
          </a:xfrm>
          <a:prstGeom prst="rect">
            <a:avLst/>
          </a:prstGeom>
          <a:noFill/>
        </p:spPr>
        <p:txBody>
          <a:bodyPr wrap="square" lIns="45720" rIns="45720" tIns="27432" bIns="27432" anchor="t">
            <a:spAutoFit/>
          </a:bodyPr>
          <a:lstStyle/>
          <a:p>
            <a:pPr algn="l">
              <a:spcBef>
                <a:spcPts val="0"/>
              </a:spcBef>
            </a:pPr>
            <a:r>
              <a:rPr sz="900" b="0" i="0">
                <a:solidFill>
                  <a:srgbClr val="404040"/>
                </a:solidFill>
                <a:latin typeface="맑은 고딕"/>
              </a:rPr>
              <a:t>C2PA와 경쟁하지 않습니다. 원본이 깨끗할 때는 C2PA, SNS에서 퍼진 뒤에는 진본 — C2PA 도입 기관에도 추가 판매 가능</a:t>
            </a:r>
          </a:p>
        </p:txBody>
      </p:sp>
      <p:sp>
        <p:nvSpPr>
          <p:cNvPr id="35" name="Rounded Rectangle 34"/>
          <p:cNvSpPr/>
          <p:nvPr/>
        </p:nvSpPr>
        <p:spPr>
          <a:xfrm>
            <a:off x="3314700" y="3615171"/>
            <a:ext cx="2674620" cy="1536192"/>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36" name="Oval 35"/>
          <p:cNvSpPr/>
          <p:nvPr/>
        </p:nvSpPr>
        <p:spPr>
          <a:xfrm>
            <a:off x="3451860" y="3768791"/>
            <a:ext cx="292608" cy="3277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맑은 고딕"/>
              </a:rPr>
              <a:t>2</a:t>
            </a:r>
          </a:p>
        </p:txBody>
      </p:sp>
      <p:sp>
        <p:nvSpPr>
          <p:cNvPr id="37" name="TextBox 36"/>
          <p:cNvSpPr txBox="1"/>
          <p:nvPr/>
        </p:nvSpPr>
        <p:spPr>
          <a:xfrm>
            <a:off x="3817620" y="3738067"/>
            <a:ext cx="2057400" cy="358444"/>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국내 신원 인프라 직결</a:t>
            </a:r>
          </a:p>
        </p:txBody>
      </p:sp>
      <p:sp>
        <p:nvSpPr>
          <p:cNvPr id="38" name="TextBox 37"/>
          <p:cNvSpPr txBox="1"/>
          <p:nvPr/>
        </p:nvSpPr>
        <p:spPr>
          <a:xfrm>
            <a:off x="3451860" y="4147718"/>
            <a:ext cx="2423160" cy="1024128"/>
          </a:xfrm>
          <a:prstGeom prst="rect">
            <a:avLst/>
          </a:prstGeom>
          <a:noFill/>
        </p:spPr>
        <p:txBody>
          <a:bodyPr wrap="square" lIns="45720" rIns="45720" tIns="27432" bIns="27432" anchor="t">
            <a:spAutoFit/>
          </a:bodyPr>
          <a:lstStyle/>
          <a:p>
            <a:pPr algn="l">
              <a:spcBef>
                <a:spcPts val="0"/>
              </a:spcBef>
            </a:pPr>
            <a:r>
              <a:rPr sz="900" b="0" i="0">
                <a:solidFill>
                  <a:srgbClr val="404040"/>
                </a:solidFill>
                <a:latin typeface="맑은 고딕"/>
              </a:rPr>
              <a:t>모바일 신분증 · Open DID · OmniOne Chain 위에 구축 — 공공 조달 시 신뢰 근거가 되고, 해외 솔루션이 따라오기 어려운 진입장벽</a:t>
            </a:r>
          </a:p>
        </p:txBody>
      </p:sp>
      <p:sp>
        <p:nvSpPr>
          <p:cNvPr id="39" name="Rounded Rectangle 38"/>
          <p:cNvSpPr/>
          <p:nvPr/>
        </p:nvSpPr>
        <p:spPr>
          <a:xfrm>
            <a:off x="6126480" y="3615171"/>
            <a:ext cx="2674620" cy="1536192"/>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40" name="Oval 39"/>
          <p:cNvSpPr/>
          <p:nvPr/>
        </p:nvSpPr>
        <p:spPr>
          <a:xfrm>
            <a:off x="6263640" y="3768791"/>
            <a:ext cx="292608" cy="3277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맑은 고딕"/>
              </a:rPr>
              <a:t>3</a:t>
            </a:r>
          </a:p>
        </p:txBody>
      </p:sp>
      <p:sp>
        <p:nvSpPr>
          <p:cNvPr id="41" name="TextBox 40"/>
          <p:cNvSpPr txBox="1"/>
          <p:nvPr/>
        </p:nvSpPr>
        <p:spPr>
          <a:xfrm>
            <a:off x="6629400" y="3738067"/>
            <a:ext cx="2057400" cy="358444"/>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도입 마찰 최소</a:t>
            </a:r>
          </a:p>
        </p:txBody>
      </p:sp>
      <p:sp>
        <p:nvSpPr>
          <p:cNvPr id="42" name="TextBox 41"/>
          <p:cNvSpPr txBox="1"/>
          <p:nvPr/>
        </p:nvSpPr>
        <p:spPr>
          <a:xfrm>
            <a:off x="6263640" y="4147718"/>
            <a:ext cx="2423160" cy="1024128"/>
          </a:xfrm>
          <a:prstGeom prst="rect">
            <a:avLst/>
          </a:prstGeom>
          <a:noFill/>
        </p:spPr>
        <p:txBody>
          <a:bodyPr wrap="square" lIns="45720" rIns="45720" tIns="27432" bIns="27432" anchor="t">
            <a:spAutoFit/>
          </a:bodyPr>
          <a:lstStyle/>
          <a:p>
            <a:pPr algn="l">
              <a:spcBef>
                <a:spcPts val="0"/>
              </a:spcBef>
            </a:pPr>
            <a:r>
              <a:rPr sz="900" b="0" i="0">
                <a:solidFill>
                  <a:srgbClr val="404040"/>
                </a:solidFill>
                <a:latin typeface="맑은 고딕"/>
              </a:rPr>
              <a:t>등록자만 앱 설치. 유통 채널(SNS · 언론)은 아무것도 바꾸지 않고, 검증자는 로그인조차 필요 없음</a:t>
            </a:r>
          </a:p>
        </p:txBody>
      </p:sp>
      <p:sp>
        <p:nvSpPr>
          <p:cNvPr id="43" name="Rounded Rectangle 42"/>
          <p:cNvSpPr/>
          <p:nvPr/>
        </p:nvSpPr>
        <p:spPr>
          <a:xfrm>
            <a:off x="8938260" y="3615171"/>
            <a:ext cx="2674620" cy="1536192"/>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44" name="Oval 43"/>
          <p:cNvSpPr/>
          <p:nvPr/>
        </p:nvSpPr>
        <p:spPr>
          <a:xfrm>
            <a:off x="9075420" y="3768791"/>
            <a:ext cx="292608" cy="3277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맑은 고딕"/>
              </a:rPr>
              <a:t>4</a:t>
            </a:r>
          </a:p>
        </p:txBody>
      </p:sp>
      <p:sp>
        <p:nvSpPr>
          <p:cNvPr id="45" name="TextBox 44"/>
          <p:cNvSpPr txBox="1"/>
          <p:nvPr/>
        </p:nvSpPr>
        <p:spPr>
          <a:xfrm>
            <a:off x="9441180" y="3738067"/>
            <a:ext cx="2057400" cy="358444"/>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낮은 한계비용</a:t>
            </a:r>
          </a:p>
        </p:txBody>
      </p:sp>
      <p:sp>
        <p:nvSpPr>
          <p:cNvPr id="46" name="TextBox 45"/>
          <p:cNvSpPr txBox="1"/>
          <p:nvPr/>
        </p:nvSpPr>
        <p:spPr>
          <a:xfrm>
            <a:off x="9075420" y="4147718"/>
            <a:ext cx="2423160" cy="1024128"/>
          </a:xfrm>
          <a:prstGeom prst="rect">
            <a:avLst/>
          </a:prstGeom>
          <a:noFill/>
        </p:spPr>
        <p:txBody>
          <a:bodyPr wrap="square" lIns="45720" rIns="45720" tIns="27432" bIns="27432" anchor="t">
            <a:spAutoFit/>
          </a:bodyPr>
          <a:lstStyle/>
          <a:p>
            <a:pPr algn="l">
              <a:spcBef>
                <a:spcPts val="0"/>
              </a:spcBef>
            </a:pPr>
            <a:r>
              <a:rPr sz="900" b="0" i="0">
                <a:solidFill>
                  <a:srgbClr val="404040"/>
                </a:solidFill>
                <a:latin typeface="맑은 고딕"/>
              </a:rPr>
              <a:t>원본 미저장 → 스토리지 비용 0. 등록 1건 = 해시 계산 + 트랜잭션 1건, 검증은 10분 캐시로 흡수</a:t>
            </a:r>
          </a:p>
        </p:txBody>
      </p:sp>
      <p:sp>
        <p:nvSpPr>
          <p:cNvPr id="47" name="Rounded Rectangle 46"/>
          <p:cNvSpPr/>
          <p:nvPr/>
        </p:nvSpPr>
        <p:spPr>
          <a:xfrm>
            <a:off x="502920" y="5356189"/>
            <a:ext cx="11155680" cy="614476"/>
          </a:xfrm>
          <a:prstGeom prst="roundRect">
            <a:avLst>
              <a:gd name="adj" fmla="val 8000"/>
            </a:avLst>
          </a:prstGeom>
          <a:solidFill>
            <a:srgbClr val="5A1F1A"/>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73152" wrap="square"/>
          <a:lstStyle/>
          <a:p>
            <a:pPr algn="l"/>
            <a:r>
              <a:rPr sz="1200" b="1" i="0">
                <a:solidFill>
                  <a:srgbClr val="F9E76C"/>
                </a:solidFill>
                <a:latin typeface="맑은 고딕"/>
              </a:rPr>
              <a:t>한계 명시   </a:t>
            </a:r>
            <a:r>
              <a:rPr sz="1200" b="0" i="0">
                <a:solidFill>
                  <a:srgbClr val="FFFFFF"/>
                </a:solidFill>
                <a:latin typeface="맑은 고딕"/>
              </a:rPr>
              <a:t>'미등록'은 '가짜'가 아닙니다 — 등록된 적이 없다는 뜻이며, 서버가 이 문구를 응답에 포함해 오인을 막습니다.</a:t>
            </a:r>
          </a:p>
        </p:txBody>
      </p:sp>
    </p:spTree>
    <p:extLst>
      <p:ext uri="{BB962C8B-B14F-4D97-AF65-F5344CB8AC3E}">
        <p14:creationId xmlns:p14="http://schemas.microsoft.com/office/powerpoint/2010/main" val="15690297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57F28-B3E8-F644-4200-082BA0AB6CD8}"/>
            </a:ext>
          </a:extLst>
        </p:cNvPr>
        <p:cNvGrpSpPr/>
        <p:nvPr/>
      </p:nvGrpSpPr>
      <p:grpSpPr>
        <a:xfrm>
          <a:off x="0" y="0"/>
          <a:ext cx="0" cy="0"/>
          <a:chOff x="0" y="0"/>
          <a:chExt cx="0" cy="0"/>
        </a:xfrm>
      </p:grpSpPr>
      <p:sp>
        <p:nvSpPr>
          <p:cNvPr id="16" name="내용 개체 틀 2">
            <a:extLst>
              <a:ext uri="{FF2B5EF4-FFF2-40B4-BE49-F238E27FC236}">
                <a16:creationId xmlns:a16="http://schemas.microsoft.com/office/drawing/2014/main" id="{C1259860-F0D7-2696-89C7-C6D4C956C128}"/>
              </a:ext>
            </a:extLst>
          </p:cNvPr>
          <p:cNvSpPr>
            <a:spLocks noGrp="1"/>
          </p:cNvSpPr>
          <p:nvPr>
            <p:ph sz="quarter" idx="15"/>
          </p:nvPr>
        </p:nvSpPr>
        <p:spPr>
          <a:xfrm>
            <a:off x="236707" y="9236"/>
            <a:ext cx="11553218" cy="486137"/>
          </a:xfrm>
        </p:spPr>
        <p:txBody>
          <a:bodyPr anchor="ctr">
            <a:normAutofit/>
          </a:bodyPr>
          <a:lstStyle/>
          <a:p>
            <a:pPr marL="514350" indent="-514350">
              <a:buFont typeface="+mj-lt"/>
              <a:buAutoNum type="romanUcPeriod" startAt="5"/>
            </a:pPr>
            <a:r>
              <a:rPr lang="ko-KR" altLang="en-US" sz="1801" dirty="0" smtClean="0"/>
              <a:t>기대효과 및 향후 계획</a:t>
            </a:r>
            <a:endParaRPr lang="x-none" altLang="en-US" sz="1801" dirty="0"/>
          </a:p>
        </p:txBody>
      </p:sp>
      <p:sp>
        <p:nvSpPr>
          <p:cNvPr id="17" name="TextBox 16"/>
          <p:cNvSpPr txBox="1"/>
          <p:nvPr/>
        </p:nvSpPr>
        <p:spPr>
          <a:xfrm>
            <a:off x="502920" y="566928"/>
            <a:ext cx="11155680" cy="411480"/>
          </a:xfrm>
          <a:prstGeom prst="rect">
            <a:avLst/>
          </a:prstGeom>
          <a:noFill/>
        </p:spPr>
        <p:txBody>
          <a:bodyPr wrap="square" lIns="45720" rIns="45720" tIns="27432" bIns="27432" anchor="t">
            <a:spAutoFit/>
          </a:bodyPr>
          <a:lstStyle/>
          <a:p>
            <a:pPr algn="l">
              <a:spcBef>
                <a:spcPts val="0"/>
              </a:spcBef>
            </a:pPr>
            <a:r>
              <a:rPr sz="1700" b="1" i="0">
                <a:solidFill>
                  <a:srgbClr val="1E2761"/>
                </a:solidFill>
                <a:latin typeface="맑은 고딕"/>
              </a:rPr>
              <a:t>비즈니스 모델 — 등록에 과금하고, 검증은 개방합니다</a:t>
            </a:r>
          </a:p>
        </p:txBody>
      </p:sp>
      <p:sp>
        <p:nvSpPr>
          <p:cNvPr id="18" name="Rectangle 17"/>
          <p:cNvSpPr/>
          <p:nvPr/>
        </p:nvSpPr>
        <p:spPr>
          <a:xfrm>
            <a:off x="502920" y="1106058"/>
            <a:ext cx="2377440" cy="36868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r>
              <a:rPr sz="1000" b="1" i="0">
                <a:solidFill>
                  <a:srgbClr val="FFFFFF"/>
                </a:solidFill>
                <a:latin typeface="맑은 고딕"/>
              </a:rPr>
              <a:t>고객</a:t>
            </a:r>
          </a:p>
        </p:txBody>
      </p:sp>
      <p:sp>
        <p:nvSpPr>
          <p:cNvPr id="19" name="Rectangle 18"/>
          <p:cNvSpPr/>
          <p:nvPr/>
        </p:nvSpPr>
        <p:spPr>
          <a:xfrm>
            <a:off x="2880360" y="1106058"/>
            <a:ext cx="3657600" cy="36868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r>
              <a:rPr sz="1000" b="1" i="0">
                <a:solidFill>
                  <a:srgbClr val="FFFFFF"/>
                </a:solidFill>
                <a:latin typeface="맑은 고딕"/>
              </a:rPr>
              <a:t>핵심 가치</a:t>
            </a:r>
          </a:p>
        </p:txBody>
      </p:sp>
      <p:sp>
        <p:nvSpPr>
          <p:cNvPr id="20" name="Rectangle 19"/>
          <p:cNvSpPr/>
          <p:nvPr/>
        </p:nvSpPr>
        <p:spPr>
          <a:xfrm>
            <a:off x="6537960" y="1106058"/>
            <a:ext cx="3291840" cy="36868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r>
              <a:rPr sz="1000" b="1" i="0">
                <a:solidFill>
                  <a:srgbClr val="FFFFFF"/>
                </a:solidFill>
                <a:latin typeface="맑은 고딕"/>
              </a:rPr>
              <a:t>수익 모델</a:t>
            </a:r>
          </a:p>
        </p:txBody>
      </p:sp>
      <p:sp>
        <p:nvSpPr>
          <p:cNvPr id="21" name="Rectangle 20"/>
          <p:cNvSpPr/>
          <p:nvPr/>
        </p:nvSpPr>
        <p:spPr>
          <a:xfrm>
            <a:off x="9829800" y="1106058"/>
            <a:ext cx="1828800" cy="36868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r>
              <a:rPr sz="1000" b="1" i="0">
                <a:solidFill>
                  <a:srgbClr val="FFFFFF"/>
                </a:solidFill>
                <a:latin typeface="맑은 고딕"/>
              </a:rPr>
              <a:t>진입 순서</a:t>
            </a:r>
          </a:p>
        </p:txBody>
      </p:sp>
      <p:sp>
        <p:nvSpPr>
          <p:cNvPr id="22" name="Rectangle 21"/>
          <p:cNvSpPr/>
          <p:nvPr/>
        </p:nvSpPr>
        <p:spPr>
          <a:xfrm>
            <a:off x="502920" y="1474744"/>
            <a:ext cx="2377440" cy="47109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950" b="1" i="0">
                <a:solidFill>
                  <a:srgbClr val="1E2761"/>
                </a:solidFill>
                <a:latin typeface="맑은 고딕"/>
              </a:rPr>
              <a:t>공공기관 · 선관위 · 지자체</a:t>
            </a:r>
          </a:p>
        </p:txBody>
      </p:sp>
      <p:sp>
        <p:nvSpPr>
          <p:cNvPr id="23" name="Rectangle 22"/>
          <p:cNvSpPr/>
          <p:nvPr/>
        </p:nvSpPr>
        <p:spPr>
          <a:xfrm>
            <a:off x="2880360" y="1474744"/>
            <a:ext cx="3657600" cy="47109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950" b="0" i="0">
                <a:solidFill>
                  <a:srgbClr val="404040"/>
                </a:solidFill>
                <a:latin typeface="맑은 고딕"/>
              </a:rPr>
              <a:t>공식 채널 영상 진본 증명, 가짜 발언 영상 즉시 반박</a:t>
            </a:r>
          </a:p>
        </p:txBody>
      </p:sp>
      <p:sp>
        <p:nvSpPr>
          <p:cNvPr id="24" name="Rectangle 23"/>
          <p:cNvSpPr/>
          <p:nvPr/>
        </p:nvSpPr>
        <p:spPr>
          <a:xfrm>
            <a:off x="6537960" y="1474744"/>
            <a:ext cx="3291840" cy="47109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950" b="0" i="0">
                <a:solidFill>
                  <a:srgbClr val="404040"/>
                </a:solidFill>
                <a:latin typeface="맑은 고딕"/>
              </a:rPr>
              <a:t>연간 라이선스 (등록 계정 + 검증 리포트)</a:t>
            </a:r>
          </a:p>
        </p:txBody>
      </p:sp>
      <p:sp>
        <p:nvSpPr>
          <p:cNvPr id="25" name="Rectangle 24"/>
          <p:cNvSpPr/>
          <p:nvPr/>
        </p:nvSpPr>
        <p:spPr>
          <a:xfrm>
            <a:off x="9829800" y="1474744"/>
            <a:ext cx="1828800" cy="47109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950" b="0" i="0">
                <a:solidFill>
                  <a:srgbClr val="404040"/>
                </a:solidFill>
                <a:latin typeface="맑은 고딕"/>
              </a:rPr>
              <a:t>1순위 · PoC</a:t>
            </a:r>
          </a:p>
        </p:txBody>
      </p:sp>
      <p:sp>
        <p:nvSpPr>
          <p:cNvPr id="26" name="Rectangle 25"/>
          <p:cNvSpPr/>
          <p:nvPr/>
        </p:nvSpPr>
        <p:spPr>
          <a:xfrm>
            <a:off x="502920" y="1945843"/>
            <a:ext cx="2377440" cy="471098"/>
          </a:xfrm>
          <a:prstGeom prst="rect">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950" b="1" i="0">
                <a:solidFill>
                  <a:srgbClr val="1E2761"/>
                </a:solidFill>
                <a:latin typeface="맑은 고딕"/>
              </a:rPr>
              <a:t>언론사 · 방송사</a:t>
            </a:r>
          </a:p>
        </p:txBody>
      </p:sp>
      <p:sp>
        <p:nvSpPr>
          <p:cNvPr id="27" name="Rectangle 26"/>
          <p:cNvSpPr/>
          <p:nvPr/>
        </p:nvSpPr>
        <p:spPr>
          <a:xfrm>
            <a:off x="2880360" y="1945843"/>
            <a:ext cx="3657600" cy="471098"/>
          </a:xfrm>
          <a:prstGeom prst="rect">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950" b="0" i="0">
                <a:solidFill>
                  <a:srgbClr val="404040"/>
                </a:solidFill>
                <a:latin typeface="맑은 고딕"/>
              </a:rPr>
              <a:t>취재 영상 출처 증명, 제보 영상 진위 판정</a:t>
            </a:r>
          </a:p>
        </p:txBody>
      </p:sp>
      <p:sp>
        <p:nvSpPr>
          <p:cNvPr id="28" name="Rectangle 27"/>
          <p:cNvSpPr/>
          <p:nvPr/>
        </p:nvSpPr>
        <p:spPr>
          <a:xfrm>
            <a:off x="6537960" y="1945843"/>
            <a:ext cx="3291840" cy="471098"/>
          </a:xfrm>
          <a:prstGeom prst="rect">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950" b="0" i="0">
                <a:solidFill>
                  <a:srgbClr val="404040"/>
                </a:solidFill>
                <a:latin typeface="맑은 고딕"/>
              </a:rPr>
              <a:t>등록 API 종량제 + 검증 API 구독</a:t>
            </a:r>
          </a:p>
        </p:txBody>
      </p:sp>
      <p:sp>
        <p:nvSpPr>
          <p:cNvPr id="29" name="Rectangle 28"/>
          <p:cNvSpPr/>
          <p:nvPr/>
        </p:nvSpPr>
        <p:spPr>
          <a:xfrm>
            <a:off x="9829800" y="1945843"/>
            <a:ext cx="1828800" cy="471098"/>
          </a:xfrm>
          <a:prstGeom prst="rect">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950" b="0" i="0">
                <a:solidFill>
                  <a:srgbClr val="404040"/>
                </a:solidFill>
                <a:latin typeface="맑은 고딕"/>
              </a:rPr>
              <a:t>2순위</a:t>
            </a:r>
          </a:p>
        </p:txBody>
      </p:sp>
      <p:sp>
        <p:nvSpPr>
          <p:cNvPr id="30" name="Rectangle 29"/>
          <p:cNvSpPr/>
          <p:nvPr/>
        </p:nvSpPr>
        <p:spPr>
          <a:xfrm>
            <a:off x="502920" y="2416942"/>
            <a:ext cx="2377440" cy="47109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950" b="1" i="0">
                <a:solidFill>
                  <a:srgbClr val="1E2761"/>
                </a:solidFill>
                <a:latin typeface="맑은 고딕"/>
              </a:rPr>
              <a:t>기업 IR · 공식 발표</a:t>
            </a:r>
          </a:p>
        </p:txBody>
      </p:sp>
      <p:sp>
        <p:nvSpPr>
          <p:cNvPr id="31" name="Rectangle 30"/>
          <p:cNvSpPr/>
          <p:nvPr/>
        </p:nvSpPr>
        <p:spPr>
          <a:xfrm>
            <a:off x="2880360" y="2416942"/>
            <a:ext cx="3657600" cy="47109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950" b="0" i="0">
                <a:solidFill>
                  <a:srgbClr val="404040"/>
                </a:solidFill>
                <a:latin typeface="맑은 고딕"/>
              </a:rPr>
              <a:t>CEO · 공식 발표 영상의 '누가 언제' 증명</a:t>
            </a:r>
          </a:p>
        </p:txBody>
      </p:sp>
      <p:sp>
        <p:nvSpPr>
          <p:cNvPr id="32" name="Rectangle 31"/>
          <p:cNvSpPr/>
          <p:nvPr/>
        </p:nvSpPr>
        <p:spPr>
          <a:xfrm>
            <a:off x="6537960" y="2416942"/>
            <a:ext cx="3291840" cy="47109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950" b="0" i="0">
                <a:solidFill>
                  <a:srgbClr val="404040"/>
                </a:solidFill>
                <a:latin typeface="맑은 고딕"/>
              </a:rPr>
              <a:t>기업 계정 라이선스</a:t>
            </a:r>
          </a:p>
        </p:txBody>
      </p:sp>
      <p:sp>
        <p:nvSpPr>
          <p:cNvPr id="33" name="Rectangle 32"/>
          <p:cNvSpPr/>
          <p:nvPr/>
        </p:nvSpPr>
        <p:spPr>
          <a:xfrm>
            <a:off x="9829800" y="2416942"/>
            <a:ext cx="1828800" cy="47109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950" b="0" i="0">
                <a:solidFill>
                  <a:srgbClr val="404040"/>
                </a:solidFill>
                <a:latin typeface="맑은 고딕"/>
              </a:rPr>
              <a:t>3순위</a:t>
            </a:r>
          </a:p>
        </p:txBody>
      </p:sp>
      <p:sp>
        <p:nvSpPr>
          <p:cNvPr id="34" name="Rectangle 33"/>
          <p:cNvSpPr/>
          <p:nvPr/>
        </p:nvSpPr>
        <p:spPr>
          <a:xfrm>
            <a:off x="502920" y="2888040"/>
            <a:ext cx="2377440" cy="471098"/>
          </a:xfrm>
          <a:prstGeom prst="rect">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950" b="1" i="0">
                <a:solidFill>
                  <a:srgbClr val="1E2761"/>
                </a:solidFill>
                <a:latin typeface="맑은 고딕"/>
              </a:rPr>
              <a:t>플랫폼 · 팩트체크 기관</a:t>
            </a:r>
          </a:p>
        </p:txBody>
      </p:sp>
      <p:sp>
        <p:nvSpPr>
          <p:cNvPr id="35" name="Rectangle 34"/>
          <p:cNvSpPr/>
          <p:nvPr/>
        </p:nvSpPr>
        <p:spPr>
          <a:xfrm>
            <a:off x="2880360" y="2888040"/>
            <a:ext cx="3657600" cy="471098"/>
          </a:xfrm>
          <a:prstGeom prst="rect">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950" b="0" i="0">
                <a:solidFill>
                  <a:srgbClr val="404040"/>
                </a:solidFill>
                <a:latin typeface="맑은 고딕"/>
              </a:rPr>
              <a:t>대량 URL 검증 자동화</a:t>
            </a:r>
          </a:p>
        </p:txBody>
      </p:sp>
      <p:sp>
        <p:nvSpPr>
          <p:cNvPr id="36" name="Rectangle 35"/>
          <p:cNvSpPr/>
          <p:nvPr/>
        </p:nvSpPr>
        <p:spPr>
          <a:xfrm>
            <a:off x="6537960" y="2888040"/>
            <a:ext cx="3291840" cy="471098"/>
          </a:xfrm>
          <a:prstGeom prst="rect">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950" b="0" i="0">
                <a:solidFill>
                  <a:srgbClr val="404040"/>
                </a:solidFill>
                <a:latin typeface="맑은 고딕"/>
              </a:rPr>
              <a:t>검증 API 볼륨 과금</a:t>
            </a:r>
          </a:p>
        </p:txBody>
      </p:sp>
      <p:sp>
        <p:nvSpPr>
          <p:cNvPr id="37" name="Rectangle 36"/>
          <p:cNvSpPr/>
          <p:nvPr/>
        </p:nvSpPr>
        <p:spPr>
          <a:xfrm>
            <a:off x="9829800" y="2888040"/>
            <a:ext cx="1828800" cy="471098"/>
          </a:xfrm>
          <a:prstGeom prst="rect">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950" b="0" i="0">
                <a:solidFill>
                  <a:srgbClr val="404040"/>
                </a:solidFill>
                <a:latin typeface="맑은 고딕"/>
              </a:rPr>
              <a:t>확장</a:t>
            </a:r>
          </a:p>
        </p:txBody>
      </p:sp>
      <p:sp>
        <p:nvSpPr>
          <p:cNvPr id="38" name="Rectangle 37"/>
          <p:cNvSpPr/>
          <p:nvPr/>
        </p:nvSpPr>
        <p:spPr>
          <a:xfrm>
            <a:off x="502920" y="3359139"/>
            <a:ext cx="2377440" cy="47109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950" b="1" i="0">
                <a:solidFill>
                  <a:srgbClr val="1E2761"/>
                </a:solidFill>
                <a:latin typeface="맑은 고딕"/>
              </a:rPr>
              <a:t>시민</a:t>
            </a:r>
          </a:p>
        </p:txBody>
      </p:sp>
      <p:sp>
        <p:nvSpPr>
          <p:cNvPr id="39" name="Rectangle 38"/>
          <p:cNvSpPr/>
          <p:nvPr/>
        </p:nvSpPr>
        <p:spPr>
          <a:xfrm>
            <a:off x="2880360" y="3359139"/>
            <a:ext cx="3657600" cy="47109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950" b="0" i="0">
                <a:solidFill>
                  <a:srgbClr val="404040"/>
                </a:solidFill>
                <a:latin typeface="맑은 고딕"/>
              </a:rPr>
              <a:t>SNS 영상 진위 즉시 확인</a:t>
            </a:r>
          </a:p>
        </p:txBody>
      </p:sp>
      <p:sp>
        <p:nvSpPr>
          <p:cNvPr id="40" name="Rectangle 39"/>
          <p:cNvSpPr/>
          <p:nvPr/>
        </p:nvSpPr>
        <p:spPr>
          <a:xfrm>
            <a:off x="6537960" y="3359139"/>
            <a:ext cx="3291840" cy="47109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950" b="0" i="0">
                <a:solidFill>
                  <a:srgbClr val="404040"/>
                </a:solidFill>
                <a:latin typeface="맑은 고딕"/>
              </a:rPr>
              <a:t>무료 (검증 수요 → 등록 수요 견인)</a:t>
            </a:r>
          </a:p>
        </p:txBody>
      </p:sp>
      <p:sp>
        <p:nvSpPr>
          <p:cNvPr id="41" name="Rectangle 40"/>
          <p:cNvSpPr/>
          <p:nvPr/>
        </p:nvSpPr>
        <p:spPr>
          <a:xfrm>
            <a:off x="9829800" y="3359139"/>
            <a:ext cx="1828800" cy="471098"/>
          </a:xfrm>
          <a:prstGeom prst="rect">
            <a:avLst/>
          </a:prstGeom>
          <a:solidFill>
            <a:srgbClr val="F2F3F8"/>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l"/>
            <a:r>
              <a:rPr sz="950" b="0" i="0">
                <a:solidFill>
                  <a:srgbClr val="404040"/>
                </a:solidFill>
                <a:latin typeface="맑은 고딕"/>
              </a:rPr>
              <a:t>상시</a:t>
            </a:r>
          </a:p>
        </p:txBody>
      </p:sp>
      <p:sp>
        <p:nvSpPr>
          <p:cNvPr id="42" name="TextBox 41"/>
          <p:cNvSpPr txBox="1"/>
          <p:nvPr/>
        </p:nvSpPr>
        <p:spPr>
          <a:xfrm>
            <a:off x="502920" y="4024823"/>
            <a:ext cx="5486400" cy="327720"/>
          </a:xfrm>
          <a:prstGeom prst="rect">
            <a:avLst/>
          </a:prstGeom>
          <a:noFill/>
        </p:spPr>
        <p:txBody>
          <a:bodyPr wrap="square" lIns="45720" rIns="45720" tIns="27432" bIns="27432" anchor="t">
            <a:spAutoFit/>
          </a:bodyPr>
          <a:lstStyle/>
          <a:p>
            <a:pPr algn="l">
              <a:spcBef>
                <a:spcPts val="0"/>
              </a:spcBef>
            </a:pPr>
            <a:r>
              <a:rPr sz="1250" b="1" i="0">
                <a:solidFill>
                  <a:srgbClr val="2E307E"/>
                </a:solidFill>
                <a:latin typeface="맑은 고딕"/>
              </a:rPr>
              <a:t>왜 성립하는가</a:t>
            </a:r>
          </a:p>
        </p:txBody>
      </p:sp>
      <p:sp>
        <p:nvSpPr>
          <p:cNvPr id="43" name="Rounded Rectangle 42"/>
          <p:cNvSpPr/>
          <p:nvPr/>
        </p:nvSpPr>
        <p:spPr>
          <a:xfrm>
            <a:off x="502920" y="4383267"/>
            <a:ext cx="3566160" cy="1075334"/>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44" name="TextBox 43"/>
          <p:cNvSpPr txBox="1"/>
          <p:nvPr/>
        </p:nvSpPr>
        <p:spPr>
          <a:xfrm>
            <a:off x="667512" y="4485680"/>
            <a:ext cx="3200400" cy="307238"/>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양면 시장</a:t>
            </a:r>
          </a:p>
        </p:txBody>
      </p:sp>
      <p:sp>
        <p:nvSpPr>
          <p:cNvPr id="45" name="TextBox 44"/>
          <p:cNvSpPr txBox="1"/>
          <p:nvPr/>
        </p:nvSpPr>
        <p:spPr>
          <a:xfrm>
            <a:off x="667512" y="4792919"/>
            <a:ext cx="3246120" cy="665683"/>
          </a:xfrm>
          <a:prstGeom prst="rect">
            <a:avLst/>
          </a:prstGeom>
          <a:noFill/>
        </p:spPr>
        <p:txBody>
          <a:bodyPr wrap="square" lIns="45720" rIns="45720" tIns="27432" bIns="27432" anchor="t">
            <a:spAutoFit/>
          </a:bodyPr>
          <a:lstStyle/>
          <a:p>
            <a:pPr algn="l">
              <a:spcBef>
                <a:spcPts val="0"/>
              </a:spcBef>
            </a:pPr>
            <a:r>
              <a:rPr sz="900" b="0" i="0">
                <a:solidFill>
                  <a:srgbClr val="404040"/>
                </a:solidFill>
                <a:latin typeface="맑은 고딕"/>
              </a:rPr>
              <a:t>검증이 무료·무로그인이라 시청자 쪽 확산이 빠르고, 검증 요청이 늘수록 공인·기관은 등록하지 않을 이유가 없어짐</a:t>
            </a:r>
          </a:p>
        </p:txBody>
      </p:sp>
      <p:sp>
        <p:nvSpPr>
          <p:cNvPr id="46" name="Rounded Rectangle 45"/>
          <p:cNvSpPr/>
          <p:nvPr/>
        </p:nvSpPr>
        <p:spPr>
          <a:xfrm>
            <a:off x="4251959" y="4383267"/>
            <a:ext cx="3566160" cy="1075334"/>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47" name="TextBox 46"/>
          <p:cNvSpPr txBox="1"/>
          <p:nvPr/>
        </p:nvSpPr>
        <p:spPr>
          <a:xfrm>
            <a:off x="4416551" y="4485680"/>
            <a:ext cx="3200400" cy="307238"/>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단위 경제</a:t>
            </a:r>
          </a:p>
        </p:txBody>
      </p:sp>
      <p:sp>
        <p:nvSpPr>
          <p:cNvPr id="48" name="TextBox 47"/>
          <p:cNvSpPr txBox="1"/>
          <p:nvPr/>
        </p:nvSpPr>
        <p:spPr>
          <a:xfrm>
            <a:off x="4416551" y="4792919"/>
            <a:ext cx="3246120" cy="665683"/>
          </a:xfrm>
          <a:prstGeom prst="rect">
            <a:avLst/>
          </a:prstGeom>
          <a:noFill/>
        </p:spPr>
        <p:txBody>
          <a:bodyPr wrap="square" lIns="45720" rIns="45720" tIns="27432" bIns="27432" anchor="t">
            <a:spAutoFit/>
          </a:bodyPr>
          <a:lstStyle/>
          <a:p>
            <a:pPr algn="l">
              <a:spcBef>
                <a:spcPts val="0"/>
              </a:spcBef>
            </a:pPr>
            <a:r>
              <a:rPr sz="900" b="0" i="0">
                <a:solidFill>
                  <a:srgbClr val="404040"/>
                </a:solidFill>
                <a:latin typeface="맑은 고딕"/>
              </a:rPr>
              <a:t>등록 1건 = 해시 계산 + 온체인 트랜잭션 1건. 원본 미저장이라 스토리지 비용 0, 검증은 Redis 캐시 10분으로 흡수</a:t>
            </a:r>
          </a:p>
        </p:txBody>
      </p:sp>
      <p:sp>
        <p:nvSpPr>
          <p:cNvPr id="49" name="Rounded Rectangle 48"/>
          <p:cNvSpPr/>
          <p:nvPr/>
        </p:nvSpPr>
        <p:spPr>
          <a:xfrm>
            <a:off x="8001000" y="4383267"/>
            <a:ext cx="3566160" cy="1075334"/>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50" name="TextBox 49"/>
          <p:cNvSpPr txBox="1"/>
          <p:nvPr/>
        </p:nvSpPr>
        <p:spPr>
          <a:xfrm>
            <a:off x="8165592" y="4485680"/>
            <a:ext cx="3200400" cy="307238"/>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생태계 효과</a:t>
            </a:r>
          </a:p>
        </p:txBody>
      </p:sp>
      <p:sp>
        <p:nvSpPr>
          <p:cNvPr id="51" name="TextBox 50"/>
          <p:cNvSpPr txBox="1"/>
          <p:nvPr/>
        </p:nvSpPr>
        <p:spPr>
          <a:xfrm>
            <a:off x="8165592" y="4792919"/>
            <a:ext cx="3246120" cy="665683"/>
          </a:xfrm>
          <a:prstGeom prst="rect">
            <a:avLst/>
          </a:prstGeom>
          <a:noFill/>
        </p:spPr>
        <p:txBody>
          <a:bodyPr wrap="square" lIns="45720" rIns="45720" tIns="27432" bIns="27432" anchor="t">
            <a:spAutoFit/>
          </a:bodyPr>
          <a:lstStyle/>
          <a:p>
            <a:pPr algn="l">
              <a:spcBef>
                <a:spcPts val="0"/>
              </a:spcBef>
            </a:pPr>
            <a:r>
              <a:rPr sz="900" b="0" i="0">
                <a:solidFill>
                  <a:srgbClr val="404040"/>
                </a:solidFill>
                <a:latin typeface="맑은 고딕"/>
              </a:rPr>
              <a:t>모바일 신분증 활용처를 '본인인증'에서 '콘텐츠 진본'으로 확장 — OmniOne DID · Chain의 실사용 레퍼런스</a:t>
            </a:r>
          </a:p>
        </p:txBody>
      </p:sp>
      <p:sp>
        <p:nvSpPr>
          <p:cNvPr id="52" name="Rounded Rectangle 51"/>
          <p:cNvSpPr/>
          <p:nvPr/>
        </p:nvSpPr>
        <p:spPr>
          <a:xfrm>
            <a:off x="502920" y="5663427"/>
            <a:ext cx="11155680" cy="563270"/>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73152" wrap="square"/>
          <a:lstStyle/>
          <a:p>
            <a:pPr algn="l"/>
            <a:r>
              <a:rPr sz="1200" b="1" i="0">
                <a:solidFill>
                  <a:srgbClr val="F9E76C"/>
                </a:solidFill>
                <a:latin typeface="맑은 고딕"/>
              </a:rPr>
              <a:t>첫 고객   </a:t>
            </a:r>
            <a:r>
              <a:rPr sz="1200" b="0" i="0">
                <a:solidFill>
                  <a:srgbClr val="FFFFFF"/>
                </a:solidFill>
                <a:latin typeface="맑은 고딕"/>
              </a:rPr>
              <a:t>공공기관 공식 채널 1곳 PoC → 등록 캠페인으로 '등록된 영상'을 먼저 쌓고, 그 위에 언론사 검증 API를 판매합니다.</a:t>
            </a:r>
          </a:p>
        </p:txBody>
      </p:sp>
    </p:spTree>
    <p:extLst>
      <p:ext uri="{BB962C8B-B14F-4D97-AF65-F5344CB8AC3E}">
        <p14:creationId xmlns:p14="http://schemas.microsoft.com/office/powerpoint/2010/main" val="35512826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57F28-B3E8-F644-4200-082BA0AB6CD8}"/>
            </a:ext>
          </a:extLst>
        </p:cNvPr>
        <p:cNvGrpSpPr/>
        <p:nvPr/>
      </p:nvGrpSpPr>
      <p:grpSpPr>
        <a:xfrm>
          <a:off x="0" y="0"/>
          <a:ext cx="0" cy="0"/>
          <a:chOff x="0" y="0"/>
          <a:chExt cx="0" cy="0"/>
        </a:xfrm>
      </p:grpSpPr>
      <p:sp>
        <p:nvSpPr>
          <p:cNvPr id="16" name="내용 개체 틀 2">
            <a:extLst>
              <a:ext uri="{FF2B5EF4-FFF2-40B4-BE49-F238E27FC236}">
                <a16:creationId xmlns:a16="http://schemas.microsoft.com/office/drawing/2014/main" id="{C1259860-F0D7-2696-89C7-C6D4C956C128}"/>
              </a:ext>
            </a:extLst>
          </p:cNvPr>
          <p:cNvSpPr>
            <a:spLocks noGrp="1"/>
          </p:cNvSpPr>
          <p:nvPr>
            <p:ph sz="quarter" idx="15"/>
          </p:nvPr>
        </p:nvSpPr>
        <p:spPr>
          <a:xfrm>
            <a:off x="236707" y="9236"/>
            <a:ext cx="11553218" cy="486137"/>
          </a:xfrm>
        </p:spPr>
        <p:txBody>
          <a:bodyPr anchor="ctr">
            <a:normAutofit/>
          </a:bodyPr>
          <a:lstStyle/>
          <a:p>
            <a:pPr marL="514350" indent="-514350">
              <a:buFont typeface="+mj-lt"/>
              <a:buAutoNum type="romanUcPeriod" startAt="5"/>
            </a:pPr>
            <a:r>
              <a:rPr lang="ko-KR" altLang="en-US" sz="1801" dirty="0" smtClean="0"/>
              <a:t>기대효과 및 향후 계획</a:t>
            </a:r>
            <a:endParaRPr lang="x-none" altLang="en-US" sz="1801" dirty="0"/>
          </a:p>
        </p:txBody>
      </p:sp>
      <p:sp>
        <p:nvSpPr>
          <p:cNvPr id="17" name="TextBox 16"/>
          <p:cNvSpPr txBox="1"/>
          <p:nvPr/>
        </p:nvSpPr>
        <p:spPr>
          <a:xfrm>
            <a:off x="502920" y="566928"/>
            <a:ext cx="11155680" cy="411480"/>
          </a:xfrm>
          <a:prstGeom prst="rect">
            <a:avLst/>
          </a:prstGeom>
          <a:noFill/>
        </p:spPr>
        <p:txBody>
          <a:bodyPr wrap="square" lIns="45720" rIns="45720" tIns="27432" bIns="27432" anchor="t">
            <a:spAutoFit/>
          </a:bodyPr>
          <a:lstStyle/>
          <a:p>
            <a:pPr algn="l">
              <a:spcBef>
                <a:spcPts val="0"/>
              </a:spcBef>
            </a:pPr>
            <a:r>
              <a:rPr sz="1700" b="1" i="0">
                <a:solidFill>
                  <a:srgbClr val="1E2761"/>
                </a:solidFill>
                <a:latin typeface="맑은 고딕"/>
              </a:rPr>
              <a:t>향후 계획 — MVP의 한계를 알고 있고, 해소 순서가 정해져 있습니다</a:t>
            </a:r>
          </a:p>
        </p:txBody>
      </p:sp>
      <p:sp>
        <p:nvSpPr>
          <p:cNvPr id="18" name="Rounded Rectangle 17"/>
          <p:cNvSpPr/>
          <p:nvPr/>
        </p:nvSpPr>
        <p:spPr>
          <a:xfrm>
            <a:off x="502920" y="1106058"/>
            <a:ext cx="3566160" cy="2150668"/>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9" name="Rounded Rectangle 18"/>
          <p:cNvSpPr/>
          <p:nvPr/>
        </p:nvSpPr>
        <p:spPr>
          <a:xfrm>
            <a:off x="685800" y="1290401"/>
            <a:ext cx="1097280" cy="286755"/>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50" b="1" i="0">
                <a:solidFill>
                  <a:srgbClr val="FFFFFF"/>
                </a:solidFill>
                <a:latin typeface="맑은 고딕"/>
              </a:rPr>
              <a:t>2026 4Q</a:t>
            </a:r>
          </a:p>
        </p:txBody>
      </p:sp>
      <p:sp>
        <p:nvSpPr>
          <p:cNvPr id="20" name="TextBox 19"/>
          <p:cNvSpPr txBox="1"/>
          <p:nvPr/>
        </p:nvSpPr>
        <p:spPr>
          <a:xfrm>
            <a:off x="1874519" y="1249435"/>
            <a:ext cx="2011680" cy="358444"/>
          </a:xfrm>
          <a:prstGeom prst="rect">
            <a:avLst/>
          </a:prstGeom>
          <a:noFill/>
        </p:spPr>
        <p:txBody>
          <a:bodyPr wrap="square" lIns="45720" rIns="45720" tIns="27432" bIns="27432" anchor="t">
            <a:spAutoFit/>
          </a:bodyPr>
          <a:lstStyle/>
          <a:p>
            <a:pPr algn="l">
              <a:spcBef>
                <a:spcPts val="0"/>
              </a:spcBef>
            </a:pPr>
            <a:r>
              <a:rPr sz="1300" b="1" i="0">
                <a:solidFill>
                  <a:srgbClr val="1E2761"/>
                </a:solidFill>
                <a:latin typeface="맑은 고딕"/>
              </a:rPr>
              <a:t>Phase 1 · 진입</a:t>
            </a:r>
          </a:p>
        </p:txBody>
      </p:sp>
      <p:sp>
        <p:nvSpPr>
          <p:cNvPr id="21" name="TextBox 20"/>
          <p:cNvSpPr txBox="1"/>
          <p:nvPr/>
        </p:nvSpPr>
        <p:spPr>
          <a:xfrm>
            <a:off x="685800" y="1720533"/>
            <a:ext cx="3246120" cy="1484985"/>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 공공기관 공식 채널 PoC 1곳</a:t>
            </a:r>
          </a:p>
          <a:p>
            <a:pPr algn="l">
              <a:spcBef>
                <a:spcPts val="200"/>
              </a:spcBef>
            </a:pPr>
            <a:r>
              <a:rPr sz="950" b="0" i="0">
                <a:solidFill>
                  <a:srgbClr val="404040"/>
                </a:solidFill>
                <a:latin typeface="맑은 고딕"/>
              </a:rPr>
              <a:t>· Android 앱 (등록 채널 확대)</a:t>
            </a:r>
          </a:p>
          <a:p>
            <a:pPr algn="l">
              <a:spcBef>
                <a:spcPts val="200"/>
              </a:spcBef>
            </a:pPr>
            <a:r>
              <a:rPr sz="950" b="0" i="0">
                <a:solidFill>
                  <a:srgbClr val="404040"/>
                </a:solidFill>
                <a:latin typeface="맑은 고딕"/>
              </a:rPr>
              <a:t>· 등록 캠페인으로 초기 등록 영상 확보</a:t>
            </a:r>
          </a:p>
        </p:txBody>
      </p:sp>
      <p:sp>
        <p:nvSpPr>
          <p:cNvPr id="22" name="Right Arrow 21"/>
          <p:cNvSpPr/>
          <p:nvPr/>
        </p:nvSpPr>
        <p:spPr>
          <a:xfrm>
            <a:off x="4096512" y="2027773"/>
            <a:ext cx="128016" cy="307238"/>
          </a:xfrm>
          <a:prstGeom prst="rightArrow">
            <a:avLst/>
          </a:prstGeom>
          <a:solidFill>
            <a:srgbClr val="D5D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251959" y="1106058"/>
            <a:ext cx="3566160" cy="2150668"/>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4" name="Rounded Rectangle 23"/>
          <p:cNvSpPr/>
          <p:nvPr/>
        </p:nvSpPr>
        <p:spPr>
          <a:xfrm>
            <a:off x="4434840" y="1290401"/>
            <a:ext cx="1097280" cy="286755"/>
          </a:xfrm>
          <a:prstGeom prst="roundRect">
            <a:avLst>
              <a:gd name="adj" fmla="val 50000"/>
            </a:avLst>
          </a:prstGeom>
          <a:solidFill>
            <a:srgbClr val="2E307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50" b="1" i="0">
                <a:solidFill>
                  <a:srgbClr val="FFFFFF"/>
                </a:solidFill>
                <a:latin typeface="맑은 고딕"/>
              </a:rPr>
              <a:t>2027 상반기</a:t>
            </a:r>
          </a:p>
        </p:txBody>
      </p:sp>
      <p:sp>
        <p:nvSpPr>
          <p:cNvPr id="25" name="TextBox 24"/>
          <p:cNvSpPr txBox="1"/>
          <p:nvPr/>
        </p:nvSpPr>
        <p:spPr>
          <a:xfrm>
            <a:off x="5623559" y="1249435"/>
            <a:ext cx="2011680" cy="358444"/>
          </a:xfrm>
          <a:prstGeom prst="rect">
            <a:avLst/>
          </a:prstGeom>
          <a:noFill/>
        </p:spPr>
        <p:txBody>
          <a:bodyPr wrap="square" lIns="45720" rIns="45720" tIns="27432" bIns="27432" anchor="t">
            <a:spAutoFit/>
          </a:bodyPr>
          <a:lstStyle/>
          <a:p>
            <a:pPr algn="l">
              <a:spcBef>
                <a:spcPts val="0"/>
              </a:spcBef>
            </a:pPr>
            <a:r>
              <a:rPr sz="1300" b="1" i="0">
                <a:solidFill>
                  <a:srgbClr val="1E2761"/>
                </a:solidFill>
                <a:latin typeface="맑은 고딕"/>
              </a:rPr>
              <a:t>Phase 2 · 확장</a:t>
            </a:r>
          </a:p>
        </p:txBody>
      </p:sp>
      <p:sp>
        <p:nvSpPr>
          <p:cNvPr id="26" name="TextBox 25"/>
          <p:cNvSpPr txBox="1"/>
          <p:nvPr/>
        </p:nvSpPr>
        <p:spPr>
          <a:xfrm>
            <a:off x="4434840" y="1720533"/>
            <a:ext cx="3246120" cy="1484985"/>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 언론사 등록·검증 API 파트너십</a:t>
            </a:r>
          </a:p>
          <a:p>
            <a:pPr algn="l">
              <a:spcBef>
                <a:spcPts val="200"/>
              </a:spcBef>
            </a:pPr>
            <a:r>
              <a:rPr sz="950" b="0" i="0">
                <a:solidFill>
                  <a:srgbClr val="404040"/>
                </a:solidFill>
                <a:latin typeface="맑은 고딕"/>
              </a:rPr>
              <a:t>· 유사도 검색 인덱싱 (선형 순회 → 벡터 인덱스)</a:t>
            </a:r>
          </a:p>
          <a:p>
            <a:pPr algn="l">
              <a:spcBef>
                <a:spcPts val="200"/>
              </a:spcBef>
            </a:pPr>
            <a:r>
              <a:rPr sz="950" b="0" i="0">
                <a:solidFill>
                  <a:srgbClr val="404040"/>
                </a:solidFill>
                <a:latin typeface="맑은 고딕"/>
              </a:rPr>
              <a:t>· 크롭·자막·숏폼 대응 — 구간 단위 해시 등록</a:t>
            </a:r>
          </a:p>
          <a:p>
            <a:pPr algn="l">
              <a:spcBef>
                <a:spcPts val="200"/>
              </a:spcBef>
            </a:pPr>
            <a:r>
              <a:rPr sz="950" b="0" i="0">
                <a:solidFill>
                  <a:srgbClr val="404040"/>
                </a:solidFill>
                <a:latin typeface="맑은 고딕"/>
              </a:rPr>
              <a:t>· 기관용 검증 리포트 대시보드</a:t>
            </a:r>
          </a:p>
        </p:txBody>
      </p:sp>
      <p:sp>
        <p:nvSpPr>
          <p:cNvPr id="27" name="Right Arrow 26"/>
          <p:cNvSpPr/>
          <p:nvPr/>
        </p:nvSpPr>
        <p:spPr>
          <a:xfrm>
            <a:off x="7845552" y="2027773"/>
            <a:ext cx="128016" cy="307238"/>
          </a:xfrm>
          <a:prstGeom prst="rightArrow">
            <a:avLst/>
          </a:prstGeom>
          <a:solidFill>
            <a:srgbClr val="D5D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001000" y="1106058"/>
            <a:ext cx="3566160" cy="2150668"/>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9" name="Rounded Rectangle 28"/>
          <p:cNvSpPr/>
          <p:nvPr/>
        </p:nvSpPr>
        <p:spPr>
          <a:xfrm>
            <a:off x="8183879" y="1290401"/>
            <a:ext cx="1097280" cy="286755"/>
          </a:xfrm>
          <a:prstGeom prst="roundRect">
            <a:avLst>
              <a:gd name="adj" fmla="val 50000"/>
            </a:avLst>
          </a:prstGeom>
          <a:solidFill>
            <a:srgbClr val="2E307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50" b="1" i="0">
                <a:solidFill>
                  <a:srgbClr val="FFFFFF"/>
                </a:solidFill>
                <a:latin typeface="맑은 고딕"/>
              </a:rPr>
              <a:t>2027 하반기~</a:t>
            </a:r>
          </a:p>
        </p:txBody>
      </p:sp>
      <p:sp>
        <p:nvSpPr>
          <p:cNvPr id="30" name="TextBox 29"/>
          <p:cNvSpPr txBox="1"/>
          <p:nvPr/>
        </p:nvSpPr>
        <p:spPr>
          <a:xfrm>
            <a:off x="9372600" y="1249435"/>
            <a:ext cx="2011680" cy="358444"/>
          </a:xfrm>
          <a:prstGeom prst="rect">
            <a:avLst/>
          </a:prstGeom>
          <a:noFill/>
        </p:spPr>
        <p:txBody>
          <a:bodyPr wrap="square" lIns="45720" rIns="45720" tIns="27432" bIns="27432" anchor="t">
            <a:spAutoFit/>
          </a:bodyPr>
          <a:lstStyle/>
          <a:p>
            <a:pPr algn="l">
              <a:spcBef>
                <a:spcPts val="0"/>
              </a:spcBef>
            </a:pPr>
            <a:r>
              <a:rPr sz="1300" b="1" i="0">
                <a:solidFill>
                  <a:srgbClr val="1E2761"/>
                </a:solidFill>
                <a:latin typeface="맑은 고딕"/>
              </a:rPr>
              <a:t>Phase 3 · 스케일</a:t>
            </a:r>
          </a:p>
        </p:txBody>
      </p:sp>
      <p:sp>
        <p:nvSpPr>
          <p:cNvPr id="31" name="TextBox 30"/>
          <p:cNvSpPr txBox="1"/>
          <p:nvPr/>
        </p:nvSpPr>
        <p:spPr>
          <a:xfrm>
            <a:off x="8183879" y="1720533"/>
            <a:ext cx="3246120" cy="1484985"/>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 영상 → 이미지·문서 진본 증명으로 확장</a:t>
            </a:r>
          </a:p>
          <a:p>
            <a:pPr algn="l">
              <a:spcBef>
                <a:spcPts val="200"/>
              </a:spcBef>
            </a:pPr>
            <a:r>
              <a:rPr sz="950" b="0" i="0">
                <a:solidFill>
                  <a:srgbClr val="404040"/>
                </a:solidFill>
                <a:latin typeface="맑은 고딕"/>
              </a:rPr>
              <a:t>· 플랫폼·팩트체크 기관 대량 검증 API</a:t>
            </a:r>
          </a:p>
          <a:p>
            <a:pPr algn="l">
              <a:spcBef>
                <a:spcPts val="200"/>
              </a:spcBef>
            </a:pPr>
            <a:r>
              <a:rPr sz="950" b="0" i="0">
                <a:solidFill>
                  <a:srgbClr val="404040"/>
                </a:solidFill>
                <a:latin typeface="맑은 고딕"/>
              </a:rPr>
              <a:t>· 기업 IR · 계약 영상 라이선스</a:t>
            </a:r>
          </a:p>
          <a:p>
            <a:pPr algn="l">
              <a:spcBef>
                <a:spcPts val="200"/>
              </a:spcBef>
            </a:pPr>
            <a:r>
              <a:rPr sz="950" b="0" i="0">
                <a:solidFill>
                  <a:srgbClr val="404040"/>
                </a:solidFill>
                <a:latin typeface="맑은 고딕"/>
              </a:rPr>
              <a:t>· 개인 창작자 원작 증명</a:t>
            </a:r>
          </a:p>
        </p:txBody>
      </p:sp>
      <p:sp>
        <p:nvSpPr>
          <p:cNvPr id="32" name="TextBox 31"/>
          <p:cNvSpPr txBox="1"/>
          <p:nvPr/>
        </p:nvSpPr>
        <p:spPr>
          <a:xfrm>
            <a:off x="502920" y="3461552"/>
            <a:ext cx="5486400" cy="327720"/>
          </a:xfrm>
          <a:prstGeom prst="rect">
            <a:avLst/>
          </a:prstGeom>
          <a:noFill/>
        </p:spPr>
        <p:txBody>
          <a:bodyPr wrap="square" lIns="45720" rIns="45720" tIns="27432" bIns="27432" anchor="t">
            <a:spAutoFit/>
          </a:bodyPr>
          <a:lstStyle/>
          <a:p>
            <a:pPr algn="l">
              <a:spcBef>
                <a:spcPts val="0"/>
              </a:spcBef>
            </a:pPr>
            <a:r>
              <a:rPr sz="1250" b="1" i="0">
                <a:solidFill>
                  <a:srgbClr val="2E307E"/>
                </a:solidFill>
                <a:latin typeface="맑은 고딕"/>
              </a:rPr>
              <a:t>알고 있는 한계와 해소 방법</a:t>
            </a:r>
          </a:p>
        </p:txBody>
      </p:sp>
      <p:sp>
        <p:nvSpPr>
          <p:cNvPr id="33" name="Rounded Rectangle 32"/>
          <p:cNvSpPr/>
          <p:nvPr/>
        </p:nvSpPr>
        <p:spPr>
          <a:xfrm>
            <a:off x="502920" y="3819997"/>
            <a:ext cx="3566160" cy="1024128"/>
          </a:xfrm>
          <a:prstGeom prst="roundRect">
            <a:avLst>
              <a:gd name="adj" fmla="val 6000"/>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34" name="TextBox 33"/>
          <p:cNvSpPr txBox="1"/>
          <p:nvPr/>
        </p:nvSpPr>
        <p:spPr>
          <a:xfrm>
            <a:off x="667512" y="3901927"/>
            <a:ext cx="3200400" cy="307238"/>
          </a:xfrm>
          <a:prstGeom prst="rect">
            <a:avLst/>
          </a:prstGeom>
          <a:noFill/>
        </p:spPr>
        <p:txBody>
          <a:bodyPr wrap="square" lIns="45720" rIns="45720" tIns="27432" bIns="27432" anchor="t">
            <a:spAutoFit/>
          </a:bodyPr>
          <a:lstStyle/>
          <a:p>
            <a:pPr algn="l">
              <a:spcBef>
                <a:spcPts val="0"/>
              </a:spcBef>
            </a:pPr>
            <a:r>
              <a:rPr sz="1050" b="1" i="0">
                <a:solidFill>
                  <a:srgbClr val="C0392B"/>
                </a:solidFill>
                <a:latin typeface="맑은 고딕"/>
              </a:rPr>
              <a:t>유사도 검색이 선형</a:t>
            </a:r>
          </a:p>
        </p:txBody>
      </p:sp>
      <p:sp>
        <p:nvSpPr>
          <p:cNvPr id="35" name="TextBox 34"/>
          <p:cNvSpPr txBox="1"/>
          <p:nvPr/>
        </p:nvSpPr>
        <p:spPr>
          <a:xfrm>
            <a:off x="667512" y="4209166"/>
            <a:ext cx="3246120" cy="614476"/>
          </a:xfrm>
          <a:prstGeom prst="rect">
            <a:avLst/>
          </a:prstGeom>
          <a:noFill/>
        </p:spPr>
        <p:txBody>
          <a:bodyPr wrap="square" lIns="45720" rIns="45720" tIns="27432" bIns="27432" anchor="t">
            <a:spAutoFit/>
          </a:bodyPr>
          <a:lstStyle/>
          <a:p>
            <a:pPr algn="l">
              <a:spcBef>
                <a:spcPts val="0"/>
              </a:spcBef>
            </a:pPr>
            <a:r>
              <a:rPr sz="900" b="0" i="0">
                <a:solidFill>
                  <a:srgbClr val="404040"/>
                </a:solidFill>
                <a:latin typeface="맑은 고딕"/>
              </a:rPr>
              <a:t>활성 영상 전체를 순회 — MVP의 의도된 단순화. 지각해시 벡터 인덱스로 교체 (Phase 2)</a:t>
            </a:r>
          </a:p>
        </p:txBody>
      </p:sp>
      <p:sp>
        <p:nvSpPr>
          <p:cNvPr id="36" name="Rounded Rectangle 35"/>
          <p:cNvSpPr/>
          <p:nvPr/>
        </p:nvSpPr>
        <p:spPr>
          <a:xfrm>
            <a:off x="4251959" y="3819997"/>
            <a:ext cx="3566160" cy="1024128"/>
          </a:xfrm>
          <a:prstGeom prst="roundRect">
            <a:avLst>
              <a:gd name="adj" fmla="val 6000"/>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37" name="TextBox 36"/>
          <p:cNvSpPr txBox="1"/>
          <p:nvPr/>
        </p:nvSpPr>
        <p:spPr>
          <a:xfrm>
            <a:off x="4416551" y="3901927"/>
            <a:ext cx="3200400" cy="307238"/>
          </a:xfrm>
          <a:prstGeom prst="rect">
            <a:avLst/>
          </a:prstGeom>
          <a:noFill/>
        </p:spPr>
        <p:txBody>
          <a:bodyPr wrap="square" lIns="45720" rIns="45720" tIns="27432" bIns="27432" anchor="t">
            <a:spAutoFit/>
          </a:bodyPr>
          <a:lstStyle/>
          <a:p>
            <a:pPr algn="l">
              <a:spcBef>
                <a:spcPts val="0"/>
              </a:spcBef>
            </a:pPr>
            <a:r>
              <a:rPr sz="1050" b="1" i="0">
                <a:solidFill>
                  <a:srgbClr val="C0392B"/>
                </a:solidFill>
                <a:latin typeface="맑은 고딕"/>
              </a:rPr>
              <a:t>크롭·자막에 약한 지각해시</a:t>
            </a:r>
          </a:p>
        </p:txBody>
      </p:sp>
      <p:sp>
        <p:nvSpPr>
          <p:cNvPr id="38" name="TextBox 37"/>
          <p:cNvSpPr txBox="1"/>
          <p:nvPr/>
        </p:nvSpPr>
        <p:spPr>
          <a:xfrm>
            <a:off x="4416551" y="4209166"/>
            <a:ext cx="3246120" cy="614476"/>
          </a:xfrm>
          <a:prstGeom prst="rect">
            <a:avLst/>
          </a:prstGeom>
          <a:noFill/>
        </p:spPr>
        <p:txBody>
          <a:bodyPr wrap="square" lIns="45720" rIns="45720" tIns="27432" bIns="27432" anchor="t">
            <a:spAutoFit/>
          </a:bodyPr>
          <a:lstStyle/>
          <a:p>
            <a:pPr algn="l">
              <a:spcBef>
                <a:spcPts val="0"/>
              </a:spcBef>
            </a:pPr>
            <a:r>
              <a:rPr sz="900" b="0" i="0">
                <a:solidFill>
                  <a:srgbClr val="404040"/>
                </a:solidFill>
                <a:latin typeface="맑은 고딕"/>
              </a:rPr>
              <a:t>재압축·리사이즈엔 강하나 세로 크롭·자막 덮기엔 매칭 약화. 구간 단위 해시 등록으로 부분 클립 매칭 (Phase 2)</a:t>
            </a:r>
          </a:p>
        </p:txBody>
      </p:sp>
      <p:sp>
        <p:nvSpPr>
          <p:cNvPr id="39" name="Rounded Rectangle 38"/>
          <p:cNvSpPr/>
          <p:nvPr/>
        </p:nvSpPr>
        <p:spPr>
          <a:xfrm>
            <a:off x="8001000" y="3819997"/>
            <a:ext cx="3566160" cy="1024128"/>
          </a:xfrm>
          <a:prstGeom prst="roundRect">
            <a:avLst>
              <a:gd name="adj" fmla="val 6000"/>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40" name="TextBox 39"/>
          <p:cNvSpPr txBox="1"/>
          <p:nvPr/>
        </p:nvSpPr>
        <p:spPr>
          <a:xfrm>
            <a:off x="8165592" y="3901927"/>
            <a:ext cx="3200400" cy="307238"/>
          </a:xfrm>
          <a:prstGeom prst="rect">
            <a:avLst/>
          </a:prstGeom>
          <a:noFill/>
        </p:spPr>
        <p:txBody>
          <a:bodyPr wrap="square" lIns="45720" rIns="45720" tIns="27432" bIns="27432" anchor="t">
            <a:spAutoFit/>
          </a:bodyPr>
          <a:lstStyle/>
          <a:p>
            <a:pPr algn="l">
              <a:spcBef>
                <a:spcPts val="0"/>
              </a:spcBef>
            </a:pPr>
            <a:r>
              <a:rPr sz="1050" b="1" i="0">
                <a:solidFill>
                  <a:srgbClr val="C0392B"/>
                </a:solidFill>
                <a:latin typeface="맑은 고딕"/>
              </a:rPr>
              <a:t>등록 채널이 iOS뿐</a:t>
            </a:r>
          </a:p>
        </p:txBody>
      </p:sp>
      <p:sp>
        <p:nvSpPr>
          <p:cNvPr id="41" name="TextBox 40"/>
          <p:cNvSpPr txBox="1"/>
          <p:nvPr/>
        </p:nvSpPr>
        <p:spPr>
          <a:xfrm>
            <a:off x="8165592" y="4209166"/>
            <a:ext cx="3246120" cy="614476"/>
          </a:xfrm>
          <a:prstGeom prst="rect">
            <a:avLst/>
          </a:prstGeom>
          <a:noFill/>
        </p:spPr>
        <p:txBody>
          <a:bodyPr wrap="square" lIns="45720" rIns="45720" tIns="27432" bIns="27432" anchor="t">
            <a:spAutoFit/>
          </a:bodyPr>
          <a:lstStyle/>
          <a:p>
            <a:pPr algn="l">
              <a:spcBef>
                <a:spcPts val="0"/>
              </a:spcBef>
            </a:pPr>
            <a:r>
              <a:rPr sz="900" b="0" i="0">
                <a:solidFill>
                  <a:srgbClr val="404040"/>
                </a:solidFill>
                <a:latin typeface="맑은 고딕"/>
              </a:rPr>
              <a:t>Wallet SDK 제약으로 iOS 선행. Android 앱 추가 (Phase 1)</a:t>
            </a:r>
          </a:p>
        </p:txBody>
      </p:sp>
      <p:sp>
        <p:nvSpPr>
          <p:cNvPr id="42" name="TextBox 41"/>
          <p:cNvSpPr txBox="1"/>
          <p:nvPr/>
        </p:nvSpPr>
        <p:spPr>
          <a:xfrm>
            <a:off x="502920" y="4997744"/>
            <a:ext cx="3657600" cy="327720"/>
          </a:xfrm>
          <a:prstGeom prst="rect">
            <a:avLst/>
          </a:prstGeom>
          <a:noFill/>
        </p:spPr>
        <p:txBody>
          <a:bodyPr wrap="square" lIns="45720" rIns="45720" tIns="27432" bIns="27432" anchor="t">
            <a:spAutoFit/>
          </a:bodyPr>
          <a:lstStyle/>
          <a:p>
            <a:pPr algn="l">
              <a:spcBef>
                <a:spcPts val="0"/>
              </a:spcBef>
            </a:pPr>
            <a:r>
              <a:rPr sz="1250" b="1" i="0">
                <a:solidFill>
                  <a:srgbClr val="2E307E"/>
                </a:solidFill>
                <a:latin typeface="맑은 고딕"/>
              </a:rPr>
              <a:t>기대효과</a:t>
            </a:r>
          </a:p>
        </p:txBody>
      </p:sp>
      <p:sp>
        <p:nvSpPr>
          <p:cNvPr id="43" name="Rounded Rectangle 42"/>
          <p:cNvSpPr/>
          <p:nvPr/>
        </p:nvSpPr>
        <p:spPr>
          <a:xfrm>
            <a:off x="502920" y="5356189"/>
            <a:ext cx="3566160" cy="870508"/>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44" name="Rounded Rectangle 43"/>
          <p:cNvSpPr/>
          <p:nvPr/>
        </p:nvSpPr>
        <p:spPr>
          <a:xfrm>
            <a:off x="640080" y="5642945"/>
            <a:ext cx="640080" cy="286755"/>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50" b="1" i="0">
                <a:solidFill>
                  <a:srgbClr val="FFFFFF"/>
                </a:solidFill>
                <a:latin typeface="맑은 고딕"/>
              </a:rPr>
              <a:t>사회</a:t>
            </a:r>
          </a:p>
        </p:txBody>
      </p:sp>
      <p:sp>
        <p:nvSpPr>
          <p:cNvPr id="45" name="TextBox 44"/>
          <p:cNvSpPr txBox="1"/>
          <p:nvPr/>
        </p:nvSpPr>
        <p:spPr>
          <a:xfrm>
            <a:off x="1371600" y="5458601"/>
            <a:ext cx="2606040" cy="716889"/>
          </a:xfrm>
          <a:prstGeom prst="rect">
            <a:avLst/>
          </a:prstGeom>
          <a:noFill/>
        </p:spPr>
        <p:txBody>
          <a:bodyPr wrap="square" lIns="45720" rIns="45720" tIns="27432" bIns="27432" anchor="ctr">
            <a:spAutoFit/>
          </a:bodyPr>
          <a:lstStyle/>
          <a:p>
            <a:pPr algn="l">
              <a:spcBef>
                <a:spcPts val="0"/>
              </a:spcBef>
            </a:pPr>
            <a:r>
              <a:rPr sz="950" b="0" i="0">
                <a:solidFill>
                  <a:srgbClr val="404040"/>
                </a:solidFill>
                <a:latin typeface="맑은 고딕"/>
              </a:rPr>
              <a:t>정치 딥페이크 여론 조작 억제, 공식 발언의 신뢰 기반</a:t>
            </a:r>
          </a:p>
        </p:txBody>
      </p:sp>
      <p:sp>
        <p:nvSpPr>
          <p:cNvPr id="46" name="Rounded Rectangle 45"/>
          <p:cNvSpPr/>
          <p:nvPr/>
        </p:nvSpPr>
        <p:spPr>
          <a:xfrm>
            <a:off x="4251959" y="5356189"/>
            <a:ext cx="3566160" cy="870508"/>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47" name="Rounded Rectangle 46"/>
          <p:cNvSpPr/>
          <p:nvPr/>
        </p:nvSpPr>
        <p:spPr>
          <a:xfrm>
            <a:off x="4389120" y="5642945"/>
            <a:ext cx="640080" cy="286755"/>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50" b="1" i="0">
                <a:solidFill>
                  <a:srgbClr val="FFFFFF"/>
                </a:solidFill>
                <a:latin typeface="맑은 고딕"/>
              </a:rPr>
              <a:t>산업</a:t>
            </a:r>
          </a:p>
        </p:txBody>
      </p:sp>
      <p:sp>
        <p:nvSpPr>
          <p:cNvPr id="48" name="TextBox 47"/>
          <p:cNvSpPr txBox="1"/>
          <p:nvPr/>
        </p:nvSpPr>
        <p:spPr>
          <a:xfrm>
            <a:off x="5120640" y="5458601"/>
            <a:ext cx="2606040" cy="716889"/>
          </a:xfrm>
          <a:prstGeom prst="rect">
            <a:avLst/>
          </a:prstGeom>
          <a:noFill/>
        </p:spPr>
        <p:txBody>
          <a:bodyPr wrap="square" lIns="45720" rIns="45720" tIns="27432" bIns="27432" anchor="ctr">
            <a:spAutoFit/>
          </a:bodyPr>
          <a:lstStyle/>
          <a:p>
            <a:pPr algn="l">
              <a:spcBef>
                <a:spcPts val="0"/>
              </a:spcBef>
            </a:pPr>
            <a:r>
              <a:rPr sz="950" b="0" i="0">
                <a:solidFill>
                  <a:srgbClr val="404040"/>
                </a:solidFill>
                <a:latin typeface="맑은 고딕"/>
              </a:rPr>
              <a:t>모바일 신분증 활용처 확장, OmniOne DID · Chain 실사용 레퍼런스</a:t>
            </a:r>
          </a:p>
        </p:txBody>
      </p:sp>
      <p:sp>
        <p:nvSpPr>
          <p:cNvPr id="49" name="Rounded Rectangle 48"/>
          <p:cNvSpPr/>
          <p:nvPr/>
        </p:nvSpPr>
        <p:spPr>
          <a:xfrm>
            <a:off x="8001000" y="5356189"/>
            <a:ext cx="3566160" cy="870508"/>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50" name="Rounded Rectangle 49"/>
          <p:cNvSpPr/>
          <p:nvPr/>
        </p:nvSpPr>
        <p:spPr>
          <a:xfrm>
            <a:off x="8138160" y="5642945"/>
            <a:ext cx="640080" cy="286755"/>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50" b="1" i="0">
                <a:solidFill>
                  <a:srgbClr val="FFFFFF"/>
                </a:solidFill>
                <a:latin typeface="맑은 고딕"/>
              </a:rPr>
              <a:t>사업</a:t>
            </a:r>
          </a:p>
        </p:txBody>
      </p:sp>
      <p:sp>
        <p:nvSpPr>
          <p:cNvPr id="51" name="TextBox 50"/>
          <p:cNvSpPr txBox="1"/>
          <p:nvPr/>
        </p:nvSpPr>
        <p:spPr>
          <a:xfrm>
            <a:off x="8869680" y="5458601"/>
            <a:ext cx="2606040" cy="716889"/>
          </a:xfrm>
          <a:prstGeom prst="rect">
            <a:avLst/>
          </a:prstGeom>
          <a:noFill/>
        </p:spPr>
        <p:txBody>
          <a:bodyPr wrap="square" lIns="45720" rIns="45720" tIns="27432" bIns="27432" anchor="ctr">
            <a:spAutoFit/>
          </a:bodyPr>
          <a:lstStyle/>
          <a:p>
            <a:pPr algn="l">
              <a:spcBef>
                <a:spcPts val="0"/>
              </a:spcBef>
            </a:pPr>
            <a:r>
              <a:rPr sz="950" b="0" i="0">
                <a:solidFill>
                  <a:srgbClr val="404040"/>
                </a:solidFill>
                <a:latin typeface="맑은 고딕"/>
              </a:rPr>
              <a:t>B2G 진입 → B2B API로 반복 매출, 영상 외 콘텐츠로 확장</a:t>
            </a:r>
          </a:p>
        </p:txBody>
      </p:sp>
    </p:spTree>
    <p:extLst>
      <p:ext uri="{BB962C8B-B14F-4D97-AF65-F5344CB8AC3E}">
        <p14:creationId xmlns:p14="http://schemas.microsoft.com/office/powerpoint/2010/main" val="35512826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57F28-B3E8-F644-4200-082BA0AB6CD8}"/>
            </a:ext>
          </a:extLst>
        </p:cNvPr>
        <p:cNvGrpSpPr/>
        <p:nvPr/>
      </p:nvGrpSpPr>
      <p:grpSpPr>
        <a:xfrm>
          <a:off x="0" y="0"/>
          <a:ext cx="0" cy="0"/>
          <a:chOff x="0" y="0"/>
          <a:chExt cx="0" cy="0"/>
        </a:xfrm>
      </p:grpSpPr>
      <p:sp>
        <p:nvSpPr>
          <p:cNvPr id="16" name="내용 개체 틀 2">
            <a:extLst>
              <a:ext uri="{FF2B5EF4-FFF2-40B4-BE49-F238E27FC236}">
                <a16:creationId xmlns:a16="http://schemas.microsoft.com/office/drawing/2014/main" id="{C1259860-F0D7-2696-89C7-C6D4C956C128}"/>
              </a:ext>
            </a:extLst>
          </p:cNvPr>
          <p:cNvSpPr>
            <a:spLocks noGrp="1"/>
          </p:cNvSpPr>
          <p:nvPr>
            <p:ph sz="quarter" idx="15"/>
          </p:nvPr>
        </p:nvSpPr>
        <p:spPr>
          <a:xfrm>
            <a:off x="236707" y="9236"/>
            <a:ext cx="11553218" cy="486137"/>
          </a:xfrm>
        </p:spPr>
        <p:txBody>
          <a:bodyPr anchor="ctr">
            <a:normAutofit/>
          </a:bodyPr>
          <a:lstStyle/>
          <a:p>
            <a:pPr marL="514350" indent="-514350">
              <a:buFont typeface="+mj-lt"/>
              <a:buAutoNum type="romanUcPeriod" startAt="6"/>
            </a:pPr>
            <a:r>
              <a:rPr lang="ko-KR" altLang="en-US" sz="1801" dirty="0" smtClean="0"/>
              <a:t>제안내용 관련 자료</a:t>
            </a:r>
            <a:endParaRPr lang="x-none" altLang="en-US" sz="1801" dirty="0"/>
          </a:p>
        </p:txBody>
      </p:sp>
      <p:sp>
        <p:nvSpPr>
          <p:cNvPr id="17" name="TextBox 16"/>
          <p:cNvSpPr txBox="1"/>
          <p:nvPr/>
        </p:nvSpPr>
        <p:spPr>
          <a:xfrm>
            <a:off x="502920" y="566928"/>
            <a:ext cx="11155680" cy="411480"/>
          </a:xfrm>
          <a:prstGeom prst="rect">
            <a:avLst/>
          </a:prstGeom>
          <a:noFill/>
        </p:spPr>
        <p:txBody>
          <a:bodyPr wrap="square" lIns="45720" rIns="45720" tIns="27432" bIns="27432" anchor="t">
            <a:spAutoFit/>
          </a:bodyPr>
          <a:lstStyle/>
          <a:p>
            <a:pPr algn="l">
              <a:spcBef>
                <a:spcPts val="0"/>
              </a:spcBef>
            </a:pPr>
            <a:r>
              <a:rPr sz="1700" b="1" i="0">
                <a:solidFill>
                  <a:srgbClr val="1E2761"/>
                </a:solidFill>
                <a:latin typeface="맑은 고딕"/>
              </a:rPr>
              <a:t>구현 산출물과 근거 자료</a:t>
            </a:r>
          </a:p>
        </p:txBody>
      </p:sp>
      <p:sp>
        <p:nvSpPr>
          <p:cNvPr id="18" name="TextBox 17"/>
          <p:cNvSpPr txBox="1"/>
          <p:nvPr/>
        </p:nvSpPr>
        <p:spPr>
          <a:xfrm>
            <a:off x="502920" y="1054851"/>
            <a:ext cx="5486400" cy="327720"/>
          </a:xfrm>
          <a:prstGeom prst="rect">
            <a:avLst/>
          </a:prstGeom>
          <a:noFill/>
        </p:spPr>
        <p:txBody>
          <a:bodyPr wrap="square" lIns="45720" rIns="45720" tIns="27432" bIns="27432" anchor="t">
            <a:spAutoFit/>
          </a:bodyPr>
          <a:lstStyle/>
          <a:p>
            <a:pPr algn="l">
              <a:spcBef>
                <a:spcPts val="0"/>
              </a:spcBef>
            </a:pPr>
            <a:r>
              <a:rPr sz="1250" b="1" i="0">
                <a:solidFill>
                  <a:srgbClr val="2E307E"/>
                </a:solidFill>
                <a:latin typeface="맑은 고딕"/>
              </a:rPr>
              <a:t>구현 산출물</a:t>
            </a:r>
          </a:p>
        </p:txBody>
      </p:sp>
      <p:sp>
        <p:nvSpPr>
          <p:cNvPr id="19" name="Rounded Rectangle 18"/>
          <p:cNvSpPr/>
          <p:nvPr/>
        </p:nvSpPr>
        <p:spPr>
          <a:xfrm>
            <a:off x="502920" y="1413296"/>
            <a:ext cx="3474720" cy="870508"/>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0" name="TextBox 19"/>
          <p:cNvSpPr txBox="1"/>
          <p:nvPr/>
        </p:nvSpPr>
        <p:spPr>
          <a:xfrm>
            <a:off x="667512" y="1495226"/>
            <a:ext cx="3200400" cy="307238"/>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저장소 4개</a:t>
            </a:r>
          </a:p>
        </p:txBody>
      </p:sp>
      <p:sp>
        <p:nvSpPr>
          <p:cNvPr id="21" name="TextBox 20"/>
          <p:cNvSpPr txBox="1"/>
          <p:nvPr/>
        </p:nvSpPr>
        <p:spPr>
          <a:xfrm>
            <a:off x="667512" y="1802465"/>
            <a:ext cx="3200400" cy="512064"/>
          </a:xfrm>
          <a:prstGeom prst="rect">
            <a:avLst/>
          </a:prstGeom>
          <a:noFill/>
        </p:spPr>
        <p:txBody>
          <a:bodyPr wrap="square" lIns="45720" rIns="45720" tIns="27432" bIns="27432" anchor="t">
            <a:spAutoFit/>
          </a:bodyPr>
          <a:lstStyle/>
          <a:p>
            <a:pPr algn="l">
              <a:spcBef>
                <a:spcPts val="0"/>
              </a:spcBef>
            </a:pPr>
            <a:r>
              <a:rPr sz="850" b="0" i="0">
                <a:solidFill>
                  <a:srgbClr val="404040"/>
                </a:solidFill>
                <a:latin typeface="맑은 고딕"/>
              </a:rPr>
              <a:t>jinbon-backend · jinbon-ios · jinbon-web · jinbon-extension</a:t>
            </a:r>
          </a:p>
        </p:txBody>
      </p:sp>
      <p:sp>
        <p:nvSpPr>
          <p:cNvPr id="22" name="Rounded Rectangle 21"/>
          <p:cNvSpPr/>
          <p:nvPr/>
        </p:nvSpPr>
        <p:spPr>
          <a:xfrm>
            <a:off x="4114800" y="1413296"/>
            <a:ext cx="3474720" cy="870508"/>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3" name="TextBox 22"/>
          <p:cNvSpPr txBox="1"/>
          <p:nvPr/>
        </p:nvSpPr>
        <p:spPr>
          <a:xfrm>
            <a:off x="4279392" y="1495226"/>
            <a:ext cx="3200400" cy="307238"/>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API 19개</a:t>
            </a:r>
          </a:p>
        </p:txBody>
      </p:sp>
      <p:sp>
        <p:nvSpPr>
          <p:cNvPr id="24" name="TextBox 23"/>
          <p:cNvSpPr txBox="1"/>
          <p:nvPr/>
        </p:nvSpPr>
        <p:spPr>
          <a:xfrm>
            <a:off x="4279392" y="1802465"/>
            <a:ext cx="3200400" cy="512064"/>
          </a:xfrm>
          <a:prstGeom prst="rect">
            <a:avLst/>
          </a:prstGeom>
          <a:noFill/>
        </p:spPr>
        <p:txBody>
          <a:bodyPr wrap="square" lIns="45720" rIns="45720" tIns="27432" bIns="27432" anchor="t">
            <a:spAutoFit/>
          </a:bodyPr>
          <a:lstStyle/>
          <a:p>
            <a:pPr algn="l">
              <a:spcBef>
                <a:spcPts val="0"/>
              </a:spcBef>
            </a:pPr>
            <a:r>
              <a:rPr sz="850" b="0" i="0">
                <a:solidFill>
                  <a:srgbClr val="404040"/>
                </a:solidFill>
                <a:latin typeface="맑은 고딕"/>
              </a:rPr>
              <a:t>등록 · 검증 · 인증 · VC 발급, 에러 코드 체계</a:t>
            </a:r>
          </a:p>
        </p:txBody>
      </p:sp>
      <p:sp>
        <p:nvSpPr>
          <p:cNvPr id="25" name="Rounded Rectangle 24"/>
          <p:cNvSpPr/>
          <p:nvPr/>
        </p:nvSpPr>
        <p:spPr>
          <a:xfrm>
            <a:off x="502920" y="2386218"/>
            <a:ext cx="3474720" cy="870508"/>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6" name="TextBox 25"/>
          <p:cNvSpPr txBox="1"/>
          <p:nvPr/>
        </p:nvSpPr>
        <p:spPr>
          <a:xfrm>
            <a:off x="667512" y="2468148"/>
            <a:ext cx="3200400" cy="307238"/>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스마트 컨트랙트</a:t>
            </a:r>
          </a:p>
        </p:txBody>
      </p:sp>
      <p:sp>
        <p:nvSpPr>
          <p:cNvPr id="27" name="TextBox 26"/>
          <p:cNvSpPr txBox="1"/>
          <p:nvPr/>
        </p:nvSpPr>
        <p:spPr>
          <a:xfrm>
            <a:off x="667512" y="2775386"/>
            <a:ext cx="3200400" cy="512064"/>
          </a:xfrm>
          <a:prstGeom prst="rect">
            <a:avLst/>
          </a:prstGeom>
          <a:noFill/>
        </p:spPr>
        <p:txBody>
          <a:bodyPr wrap="square" lIns="45720" rIns="45720" tIns="27432" bIns="27432" anchor="t">
            <a:spAutoFit/>
          </a:bodyPr>
          <a:lstStyle/>
          <a:p>
            <a:pPr algn="l">
              <a:spcBef>
                <a:spcPts val="0"/>
              </a:spcBef>
            </a:pPr>
            <a:r>
              <a:rPr sz="850" b="0" i="0">
                <a:solidFill>
                  <a:srgbClr val="404040"/>
                </a:solidFill>
                <a:latin typeface="맑은 고딕"/>
              </a:rPr>
              <a:t>JinBon.sol — 등록 · 조회 · 비활성화 (OmniOne Chain, BESU)</a:t>
            </a:r>
          </a:p>
        </p:txBody>
      </p:sp>
      <p:sp>
        <p:nvSpPr>
          <p:cNvPr id="28" name="Rounded Rectangle 27"/>
          <p:cNvSpPr/>
          <p:nvPr/>
        </p:nvSpPr>
        <p:spPr>
          <a:xfrm>
            <a:off x="4114800" y="2386218"/>
            <a:ext cx="3474720" cy="870508"/>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9" name="TextBox 28"/>
          <p:cNvSpPr txBox="1"/>
          <p:nvPr/>
        </p:nvSpPr>
        <p:spPr>
          <a:xfrm>
            <a:off x="4279392" y="2468148"/>
            <a:ext cx="3200400" cy="307238"/>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판정 7종</a:t>
            </a:r>
          </a:p>
        </p:txBody>
      </p:sp>
      <p:sp>
        <p:nvSpPr>
          <p:cNvPr id="30" name="TextBox 29"/>
          <p:cNvSpPr txBox="1"/>
          <p:nvPr/>
        </p:nvSpPr>
        <p:spPr>
          <a:xfrm>
            <a:off x="4279392" y="2775386"/>
            <a:ext cx="3200400" cy="512064"/>
          </a:xfrm>
          <a:prstGeom prst="rect">
            <a:avLst/>
          </a:prstGeom>
          <a:noFill/>
        </p:spPr>
        <p:txBody>
          <a:bodyPr wrap="square" lIns="45720" rIns="45720" tIns="27432" bIns="27432" anchor="t">
            <a:spAutoFit/>
          </a:bodyPr>
          <a:lstStyle/>
          <a:p>
            <a:pPr algn="l">
              <a:spcBef>
                <a:spcPts val="0"/>
              </a:spcBef>
            </a:pPr>
            <a:r>
              <a:rPr sz="850" b="0" i="0">
                <a:solidFill>
                  <a:srgbClr val="404040"/>
                </a:solidFill>
                <a:latin typeface="맑은 고딕"/>
              </a:rPr>
              <a:t>EXACT_MATCH · SAME_CONTENT · SIMILAR_MATCH · NOT_REGISTERED · REVOKED · CERTIFICATE_INVALID · UNAVAILABLE</a:t>
            </a:r>
          </a:p>
        </p:txBody>
      </p:sp>
      <p:sp>
        <p:nvSpPr>
          <p:cNvPr id="31" name="Rounded Rectangle 30"/>
          <p:cNvSpPr/>
          <p:nvPr/>
        </p:nvSpPr>
        <p:spPr>
          <a:xfrm>
            <a:off x="502920" y="3359139"/>
            <a:ext cx="3474720" cy="870508"/>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32" name="TextBox 31"/>
          <p:cNvSpPr txBox="1"/>
          <p:nvPr/>
        </p:nvSpPr>
        <p:spPr>
          <a:xfrm>
            <a:off x="667512" y="3441070"/>
            <a:ext cx="3200400" cy="307238"/>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보안 설계</a:t>
            </a:r>
          </a:p>
        </p:txBody>
      </p:sp>
      <p:sp>
        <p:nvSpPr>
          <p:cNvPr id="33" name="TextBox 32"/>
          <p:cNvSpPr txBox="1"/>
          <p:nvPr/>
        </p:nvSpPr>
        <p:spPr>
          <a:xfrm>
            <a:off x="667512" y="3748308"/>
            <a:ext cx="3200400" cy="512064"/>
          </a:xfrm>
          <a:prstGeom prst="rect">
            <a:avLst/>
          </a:prstGeom>
          <a:noFill/>
        </p:spPr>
        <p:txBody>
          <a:bodyPr wrap="square" lIns="45720" rIns="45720" tIns="27432" bIns="27432" anchor="t">
            <a:spAutoFit/>
          </a:bodyPr>
          <a:lstStyle/>
          <a:p>
            <a:pPr algn="l">
              <a:spcBef>
                <a:spcPts val="0"/>
              </a:spcBef>
            </a:pPr>
            <a:r>
              <a:rPr sz="850" b="0" i="0">
                <a:solidFill>
                  <a:srgbClr val="404040"/>
                </a:solidFill>
                <a:latin typeface="맑은 고딕"/>
              </a:rPr>
              <a:t>CI는 HMAC-SHA256만 보관 · URL 검증 SSRF/DNS 리바인딩 차단 · 원본 영상 미저장</a:t>
            </a:r>
          </a:p>
        </p:txBody>
      </p:sp>
      <p:sp>
        <p:nvSpPr>
          <p:cNvPr id="34" name="Rounded Rectangle 33"/>
          <p:cNvSpPr/>
          <p:nvPr/>
        </p:nvSpPr>
        <p:spPr>
          <a:xfrm>
            <a:off x="4114800" y="3359139"/>
            <a:ext cx="3474720" cy="870508"/>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35" name="TextBox 34"/>
          <p:cNvSpPr txBox="1"/>
          <p:nvPr/>
        </p:nvSpPr>
        <p:spPr>
          <a:xfrm>
            <a:off x="4279392" y="3441070"/>
            <a:ext cx="3200400" cy="307238"/>
          </a:xfrm>
          <a:prstGeom prst="rect">
            <a:avLst/>
          </a:prstGeom>
          <a:noFill/>
        </p:spPr>
        <p:txBody>
          <a:bodyPr wrap="square" lIns="45720" rIns="45720" tIns="27432" bIns="27432" anchor="t">
            <a:spAutoFit/>
          </a:bodyPr>
          <a:lstStyle/>
          <a:p>
            <a:pPr algn="l">
              <a:spcBef>
                <a:spcPts val="0"/>
              </a:spcBef>
            </a:pPr>
            <a:r>
              <a:rPr sz="1100" b="1" i="0">
                <a:solidFill>
                  <a:srgbClr val="1E2761"/>
                </a:solidFill>
                <a:latin typeface="맑은 고딕"/>
              </a:rPr>
              <a:t>문서</a:t>
            </a:r>
          </a:p>
        </p:txBody>
      </p:sp>
      <p:sp>
        <p:nvSpPr>
          <p:cNvPr id="36" name="TextBox 35"/>
          <p:cNvSpPr txBox="1"/>
          <p:nvPr/>
        </p:nvSpPr>
        <p:spPr>
          <a:xfrm>
            <a:off x="4279392" y="3748308"/>
            <a:ext cx="3200400" cy="512064"/>
          </a:xfrm>
          <a:prstGeom prst="rect">
            <a:avLst/>
          </a:prstGeom>
          <a:noFill/>
        </p:spPr>
        <p:txBody>
          <a:bodyPr wrap="square" lIns="45720" rIns="45720" tIns="27432" bIns="27432" anchor="t">
            <a:spAutoFit/>
          </a:bodyPr>
          <a:lstStyle/>
          <a:p>
            <a:pPr algn="l">
              <a:spcBef>
                <a:spcPts val="0"/>
              </a:spcBef>
            </a:pPr>
            <a:r>
              <a:rPr sz="850" b="0" i="0">
                <a:solidFill>
                  <a:srgbClr val="404040"/>
                </a:solidFill>
                <a:latin typeface="맑은 고딕"/>
              </a:rPr>
              <a:t>아키텍처 · 플로우 · API · 데이터 모델 · 보안 · 운영 가이드</a:t>
            </a:r>
          </a:p>
        </p:txBody>
      </p:sp>
      <p:sp>
        <p:nvSpPr>
          <p:cNvPr id="37" name="Rounded Rectangle 36"/>
          <p:cNvSpPr/>
          <p:nvPr/>
        </p:nvSpPr>
        <p:spPr>
          <a:xfrm>
            <a:off x="7909560" y="1054851"/>
            <a:ext cx="3749039" cy="3277209"/>
          </a:xfrm>
          <a:prstGeom prst="roundRect">
            <a:avLst>
              <a:gd name="adj" fmla="val 6000"/>
            </a:avLst>
          </a:prstGeom>
          <a:solidFill>
            <a:srgbClr val="FFFFFF"/>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38" name="TextBox 37"/>
          <p:cNvSpPr txBox="1"/>
          <p:nvPr/>
        </p:nvSpPr>
        <p:spPr>
          <a:xfrm>
            <a:off x="8092440" y="1157264"/>
            <a:ext cx="3383280" cy="307238"/>
          </a:xfrm>
          <a:prstGeom prst="rect">
            <a:avLst/>
          </a:prstGeom>
          <a:noFill/>
        </p:spPr>
        <p:txBody>
          <a:bodyPr wrap="square" lIns="45720" rIns="45720" tIns="27432" bIns="27432" anchor="t">
            <a:spAutoFit/>
          </a:bodyPr>
          <a:lstStyle/>
          <a:p>
            <a:pPr algn="l">
              <a:spcBef>
                <a:spcPts val="0"/>
              </a:spcBef>
            </a:pPr>
            <a:r>
              <a:rPr sz="1150" b="1" i="0">
                <a:solidFill>
                  <a:srgbClr val="1E2761"/>
                </a:solidFill>
                <a:latin typeface="맑은 고딕"/>
              </a:rPr>
              <a:t>시연 · 저장소 링크</a:t>
            </a:r>
          </a:p>
        </p:txBody>
      </p:sp>
      <p:sp>
        <p:nvSpPr>
          <p:cNvPr id="39" name="Rectangle 38"/>
          <p:cNvSpPr/>
          <p:nvPr/>
        </p:nvSpPr>
        <p:spPr>
          <a:xfrm>
            <a:off x="8138160" y="1566915"/>
            <a:ext cx="1554480" cy="1741017"/>
          </a:xfrm>
          <a:prstGeom prst="rect">
            <a:avLst/>
          </a:prstGeom>
          <a:solidFill>
            <a:srgbClr val="E4E8F5"/>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40" name="TextBox 39"/>
          <p:cNvSpPr txBox="1"/>
          <p:nvPr/>
        </p:nvSpPr>
        <p:spPr>
          <a:xfrm>
            <a:off x="8138160" y="2181392"/>
            <a:ext cx="1554480" cy="512064"/>
          </a:xfrm>
          <a:prstGeom prst="rect">
            <a:avLst/>
          </a:prstGeom>
          <a:noFill/>
        </p:spPr>
        <p:txBody>
          <a:bodyPr wrap="square" lIns="45720" rIns="45720" tIns="27432" bIns="27432" anchor="t">
            <a:spAutoFit/>
          </a:bodyPr>
          <a:lstStyle/>
          <a:p>
            <a:pPr algn="ctr">
              <a:spcBef>
                <a:spcPts val="0"/>
              </a:spcBef>
            </a:pPr>
            <a:r>
              <a:rPr sz="1000" b="0" i="0">
                <a:solidFill>
                  <a:srgbClr val="7A7A7A"/>
                </a:solidFill>
                <a:latin typeface="맑은 고딕"/>
              </a:rPr>
              <a:t>[시연 영상 QR]</a:t>
            </a:r>
          </a:p>
        </p:txBody>
      </p:sp>
      <p:sp>
        <p:nvSpPr>
          <p:cNvPr id="41" name="TextBox 40"/>
          <p:cNvSpPr txBox="1"/>
          <p:nvPr/>
        </p:nvSpPr>
        <p:spPr>
          <a:xfrm>
            <a:off x="8138160" y="3359139"/>
            <a:ext cx="1554480" cy="307238"/>
          </a:xfrm>
          <a:prstGeom prst="rect">
            <a:avLst/>
          </a:prstGeom>
          <a:noFill/>
        </p:spPr>
        <p:txBody>
          <a:bodyPr wrap="square" lIns="45720" rIns="45720" tIns="27432" bIns="27432" anchor="t">
            <a:spAutoFit/>
          </a:bodyPr>
          <a:lstStyle/>
          <a:p>
            <a:pPr algn="ctr">
              <a:spcBef>
                <a:spcPts val="0"/>
              </a:spcBef>
            </a:pPr>
            <a:r>
              <a:rPr sz="1000" b="1" i="0">
                <a:solidFill>
                  <a:srgbClr val="1E2761"/>
                </a:solidFill>
                <a:latin typeface="맑은 고딕"/>
              </a:rPr>
              <a:t>시연 영상</a:t>
            </a:r>
          </a:p>
        </p:txBody>
      </p:sp>
      <p:sp>
        <p:nvSpPr>
          <p:cNvPr id="42" name="Rectangle 41"/>
          <p:cNvSpPr/>
          <p:nvPr/>
        </p:nvSpPr>
        <p:spPr>
          <a:xfrm>
            <a:off x="9921240" y="1566915"/>
            <a:ext cx="1554480" cy="1741017"/>
          </a:xfrm>
          <a:prstGeom prst="rect">
            <a:avLst/>
          </a:prstGeom>
          <a:solidFill>
            <a:srgbClr val="E4E8F5"/>
          </a:solidFill>
          <a:ln w="9525">
            <a:solidFill>
              <a:srgbClr val="D5D8E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43" name="TextBox 42"/>
          <p:cNvSpPr txBox="1"/>
          <p:nvPr/>
        </p:nvSpPr>
        <p:spPr>
          <a:xfrm>
            <a:off x="9921240" y="2181392"/>
            <a:ext cx="1554480" cy="512064"/>
          </a:xfrm>
          <a:prstGeom prst="rect">
            <a:avLst/>
          </a:prstGeom>
          <a:noFill/>
        </p:spPr>
        <p:txBody>
          <a:bodyPr wrap="square" lIns="45720" rIns="45720" tIns="27432" bIns="27432" anchor="t">
            <a:spAutoFit/>
          </a:bodyPr>
          <a:lstStyle/>
          <a:p>
            <a:pPr algn="ctr">
              <a:spcBef>
                <a:spcPts val="0"/>
              </a:spcBef>
            </a:pPr>
            <a:r>
              <a:rPr sz="1000" b="0" i="0">
                <a:solidFill>
                  <a:srgbClr val="7A7A7A"/>
                </a:solidFill>
                <a:latin typeface="맑은 고딕"/>
              </a:rPr>
              <a:t>[GitHub QR]</a:t>
            </a:r>
          </a:p>
        </p:txBody>
      </p:sp>
      <p:sp>
        <p:nvSpPr>
          <p:cNvPr id="44" name="TextBox 43"/>
          <p:cNvSpPr txBox="1"/>
          <p:nvPr/>
        </p:nvSpPr>
        <p:spPr>
          <a:xfrm>
            <a:off x="9921240" y="3359139"/>
            <a:ext cx="1554480" cy="307238"/>
          </a:xfrm>
          <a:prstGeom prst="rect">
            <a:avLst/>
          </a:prstGeom>
          <a:noFill/>
        </p:spPr>
        <p:txBody>
          <a:bodyPr wrap="square" lIns="45720" rIns="45720" tIns="27432" bIns="27432" anchor="t">
            <a:spAutoFit/>
          </a:bodyPr>
          <a:lstStyle/>
          <a:p>
            <a:pPr algn="ctr">
              <a:spcBef>
                <a:spcPts val="0"/>
              </a:spcBef>
            </a:pPr>
            <a:r>
              <a:rPr sz="1000" b="1" i="0">
                <a:solidFill>
                  <a:srgbClr val="1E2761"/>
                </a:solidFill>
                <a:latin typeface="맑은 고딕"/>
              </a:rPr>
              <a:t>GitHub</a:t>
            </a:r>
          </a:p>
        </p:txBody>
      </p:sp>
      <p:sp>
        <p:nvSpPr>
          <p:cNvPr id="45" name="TextBox 44"/>
          <p:cNvSpPr txBox="1"/>
          <p:nvPr/>
        </p:nvSpPr>
        <p:spPr>
          <a:xfrm>
            <a:off x="8092440" y="3717584"/>
            <a:ext cx="3383280" cy="512064"/>
          </a:xfrm>
          <a:prstGeom prst="rect">
            <a:avLst/>
          </a:prstGeom>
          <a:noFill/>
        </p:spPr>
        <p:txBody>
          <a:bodyPr wrap="square" lIns="45720" rIns="45720" tIns="27432" bIns="27432" anchor="t">
            <a:spAutoFit/>
          </a:bodyPr>
          <a:lstStyle/>
          <a:p>
            <a:pPr algn="l">
              <a:spcBef>
                <a:spcPts val="0"/>
              </a:spcBef>
            </a:pPr>
            <a:r>
              <a:rPr sz="900" b="0" i="0">
                <a:solidFill>
                  <a:srgbClr val="7A7A7A"/>
                </a:solidFill>
                <a:latin typeface="맑은 고딕"/>
              </a:rPr>
              <a:t>URL: [시연 영상 URL]
URL: [GitHub 저장소 URL]</a:t>
            </a:r>
          </a:p>
        </p:txBody>
      </p:sp>
      <p:sp>
        <p:nvSpPr>
          <p:cNvPr id="46" name="TextBox 45"/>
          <p:cNvSpPr txBox="1"/>
          <p:nvPr/>
        </p:nvSpPr>
        <p:spPr>
          <a:xfrm>
            <a:off x="502920" y="4434474"/>
            <a:ext cx="5486400" cy="327720"/>
          </a:xfrm>
          <a:prstGeom prst="rect">
            <a:avLst/>
          </a:prstGeom>
          <a:noFill/>
        </p:spPr>
        <p:txBody>
          <a:bodyPr wrap="square" lIns="45720" rIns="45720" tIns="27432" bIns="27432" anchor="t">
            <a:spAutoFit/>
          </a:bodyPr>
          <a:lstStyle/>
          <a:p>
            <a:pPr algn="l">
              <a:spcBef>
                <a:spcPts val="0"/>
              </a:spcBef>
            </a:pPr>
            <a:r>
              <a:rPr sz="1250" b="1" i="0">
                <a:solidFill>
                  <a:srgbClr val="2E307E"/>
                </a:solidFill>
                <a:latin typeface="맑은 고딕"/>
              </a:rPr>
              <a:t>근거 자료</a:t>
            </a:r>
          </a:p>
        </p:txBody>
      </p:sp>
      <p:sp>
        <p:nvSpPr>
          <p:cNvPr id="47" name="TextBox 46"/>
          <p:cNvSpPr txBox="1"/>
          <p:nvPr/>
        </p:nvSpPr>
        <p:spPr>
          <a:xfrm>
            <a:off x="502920" y="4792919"/>
            <a:ext cx="5486400" cy="409651"/>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 경찰청 딥페이크 성범죄 통계 (2022~2025)</a:t>
            </a:r>
          </a:p>
        </p:txBody>
      </p:sp>
      <p:sp>
        <p:nvSpPr>
          <p:cNvPr id="48" name="TextBox 47"/>
          <p:cNvSpPr txBox="1"/>
          <p:nvPr/>
        </p:nvSpPr>
        <p:spPr>
          <a:xfrm>
            <a:off x="6126480" y="4792919"/>
            <a:ext cx="5486400" cy="409651"/>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 인공지능 발전과 신뢰 기반 조성 등에 관한 기본법 (2026.1.22 시행)</a:t>
            </a:r>
          </a:p>
        </p:txBody>
      </p:sp>
      <p:sp>
        <p:nvSpPr>
          <p:cNvPr id="49" name="TextBox 48"/>
          <p:cNvSpPr txBox="1"/>
          <p:nvPr/>
        </p:nvSpPr>
        <p:spPr>
          <a:xfrm>
            <a:off x="502920" y="5223052"/>
            <a:ext cx="5486400" cy="409651"/>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 W3C DID Core v1.0 · Verifiable Credentials Data Model v2.0</a:t>
            </a:r>
          </a:p>
        </p:txBody>
      </p:sp>
      <p:sp>
        <p:nvSpPr>
          <p:cNvPr id="50" name="TextBox 49"/>
          <p:cNvSpPr txBox="1"/>
          <p:nvPr/>
        </p:nvSpPr>
        <p:spPr>
          <a:xfrm>
            <a:off x="6126480" y="5223052"/>
            <a:ext cx="5486400" cy="409651"/>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 C2PA Content Credentials 명세 (soft binding)</a:t>
            </a:r>
          </a:p>
        </p:txBody>
      </p:sp>
      <p:sp>
        <p:nvSpPr>
          <p:cNvPr id="51" name="TextBox 50"/>
          <p:cNvSpPr txBox="1"/>
          <p:nvPr/>
        </p:nvSpPr>
        <p:spPr>
          <a:xfrm>
            <a:off x="502920" y="5653186"/>
            <a:ext cx="5486400" cy="409651"/>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 OmniOne Open DID · OmniOne Chain · OmniOne CX 개발자 문서</a:t>
            </a:r>
          </a:p>
        </p:txBody>
      </p:sp>
      <p:sp>
        <p:nvSpPr>
          <p:cNvPr id="52" name="TextBox 51"/>
          <p:cNvSpPr txBox="1"/>
          <p:nvPr/>
        </p:nvSpPr>
        <p:spPr>
          <a:xfrm>
            <a:off x="6126480" y="5653186"/>
            <a:ext cx="5486400" cy="409651"/>
          </a:xfrm>
          <a:prstGeom prst="rect">
            <a:avLst/>
          </a:prstGeom>
          <a:noFill/>
        </p:spPr>
        <p:txBody>
          <a:bodyPr wrap="square" lIns="45720" rIns="45720" tIns="27432" bIns="27432" anchor="t">
            <a:spAutoFit/>
          </a:bodyPr>
          <a:lstStyle/>
          <a:p>
            <a:pPr algn="l">
              <a:spcBef>
                <a:spcPts val="0"/>
              </a:spcBef>
            </a:pPr>
            <a:r>
              <a:rPr sz="950" b="0" i="0">
                <a:solidFill>
                  <a:srgbClr val="404040"/>
                </a:solidFill>
                <a:latin typeface="맑은 고딕"/>
              </a:rPr>
              <a:t>· Perceptual hashing (DCT 기반 pHash) 문헌</a:t>
            </a:r>
          </a:p>
        </p:txBody>
      </p:sp>
    </p:spTree>
    <p:extLst>
      <p:ext uri="{BB962C8B-B14F-4D97-AF65-F5344CB8AC3E}">
        <p14:creationId xmlns:p14="http://schemas.microsoft.com/office/powerpoint/2010/main" val="23764824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61832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21417</TotalTime>
  <Words>324</Words>
  <Application>Microsoft Office PowerPoint</Application>
  <PresentationFormat>와이드스크린</PresentationFormat>
  <Paragraphs>88</Paragraphs>
  <Slides>9</Slides>
  <Notes>8</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9</vt:i4>
      </vt:variant>
    </vt:vector>
  </HeadingPairs>
  <TitlesOfParts>
    <vt:vector size="14" baseType="lpstr">
      <vt:lpstr>맑은 고딕</vt:lpstr>
      <vt:lpstr>Arial</vt:lpstr>
      <vt:lpstr>Calibri</vt:lpstr>
      <vt:lpstr>Copperplate Gothic Bold</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user;이기혁</dc:creator>
  <cp:lastModifiedBy>유호종</cp:lastModifiedBy>
  <cp:revision>1672</cp:revision>
  <cp:lastPrinted>2025-03-14T07:27:28Z</cp:lastPrinted>
  <dcterms:created xsi:type="dcterms:W3CDTF">2022-01-06T04:25:31Z</dcterms:created>
  <dcterms:modified xsi:type="dcterms:W3CDTF">2026-04-29T05:01:34Z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_SA">
    <vt:lpwstr>C:\Users\steve\Downloads\한국디지털인증협회 소개서_v0.75_20220613.pptx</vt:lpwstr>
  </property>
</Properties>
</file>