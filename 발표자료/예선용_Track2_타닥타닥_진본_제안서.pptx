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797675" cy="9926625"/>
  <p:embeddedFontLst>
    <p:embeddedFont>
      <p:font typeface="Balthazar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CECC11-C75B-477A-BA8D-D517E9C66559}">
  <a:tblStyle styleId="{9ACECC11-C75B-477A-BA8D-D517E9C66559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althazar-regular.fnt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2945660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442" y="1"/>
            <a:ext cx="2945660" cy="498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안녕하세요 2026 블록체인 AI 해커톤에 참가하게된 타닥타닥 팀의 </a:t>
            </a:r>
            <a:r>
              <a:rPr lang="ko-KR"/>
              <a:t>김다연</a:t>
            </a:r>
            <a:r>
              <a:rPr lang="ko-KR"/>
              <a:t>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저희가 제안드릴 아이디어 진본은, 모바일 신분증 기반의 공인 영상 진본 증명 플랫폼입니다.</a:t>
            </a:r>
            <a:endParaRPr/>
          </a:p>
        </p:txBody>
      </p:sp>
      <p:sp>
        <p:nvSpPr>
          <p:cNvPr id="102" name="Google Shape;102;p1:notes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90563" y="1143000"/>
            <a:ext cx="5486400" cy="30876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아이디어 개요를 함께 보시면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모바일 신분증으로 본인인증한 공인이 영상에 서명을 해두면, 블록체인에 기록되고, 시민은 SNS 영상을 즉석에서 진본인지를 확인할 수 있는 콘텐츠 진본 증명 플랫폼입니다.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메타데이터 제거로 검증이 끊기는 C2PA의 한계를 극복한다 라고 되어있는데 이 내용은 뒤에 설명드리겠습니다.</a:t>
            </a:r>
            <a:endParaRPr/>
          </a:p>
        </p:txBody>
      </p:sp>
      <p:sp>
        <p:nvSpPr>
          <p:cNvPr id="118" name="Google Shape;118;p2:notes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90563" y="1143000"/>
            <a:ext cx="5486400" cy="30876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저희 아이디어는 "딥페이크는 폭증하는데, 이걸 막을 방법은 없을까"라는 질문에서 출발했습니다.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딥페이크 범죄는 2년 만에 일곱 배 넘게 </a:t>
            </a:r>
            <a:r>
              <a:rPr lang="ko-KR"/>
              <a:t>증가했습니다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올해 1월 시행된 AI 기본법</a:t>
            </a:r>
            <a:r>
              <a:rPr lang="ko-KR"/>
              <a:t>은 이 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문제의 절반만 다룹니다.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콘텐츠에 '가짜' 표시를 의무화했지만, 정작 악의적으로 딥페이크를 만든 사람이 'AI로 만들었다'고 정직하게 표시할 리</a:t>
            </a:r>
            <a:r>
              <a:rPr lang="ko-KR"/>
              <a:t>는 없습니다.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글로벌 표준인 C2PA에는 두 가지 빈틈이 있습니다.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하나는 저장 방식입니다.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C2PA는 서명을 영상 파일 안의 메타데이터에 담습니다. 그런데 인스타그램이나 페이스북 같은 SNS는 영상을 올릴 때 용량을 줄이려고 재압축하는데, 이 과정에서 메타데이터가 제거되면서 서명도 함께 사라집니다.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정작 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사람들이 가장 많이 보는 곳에서 검증이 무력화</a:t>
            </a:r>
            <a:r>
              <a:rPr lang="ko-KR"/>
              <a:t>되는 문제가 있습니다.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또한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/>
              <a:t>C2PA는 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해외 표준이라 우리 모바일 신분증 같은 한국 신원체계와 연결되지 않습니다.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저희는 모바일 신분증과 블록체인으로 '이 영상은 본인이 만든 진본'임을 증명하고, 시민이 SNS에서 즉시 검증</a:t>
            </a:r>
            <a:r>
              <a:rPr lang="ko-KR"/>
              <a:t>할 수 있는 플랫폼을 기획했습니다.</a:t>
            </a:r>
            <a:endParaRPr/>
          </a:p>
        </p:txBody>
      </p:sp>
      <p:sp>
        <p:nvSpPr>
          <p:cNvPr id="126" name="Google Shape;126;p3:notes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690563" y="1143000"/>
            <a:ext cx="5486400" cy="30876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진본은 발행, 유통, 검증 세 단계로 동작합니다.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공인이 영상을 촬영해서 모바일 신분증으로 본인인증하여 서명하면 발행이 끝나고, 평소처럼 SNS에 게시하면, 시청자가 크롬 확장 같은 도구로 진위를 즉석에서 확인합니다.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기술 아키텍처는 다음과 같습니다.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</a:t>
            </a:r>
            <a:r>
              <a:rPr lang="ko-KR"/>
              <a:t>번째는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신원증명입니다. 서명할 때 모바일 신분증으로 본인을 인증하고 DID 자격증명을 발급해서, '이 영상을 누가 만들었는가'를 보증합니다.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두번째는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블록체인입니다. 앞서 C2PA는 서명이 파일에 들어 있어 재압축되면 사라진다고 말씀드렸는데, 진본은 서명을 영상</a:t>
            </a:r>
            <a:r>
              <a:rPr lang="ko-KR"/>
              <a:t>에 직접 넣는것이 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아니라 블록체인에 둡니다.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 자체는 올리지 않고, 영상의 지문인 지각해시와 전자서명, 서명 시각 이 세 가지만 기록합니다. 한 번 기록되면 누구도 바꿀 수 없습니다.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그렇다면 </a:t>
            </a:r>
            <a:r>
              <a:rPr lang="ko-KR"/>
              <a:t>영상이 SNS에서 재압축돼 원본과 달라졌을때 어떻게 다시 연결할 수 있을까요?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그 방법은 세번째 기술인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지각해시입니다. 일반 해시는 픽셀이 조금만 바뀌어도 값이 완전히 달라지지만, 지각해시는 사람 눈에 같아 보이면 거의 같은 값이 나옵니다. 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그래서 재압축된 영상에서 지문을 다시 뽑아 체인의 원본 지문과 대조하면, '이건 본인이 서명한 진본'이라고 재연결할 수 있습니다.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90563" y="1143000"/>
            <a:ext cx="5486400" cy="30876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>
                <a:latin typeface="Arial"/>
                <a:ea typeface="Arial"/>
                <a:cs typeface="Arial"/>
                <a:sym typeface="Arial"/>
              </a:rPr>
              <a:t>진본의 차별점은 두가지로 구분할 수 있습니다.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ko-KR" sz="1100">
                <a:latin typeface="Arial"/>
                <a:ea typeface="Arial"/>
                <a:cs typeface="Arial"/>
                <a:sym typeface="Arial"/>
              </a:rPr>
              <a:t>먼저 글로벌 표준인 C2PA와 비교하면, 재압축 후에도 다시 연결 할 수 있고, 모바일 신분증으로 발행자의 신원을 보증합니다.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Arial"/>
                <a:ea typeface="Arial"/>
                <a:cs typeface="Arial"/>
                <a:sym typeface="Arial"/>
              </a:rPr>
              <a:t>다음으로 딥페이크 탐지 AI와 비교하면, 탐지는 위조 여부를 확률로 추정해 오탐이 있지만, 진본은 추정이 아니라 본인의 서명을 검증하여 증명합니다.</a:t>
            </a:r>
            <a:br>
              <a:rPr lang="ko-KR" sz="1100">
                <a:latin typeface="Arial"/>
                <a:ea typeface="Arial"/>
                <a:cs typeface="Arial"/>
                <a:sym typeface="Arial"/>
              </a:rPr>
            </a:br>
            <a:br>
              <a:rPr lang="ko-KR" sz="1100">
                <a:latin typeface="Arial"/>
                <a:ea typeface="Arial"/>
                <a:cs typeface="Arial"/>
                <a:sym typeface="Arial"/>
              </a:rPr>
            </a:br>
            <a:r>
              <a:rPr lang="ko-KR" sz="1100">
                <a:latin typeface="Arial"/>
                <a:ea typeface="Arial"/>
                <a:cs typeface="Arial"/>
                <a:sym typeface="Arial"/>
              </a:rPr>
              <a:t>정리하면, C2PA는 콘텐츠가 깨끗한 원본일 때 강하고, 진본은 그 콘텐츠가 SNS에서 재압축되고 퍼진 뒤에도 작동합니다. 그래서 둘은 경쟁이 아니라, C2PA 위에 한국형 신원과 탈중앙 검증을 얹는 보완 관계입니다.</a:t>
            </a:r>
            <a:endParaRPr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90563" y="1143000"/>
            <a:ext cx="5486400" cy="30876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기대효과</a:t>
            </a:r>
            <a:r>
              <a:rPr lang="ko-KR"/>
              <a:t>로</a:t>
            </a:r>
            <a:r>
              <a:rPr lang="ko-KR"/>
              <a:t>는 사회, 산업, 사업 세 축으로 정리</a:t>
            </a:r>
            <a:r>
              <a:rPr lang="ko-KR"/>
              <a:t>할 수 있습니다.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사회적으로는, 정치 딥페이크로 인한 여론 조작을 억제하고 공직자 발언의 신뢰 기반을 만듭니다.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산업적으로는, 모바일 신분증의 활용처를 '콘텐츠 진본 증명'으로 넓히고, OmniOne DID·체인 생태계의 실제 레퍼런스를 확보합니다.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사업적으로는, 선관위·부처(</a:t>
            </a:r>
            <a:r>
              <a:rPr lang="ko-KR"/>
              <a:t>정부의 행정기관</a:t>
            </a:r>
            <a:r>
              <a:rPr lang="ko-KR"/>
              <a:t>) 공식 채널의 진본 증명을 우선 진입점으로, 언론사 자료 인증과 시민 검증으로 확장합니다.</a:t>
            </a:r>
            <a:endParaRPr/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690563" y="1143000"/>
            <a:ext cx="5486400" cy="30876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저희가 참고한 표준과 산출물은 다음과 같습니다.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rPr lang="ko-KR"/>
              <a:t>결선용 산출물로는 Figma 목업과 라이브 시연 영상, GitHub 저장소를 준비할 예정입니다.</a:t>
            </a:r>
            <a:endParaRPr/>
          </a:p>
        </p:txBody>
      </p:sp>
      <p:sp>
        <p:nvSpPr>
          <p:cNvPr id="245" name="Google Shape;245;p7:notes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/>
          <p:nvPr>
            <p:ph idx="2" type="sldImg"/>
          </p:nvPr>
        </p:nvSpPr>
        <p:spPr>
          <a:xfrm>
            <a:off x="690563" y="1143000"/>
            <a:ext cx="5486400" cy="30876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개발은 9월 말 완성을 목표로, </a:t>
            </a:r>
            <a:r>
              <a:rPr lang="ko-KR"/>
              <a:t>아키텍처 설계, 온체인 기록 모듈 구현, 지각해시 매칭 및 검증 기능 구현, 강건성 실측 순으로 진행할 예정입니다.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그중 현재 가장 우려되는 리스크는 지각해시의 강건성입니다.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지각해시는 재압축이나 화질 변화에는 강하지만, 영상을 세로로 크게 자르거나 자막을 덮으면 매칭이 약해집니다.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정치 딥페이크가 주로 숏폼으로 퍼지는 걸 감안하면, 저희가 반드시 풀어야 할 핵심 과제입니다.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강건성을 높이기 위해, 영상 전체를 하나의 해시로 묶지 않고, 장면 단위로 쪼개 등록</a:t>
            </a:r>
            <a:r>
              <a:rPr lang="ko-KR"/>
              <a:t>함으로써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원본의 일부만 잘라 숏폼으로 만들어도</a:t>
            </a:r>
            <a:r>
              <a:rPr lang="ko-KR"/>
              <a:t> 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원본과 매칭할 수 있게 하는 등의 설계를 진행할 예정입니다.</a:t>
            </a:r>
            <a:endParaRPr/>
          </a:p>
        </p:txBody>
      </p:sp>
      <p:sp>
        <p:nvSpPr>
          <p:cNvPr id="266" name="Google Shape;266;p8:notes"/>
          <p:cNvSpPr txBox="1"/>
          <p:nvPr>
            <p:ph idx="12" type="sldNum"/>
          </p:nvPr>
        </p:nvSpPr>
        <p:spPr>
          <a:xfrm>
            <a:off x="3850442" y="9428584"/>
            <a:ext cx="2945660" cy="498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50" lIns="91500" spcFirstLastPara="1" rIns="91500" wrap="square" tIns="457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50" lIns="91500" spcFirstLastPara="1" rIns="91500" wrap="square" tIns="45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이상으로 발표를 마치겠습니다.</a:t>
            </a:r>
            <a:r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감사합니다.</a:t>
            </a:r>
            <a:endParaRPr/>
          </a:p>
        </p:txBody>
      </p:sp>
      <p:sp>
        <p:nvSpPr>
          <p:cNvPr id="301" name="Google Shape;301;p9:notes"/>
          <p:cNvSpPr/>
          <p:nvPr>
            <p:ph idx="2" type="sldImg"/>
          </p:nvPr>
        </p:nvSpPr>
        <p:spPr>
          <a:xfrm>
            <a:off x="420688" y="1239838"/>
            <a:ext cx="5956300" cy="33512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5969501" y="6490911"/>
            <a:ext cx="3316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78302" y="680586"/>
            <a:ext cx="11713998" cy="332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2F486F"/>
              </a:buClr>
              <a:buSzPts val="2000"/>
              <a:buNone/>
              <a:defRPr b="1" i="0" sz="2000">
                <a:solidFill>
                  <a:srgbClr val="2F486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413681" y="6429527"/>
            <a:ext cx="595899" cy="26219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>
            <p:ph idx="2" type="body"/>
          </p:nvPr>
        </p:nvSpPr>
        <p:spPr>
          <a:xfrm>
            <a:off x="278302" y="126649"/>
            <a:ext cx="11713998" cy="253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lt1"/>
              </a:buClr>
              <a:buSzPts val="1401"/>
              <a:buNone/>
              <a:defRPr b="1" i="0" sz="140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>
            <a:off x="0" y="1966"/>
            <a:ext cx="12192000" cy="503001"/>
          </a:xfrm>
          <a:prstGeom prst="rect">
            <a:avLst/>
          </a:prstGeom>
          <a:gradFill>
            <a:gsLst>
              <a:gs pos="0">
                <a:srgbClr val="222A35"/>
              </a:gs>
              <a:gs pos="67000">
                <a:srgbClr val="2F549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1"/>
              <a:buFont typeface="Arial"/>
              <a:buNone/>
            </a:pPr>
            <a:r>
              <a:t/>
            </a:r>
            <a:endParaRPr b="1" i="0" sz="1401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615" l="0" r="0" t="61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0" y="3085187"/>
            <a:ext cx="12192000" cy="3772812"/>
          </a:xfrm>
          <a:prstGeom prst="rect">
            <a:avLst/>
          </a:prstGeom>
          <a:solidFill>
            <a:srgbClr val="3A3838">
              <a:alpha val="7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rgbClr val="FF884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0" y="0"/>
            <a:ext cx="12192000" cy="3085190"/>
          </a:xfrm>
          <a:prstGeom prst="rect">
            <a:avLst/>
          </a:prstGeom>
          <a:solidFill>
            <a:srgbClr val="2E307E">
              <a:alpha val="8980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t/>
            </a:r>
            <a:endParaRPr b="0" i="0" sz="1463" u="none" cap="none" strike="noStrike">
              <a:solidFill>
                <a:srgbClr val="FF884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19864" l="0" r="0" t="0"/>
          <a:stretch/>
        </p:blipFill>
        <p:spPr>
          <a:xfrm>
            <a:off x="11417715" y="6473628"/>
            <a:ext cx="500070" cy="240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675234" y="2297045"/>
            <a:ext cx="48123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</a:t>
            </a:r>
            <a:endParaRPr b="1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4065608" y="3089131"/>
            <a:ext cx="3993004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6274" y="5927988"/>
            <a:ext cx="2463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0367" y="5874081"/>
            <a:ext cx="2743199" cy="1199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801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1"/>
              <a:buNone/>
              <a:defRPr sz="180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6172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839789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b="1" sz="1801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3" type="body"/>
          </p:nvPr>
        </p:nvSpPr>
        <p:spPr>
          <a:xfrm>
            <a:off x="6172202" y="1681164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b="1" sz="1801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8"/>
          <p:cNvSpPr txBox="1"/>
          <p:nvPr>
            <p:ph idx="4" type="body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5183188" y="987426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1"/>
          <p:cNvSpPr txBox="1"/>
          <p:nvPr>
            <p:ph idx="2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1"/>
              <a:buNone/>
              <a:defRPr sz="1401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/>
          <p:nvPr>
            <p:ph idx="2" type="pic"/>
          </p:nvPr>
        </p:nvSpPr>
        <p:spPr>
          <a:xfrm>
            <a:off x="5183188" y="987426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1"/>
              <a:buNone/>
              <a:defRPr sz="1401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63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64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64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64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64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64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 flipH="1" rot="10800000">
            <a:off x="0" y="0"/>
            <a:ext cx="12192000" cy="6862121"/>
          </a:xfrm>
          <a:prstGeom prst="snipRoundRect">
            <a:avLst>
              <a:gd fmla="val 0" name="adj1"/>
              <a:gd fmla="val 0" name="adj2"/>
            </a:avLst>
          </a:prstGeom>
          <a:solidFill>
            <a:srgbClr val="2E307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</a:pPr>
            <a:r>
              <a:rPr b="0" i="0" lang="ko-KR" sz="1463" u="none" cap="none" strike="noStrike">
                <a:solidFill>
                  <a:srgbClr val="F9E76C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 b="0" i="0" sz="1463" u="none" cap="none" strike="noStrike">
              <a:solidFill>
                <a:srgbClr val="F9E76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"/>
            <a:ext cx="12192000" cy="517093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12339" y="282760"/>
            <a:ext cx="840537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ko-KR" sz="1200" u="none" cap="none" strike="noStrike">
                <a:solidFill>
                  <a:srgbClr val="FEE599"/>
                </a:solidFill>
                <a:latin typeface="Balthazar"/>
                <a:ea typeface="Balthazar"/>
                <a:cs typeface="Balthazar"/>
                <a:sym typeface="Balthazar"/>
              </a:rPr>
              <a:t>모바일신분증을 활용한</a:t>
            </a:r>
            <a:endParaRPr b="1" i="0" sz="1200" u="none" cap="none" strike="noStrike">
              <a:solidFill>
                <a:srgbClr val="FEE599"/>
              </a:solidFill>
              <a:latin typeface="Balthazar"/>
              <a:ea typeface="Balthazar"/>
              <a:cs typeface="Balthazar"/>
              <a:sym typeface="Balthaza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ko-KR" sz="2000" u="none" cap="none" strike="noStrike">
                <a:solidFill>
                  <a:srgbClr val="FEE599"/>
                </a:solidFill>
                <a:latin typeface="Balthazar"/>
                <a:ea typeface="Balthazar"/>
                <a:cs typeface="Balthazar"/>
                <a:sym typeface="Balthazar"/>
              </a:rPr>
              <a:t>2026 </a:t>
            </a:r>
            <a:r>
              <a:rPr b="1" i="0" lang="ko-KR" sz="3200" u="none" cap="none" strike="noStrike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블록체인 &amp; AI </a:t>
            </a:r>
            <a:r>
              <a:rPr b="1" i="0" lang="ko-KR" sz="2000" u="none" cap="none" strike="noStrike">
                <a:solidFill>
                  <a:srgbClr val="FEE599"/>
                </a:solidFill>
                <a:latin typeface="Balthazar"/>
                <a:ea typeface="Balthazar"/>
                <a:cs typeface="Balthazar"/>
                <a:sym typeface="Balthazar"/>
              </a:rPr>
              <a:t>해커톤 </a:t>
            </a:r>
            <a:r>
              <a:rPr b="1" i="0" lang="ko-KR" sz="1400" u="none" cap="none" strike="noStrike">
                <a:solidFill>
                  <a:srgbClr val="FEE599"/>
                </a:solidFill>
                <a:latin typeface="Balthazar"/>
                <a:ea typeface="Balthazar"/>
                <a:cs typeface="Balthazar"/>
                <a:sym typeface="Balthazar"/>
              </a:rPr>
              <a:t>(제안서 양식)</a:t>
            </a:r>
            <a:endParaRPr b="1" i="0" sz="2000" u="none" cap="none" strike="noStrike">
              <a:solidFill>
                <a:srgbClr val="FEE599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12339" y="5831862"/>
            <a:ext cx="71858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  명 : 타닥타닥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512339" y="2661619"/>
            <a:ext cx="861290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진본(真本)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rgbClr val="FEE59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신분증 기반 공인 영상 진본 증명 플랫폼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12339" y="6244921"/>
            <a:ext cx="71858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ko-KR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제출일 : 2026. 05. 31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980810" y="1673514"/>
            <a:ext cx="4972050" cy="5022528"/>
          </a:xfrm>
          <a:prstGeom prst="roundRect">
            <a:avLst>
              <a:gd fmla="val 9204" name="adj"/>
            </a:avLst>
          </a:prstGeom>
          <a:solidFill>
            <a:schemeClr val="lt1"/>
          </a:solidFill>
          <a:ln cap="flat" cmpd="sng" w="12700">
            <a:solidFill>
              <a:srgbClr val="7F7F7F"/>
            </a:solidFill>
            <a:prstDash val="solid"/>
            <a:miter lim="8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[공모 제안서 양식 목차]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algun Gothic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표지: </a:t>
            </a:r>
            <a:r>
              <a:rPr b="0" i="0" lang="ko-KR" sz="11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팀명과 제출일 작성必</a:t>
            </a:r>
            <a:endParaRPr b="0" i="0" sz="11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요약서 </a:t>
            </a:r>
            <a:r>
              <a:rPr b="1" i="0" lang="ko-KR" sz="1100" u="sng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 수정 불가</a:t>
            </a:r>
            <a:r>
              <a:rPr b="0" i="1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(최대 2p 분량)</a:t>
            </a:r>
            <a:endParaRPr b="1" i="1" sz="1100" u="sng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제안내용의 목적 및 필요성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제안내용의 상세 설명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제안내용의 차별성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기대효과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제안내용 관련 자료:</a:t>
            </a:r>
            <a:r>
              <a:rPr b="0" i="1" lang="ko-KR" sz="1100" u="none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(캡처 이미지, URL, QR 코드 등) 있을 경우 첨부</a:t>
            </a:r>
            <a:endParaRPr b="0" i="1" sz="1100" u="none" cap="none" strike="noStrike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기타: </a:t>
            </a:r>
            <a:r>
              <a:rPr b="0" i="1" lang="ko-KR" sz="1100" u="none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제안내용에 대한 기타 추가내용이 있을 경우 작성</a:t>
            </a:r>
            <a:endParaRPr b="0" i="1" sz="1100" u="none" cap="none" strike="noStrike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※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ko-KR" sz="11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공모 제안서 작성 유의사항</a:t>
            </a:r>
            <a:endParaRPr b="1" i="0" sz="11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3970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algun Gothic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Page의 주제에 대하여 구체적으로 작성합니다.</a:t>
            </a:r>
            <a:r>
              <a:rPr b="0" i="1" lang="ko-KR" sz="11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(텍스트 나열 지양)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제시된 주제에 대해 누락 없이 작성합니다.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Malgun Gothic"/>
              <a:buAutoNum type="arabicPeriod"/>
            </a:pPr>
            <a:r>
              <a:rPr b="1" i="0" lang="ko-KR" sz="1100" u="sng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총 10 페이지 이내</a:t>
            </a:r>
            <a:r>
              <a:rPr b="0" i="1" lang="ko-KR" sz="1100" u="sng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(요약서 및 표지 제외)</a:t>
            </a:r>
            <a:r>
              <a:rPr b="1" i="0" lang="ko-KR" sz="1100" u="sng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작성</a:t>
            </a: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AutoNum type="arabicPeriod"/>
            </a:pPr>
            <a:r>
              <a:rPr b="0" i="0" lang="ko-KR" sz="1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8분 이내 Presentation 가능하도록 작성합니다.</a:t>
            </a:r>
            <a:r>
              <a:rPr b="0" i="1" lang="ko-KR" sz="11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(8분 발표/ Q&amp;A 5분)</a:t>
            </a:r>
            <a:endParaRPr b="0" i="1" sz="11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5875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7421627" y="47625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{9ACECC11-C75B-477A-BA8D-D517E9C66559}</a:tableStyleId>
              </a:tblPr>
              <a:tblGrid>
                <a:gridCol w="3172325"/>
                <a:gridCol w="918075"/>
              </a:tblGrid>
              <a:tr h="1143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ko-KR" sz="900" u="none" cap="none" strike="noStrike">
                          <a:solidFill>
                            <a:schemeClr val="dk1"/>
                          </a:solidFill>
                        </a:rPr>
                        <a:t>[예선 심사기준]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ko-KR" sz="900" u="none" cap="none" strike="noStrike">
                          <a:solidFill>
                            <a:schemeClr val="lt1"/>
                          </a:solidFill>
                        </a:rPr>
                        <a:t>심 사 항 목</a:t>
                      </a:r>
                      <a:endParaRPr b="1"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ko-KR" sz="900" u="none" cap="none" strike="noStrike">
                          <a:solidFill>
                            <a:schemeClr val="lt1"/>
                          </a:solidFill>
                        </a:rPr>
                        <a:t>배  점</a:t>
                      </a:r>
                      <a:endParaRPr b="1"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ko-KR" sz="900" u="none" cap="none" strike="noStrike"/>
                        <a:t>창   의   성</a:t>
                      </a:r>
                      <a:endParaRPr b="1"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/>
                        <a:t>35점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ko-KR" sz="900" u="none" cap="none" strike="noStrike"/>
                        <a:t>실현 가능성</a:t>
                      </a:r>
                      <a:endParaRPr b="1"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/>
                        <a:t>35점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ko-KR" sz="900" u="none" cap="none" strike="noStrike"/>
                        <a:t>사   업   성</a:t>
                      </a:r>
                      <a:endParaRPr b="1"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900" u="none" cap="none" strike="noStrike"/>
                        <a:t>30점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2" name="Google Shape;112;p15"/>
          <p:cNvGrpSpPr/>
          <p:nvPr/>
        </p:nvGrpSpPr>
        <p:grpSpPr>
          <a:xfrm>
            <a:off x="338949" y="104868"/>
            <a:ext cx="2311004" cy="707886"/>
            <a:chOff x="338949" y="104868"/>
            <a:chExt cx="2311004" cy="707886"/>
          </a:xfrm>
        </p:grpSpPr>
        <p:pic>
          <p:nvPicPr>
            <p:cNvPr id="113" name="Google Shape;11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2339" y="362768"/>
              <a:ext cx="2137614" cy="2666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5"/>
            <p:cNvSpPr txBox="1"/>
            <p:nvPr/>
          </p:nvSpPr>
          <p:spPr>
            <a:xfrm>
              <a:off x="338949" y="104868"/>
              <a:ext cx="517878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ko-KR" sz="4000" u="none" cap="none" strike="noStrik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</a:t>
              </a:r>
              <a:endParaRPr b="0" i="0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idx="2" type="body"/>
          </p:nvPr>
        </p:nvSpPr>
        <p:spPr>
          <a:xfrm>
            <a:off x="236707" y="9236"/>
            <a:ext cx="11553218" cy="48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Malgun Gothic"/>
              <a:buChar char="◈"/>
            </a:pPr>
            <a:r>
              <a:rPr lang="ko-KR" sz="1801"/>
              <a:t>제안 요약서</a:t>
            </a:r>
            <a:endParaRPr sz="1801"/>
          </a:p>
        </p:txBody>
      </p:sp>
      <p:sp>
        <p:nvSpPr>
          <p:cNvPr id="121" name="Google Shape;121;p16"/>
          <p:cNvSpPr txBox="1"/>
          <p:nvPr/>
        </p:nvSpPr>
        <p:spPr>
          <a:xfrm>
            <a:off x="342900" y="561975"/>
            <a:ext cx="1130617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Malgun Gothic"/>
              <a:buChar char="※"/>
            </a:pPr>
            <a:r>
              <a:rPr b="1" i="0" lang="ko-KR" sz="11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 수정 불가 </a:t>
            </a:r>
            <a:r>
              <a:rPr b="1" i="1" lang="ko-KR" sz="1100" u="none" cap="none" strike="noStrike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표식 설명</a:t>
            </a:r>
            <a:r>
              <a:rPr b="1" i="0" lang="ko-KR" sz="11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은 작성 후 삭제 요망 (제안 요약서는 최대 2p 이내 작성할 것) </a:t>
            </a:r>
            <a:endParaRPr b="1" i="0" sz="11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22" name="Google Shape;122;p16"/>
          <p:cNvGraphicFramePr/>
          <p:nvPr/>
        </p:nvGraphicFramePr>
        <p:xfrm>
          <a:off x="293857" y="8522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{9ACECC11-C75B-477A-BA8D-D517E9C66559}</a:tableStyleId>
              </a:tblPr>
              <a:tblGrid>
                <a:gridCol w="1730375"/>
                <a:gridCol w="1228725"/>
                <a:gridCol w="1228725"/>
                <a:gridCol w="1228725"/>
                <a:gridCol w="413775"/>
                <a:gridCol w="710725"/>
                <a:gridCol w="116850"/>
                <a:gridCol w="608050"/>
                <a:gridCol w="620675"/>
                <a:gridCol w="814950"/>
                <a:gridCol w="2871225"/>
              </a:tblGrid>
              <a:tr h="55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참 가 구 분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Track 1 : </a:t>
                      </a: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비즈니스 아이디어 공모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1" lang="ko-KR" sz="1000" u="none" cap="none" strike="noStrike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해당사항 체크박스 내 ▣ 표기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▣ Track 2 : </a:t>
                      </a:r>
                      <a:r>
                        <a:rPr b="0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제안 아이디어를 고도화 MVP 모델 개발 · 시연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1" lang="ko-KR" sz="1000" u="none" cap="none" strike="noStrike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해당사항 체크박스 내 ▣ 표기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</a:tr>
              <a:tr h="3706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참 가 유 형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b="1" sz="5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1" lang="ko-KR" sz="8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해당사항 체크박스 내 ▣ 표기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◈ 개인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일반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370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◈ 팀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</a:t>
                      </a: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스타트업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▣</a:t>
                      </a:r>
                      <a:r>
                        <a:rPr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         명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gridSpan="10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타닥타닥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7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프로젝트명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gridSpan="10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진본(真本) – 모바일 신분증 기반 공인 영상 진본 증명 플랫폼</a:t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630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 이 디 어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         요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 gridSpan="10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ko-KR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모바일 신분증(DID)으로 인증한 공인이 영상에 서명하면 영상 지각해시와 DID 서명이 블록체인에 기록되고, 시민은 SNS 영상을 즉석에서 진본인지 검증한다.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ko-KR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메타데이터 제거로 검증이 끊기는 C2PA의 한계를 지각해시 온체인 등록과 모바일 신분증으로 보완한다. (AI 기본법 시행 대응 딥페이크 방어 인프라)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70675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   청   자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      명</a:t>
                      </a:r>
                      <a:endParaRPr b="1"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gridSpan="9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70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생년월일</a:t>
                      </a:r>
                      <a:endParaRPr b="1"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      속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70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휴대전화</a:t>
                      </a:r>
                      <a:endParaRPr b="1"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 - mail</a:t>
                      </a:r>
                      <a:endParaRPr b="1"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70675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   성   원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      명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생년월일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      속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휴대전화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b="1" lang="ko-KR" sz="14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 - mail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EABAB"/>
                    </a:solidFill>
                  </a:tcPr>
                </a:tc>
                <a:tc hMerge="1"/>
              </a:tr>
              <a:tr h="3706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706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706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70675">
                <a:tc v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idx="2" type="body"/>
          </p:nvPr>
        </p:nvSpPr>
        <p:spPr>
          <a:xfrm>
            <a:off x="236707" y="9236"/>
            <a:ext cx="11553218" cy="48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Malgun Gothic"/>
              <a:buAutoNum type="romanUcPeriod"/>
            </a:pPr>
            <a:r>
              <a:rPr lang="ko-KR" sz="1801"/>
              <a:t>제안내용의 목적 및 필요성</a:t>
            </a:r>
            <a:endParaRPr sz="1801"/>
          </a:p>
        </p:txBody>
      </p:sp>
      <p:sp>
        <p:nvSpPr>
          <p:cNvPr id="129" name="Google Shape;129;p17"/>
          <p:cNvSpPr txBox="1"/>
          <p:nvPr/>
        </p:nvSpPr>
        <p:spPr>
          <a:xfrm>
            <a:off x="510540" y="660000"/>
            <a:ext cx="1117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문제 인식 — 딥페이크는 폭증하는데, '진짜'를 증명할 인프라는 없다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10540" y="1100000"/>
            <a:ext cx="3550000" cy="150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710540" y="1270000"/>
            <a:ext cx="315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400"/>
              <a:buFont typeface="Malgun Gothic"/>
              <a:buNone/>
            </a:pPr>
            <a:r>
              <a:rPr b="1" i="0" lang="ko-KR" sz="2400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1,318건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2025년 9월까지 집계된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딥페이크 성범죄 (2022년 160건 → 2024년 1,202건)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320540" y="1100000"/>
            <a:ext cx="3550000" cy="150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4520540" y="1270000"/>
            <a:ext cx="315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2400"/>
              <a:buFont typeface="Malgun Gothic"/>
              <a:buNone/>
            </a:pPr>
            <a:r>
              <a:rPr b="1" i="0" lang="ko-KR" sz="24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2026.1.22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기본법 시행 — AI 생성물 표시는 의무화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그러나 '사람이 만든 진본' 증명 인프라는 부재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8130540" y="1100000"/>
            <a:ext cx="3550000" cy="150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330540" y="1270000"/>
            <a:ext cx="315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3D8F"/>
              </a:buClr>
              <a:buSzPts val="2400"/>
              <a:buFont typeface="Malgun Gothic"/>
              <a:buNone/>
            </a:pPr>
            <a:r>
              <a:rPr b="1" i="0" lang="ko-KR" sz="2400" u="none" cap="none" strike="noStrike">
                <a:solidFill>
                  <a:srgbClr val="3A3D8F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전국 지방선거 — 정치 딥페이크 우려 최대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결선(6.3) 직전, 사회적 시의성 정점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510540" y="2900000"/>
            <a:ext cx="1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글로벌 표준(C2PA)의 결정적 한계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10540" y="3330000"/>
            <a:ext cx="11170000" cy="76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740540" y="3440000"/>
            <a:ext cx="1071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Malgun Gothic"/>
              <a:buNone/>
            </a:pPr>
            <a:r>
              <a:rPr b="0" i="0" lang="ko-KR" sz="11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SNS 업로드 시 </a:t>
            </a:r>
            <a:r>
              <a:rPr b="1" i="0" lang="ko-KR" sz="1150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메타데이터가 제거(stripping)</a:t>
            </a:r>
            <a:r>
              <a:rPr b="0" i="0" lang="ko-KR" sz="11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되어 C2PA 검증 체인이 끊긴다.  • 해외 표준 중심이라 </a:t>
            </a:r>
            <a:r>
              <a:rPr b="1" i="0" lang="ko-KR" sz="115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 신원체계(모바일 신분증)와 미연동</a:t>
            </a:r>
            <a:r>
              <a:rPr b="0" i="0" lang="ko-KR" sz="11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10540" y="4380000"/>
            <a:ext cx="11170000" cy="124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770540" y="4550000"/>
            <a:ext cx="10650000" cy="1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제안의 필요성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Malgun Gothic"/>
              <a:buNone/>
            </a:pPr>
            <a:r>
              <a:rPr b="0" i="0" lang="ko-KR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신분증·DID·블록체인으로 </a:t>
            </a:r>
            <a:r>
              <a:rPr b="1" i="0" lang="ko-KR" sz="1250" u="none" cap="none" strike="noStrike">
                <a:solidFill>
                  <a:srgbClr val="F9E76C"/>
                </a:solidFill>
                <a:latin typeface="Malgun Gothic"/>
                <a:ea typeface="Malgun Gothic"/>
                <a:cs typeface="Malgun Gothic"/>
                <a:sym typeface="Malgun Gothic"/>
              </a:rPr>
              <a:t>'이 영상은 본인이 만든 진본'임을 증명</a:t>
            </a:r>
            <a:r>
              <a:rPr b="0" i="0" lang="ko-KR" sz="12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하고, 시민이 SNS에서 즉시 검증하게 한다.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Malgun Gothic"/>
              <a:buNone/>
            </a:pPr>
            <a:r>
              <a:rPr b="0" i="0" lang="ko-KR" sz="1100" u="none" cap="none" strike="noStrike">
                <a:solidFill>
                  <a:srgbClr val="CADCFC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표시 의무(AI 기본법)가 '가짜 표시'라면, 본 플랫폼은 그 반대편의 '진짜 증명'을 담당한다.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2" type="body"/>
          </p:nvPr>
        </p:nvSpPr>
        <p:spPr>
          <a:xfrm>
            <a:off x="236707" y="9236"/>
            <a:ext cx="11553218" cy="48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Malgun Gothic"/>
              <a:buAutoNum type="romanUcPeriod" startAt="2"/>
            </a:pPr>
            <a:r>
              <a:rPr lang="ko-KR" sz="1801"/>
              <a:t>제안내용의 상세 설명</a:t>
            </a:r>
            <a:endParaRPr sz="1801"/>
          </a:p>
        </p:txBody>
      </p:sp>
      <p:sp>
        <p:nvSpPr>
          <p:cNvPr id="147" name="Google Shape;147;p18"/>
          <p:cNvSpPr txBox="1"/>
          <p:nvPr/>
        </p:nvSpPr>
        <p:spPr>
          <a:xfrm>
            <a:off x="510540" y="660000"/>
            <a:ext cx="1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'진본' — 발행 · 유통 · 검증의 3-Flow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10540" y="1080000"/>
            <a:ext cx="3550000" cy="20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3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10540" y="1080000"/>
            <a:ext cx="3550000" cy="47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710540" y="115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  발행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660540" y="1640000"/>
            <a:ext cx="3250000" cy="1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공인이 영상 촬영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신분증으로 본인 인증 (OmniOne CX)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영상의 perceptual hash + 본인 DID 서명을 OmniOne Chain에 기록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320540" y="1080000"/>
            <a:ext cx="3550000" cy="20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3A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320540" y="1080000"/>
            <a:ext cx="3550000" cy="470000"/>
          </a:xfrm>
          <a:prstGeom prst="roundRect">
            <a:avLst>
              <a:gd fmla="val 6000" name="adj"/>
            </a:avLst>
          </a:prstGeom>
          <a:solidFill>
            <a:srgbClr val="3A3D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4520540" y="115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  유통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4470540" y="1640000"/>
            <a:ext cx="3250000" cy="1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평소처럼 SNS·언론에 게시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재압축·메타데이터 제거되어도 무관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콘텐츠는 체인 밖, 해시·서명만 온체인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8130540" y="1080000"/>
            <a:ext cx="3550000" cy="20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8130540" y="1080000"/>
            <a:ext cx="3550000" cy="470000"/>
          </a:xfrm>
          <a:prstGeom prst="roundRect">
            <a:avLst>
              <a:gd fmla="val 6000" name="adj"/>
            </a:avLst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8330540" y="115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 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8280540" y="1640000"/>
            <a:ext cx="3250000" cy="1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 영상 해시 추출 → 온체인 기록과 매칭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결과: 'OOO이 OO시각에 서명한 진본' 또는 '매칭 없음'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5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웹 · Chrome 확장(자동 배지) · 카카오 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10540" y="3380000"/>
            <a:ext cx="1117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아키텍처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10540" y="3760000"/>
            <a:ext cx="1550000" cy="36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510540" y="3780000"/>
            <a:ext cx="155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신원증명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2210540" y="3775000"/>
            <a:ext cx="94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Malgun Gothic"/>
              <a:buNone/>
            </a:pPr>
            <a:r>
              <a:rPr b="0" i="0" lang="ko-KR" sz="11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신분증 본인인증(OmniOne CX) + Open DID 저작자 VC 발급, ZKP 익명 서명 옵션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10540" y="4190000"/>
            <a:ext cx="1550000" cy="36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10540" y="4210000"/>
            <a:ext cx="155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블록체인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2210540" y="4205000"/>
            <a:ext cx="94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Malgun Gothic"/>
              <a:buNone/>
            </a:pPr>
            <a:r>
              <a:rPr b="0" i="0" lang="ko-KR" sz="11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OmniOne Chain에 콘텐츠 해시 + DID 서명 + 타임스탬프 기록 (부인·변조 방지)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10540" y="4620000"/>
            <a:ext cx="1550000" cy="36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10540" y="4640000"/>
            <a:ext cx="155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핵심기술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2210540" y="4635000"/>
            <a:ext cx="94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Malgun Gothic"/>
              <a:buNone/>
            </a:pPr>
            <a:r>
              <a:rPr b="0" i="0" lang="ko-KR" sz="11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Perceptual hash 매칭으로 SNS 재압축 후에도 진본 재연결 (C2PA soft-binding 보완)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10540" y="5050000"/>
            <a:ext cx="1550000" cy="36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10540" y="5070000"/>
            <a:ext cx="1550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AI(보조)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2210540" y="5050000"/>
            <a:ext cx="9470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Malgun Gothic"/>
              <a:buNone/>
            </a:pPr>
            <a:r>
              <a:rPr b="0" i="0" lang="ko-KR" sz="11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딥페이크 탐지 모델 — 서명 검증을 보조하는 참고 신호로만 활용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10540" y="5540000"/>
            <a:ext cx="11170000" cy="47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740540" y="5600000"/>
            <a:ext cx="1071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050"/>
              <a:buFont typeface="Malgun Gothic"/>
              <a:buNone/>
            </a:pPr>
            <a:r>
              <a:rPr b="1" i="0" lang="ko-KR" sz="105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MVP(Track 2) 범위  </a:t>
            </a:r>
            <a:r>
              <a:rPr b="0" i="0" lang="ko-KR" sz="1000" u="none" cap="none" strike="noStrike">
                <a:solidFill>
                  <a:srgbClr val="1E844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실연동: 신분증 인증·DID 서명·온체인 기록·해시 검증·Chrome 배지   |   </a:t>
            </a:r>
            <a:r>
              <a:rPr b="0" i="0" lang="ko-KR" sz="1000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Mock: 대량 공인 사전등록 DB는 시연용 샘플로 대체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idx="2" type="body"/>
          </p:nvPr>
        </p:nvSpPr>
        <p:spPr>
          <a:xfrm>
            <a:off x="236707" y="9236"/>
            <a:ext cx="11553218" cy="48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Malgun Gothic"/>
              <a:buAutoNum type="romanUcPeriod" startAt="3"/>
            </a:pPr>
            <a:r>
              <a:rPr lang="ko-KR" sz="1801"/>
              <a:t>제안내용의 차별성</a:t>
            </a:r>
            <a:endParaRPr sz="1801"/>
          </a:p>
        </p:txBody>
      </p:sp>
      <p:sp>
        <p:nvSpPr>
          <p:cNvPr id="181" name="Google Shape;181;p19"/>
          <p:cNvSpPr txBox="1"/>
          <p:nvPr/>
        </p:nvSpPr>
        <p:spPr>
          <a:xfrm>
            <a:off x="510540" y="660000"/>
            <a:ext cx="1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방식 대비 차별점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10540" y="1080000"/>
            <a:ext cx="5455000" cy="18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3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730540" y="1230000"/>
            <a:ext cx="5015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3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vs.  C2PA (콘텐츠 출처 표준)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30540" y="1640000"/>
            <a:ext cx="1180000" cy="330000"/>
          </a:xfrm>
          <a:prstGeom prst="roundRect">
            <a:avLst>
              <a:gd fmla="val 6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730540" y="1655000"/>
            <a:ext cx="11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1990540" y="1630000"/>
            <a:ext cx="3755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SNS 메타데이터 제거 시 검증 체인 단절, 한국 신원체계 미연동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30540" y="2260000"/>
            <a:ext cx="1180000" cy="330000"/>
          </a:xfrm>
          <a:prstGeom prst="roundRect">
            <a:avLst>
              <a:gd fmla="val 6000" name="adj"/>
            </a:avLst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730540" y="2275000"/>
            <a:ext cx="11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1990540" y="2250000"/>
            <a:ext cx="3755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지각해시 온체인 등록으로 재압축 후에도 재연결, 모바일 신분증으로 신원까지 보증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225540" y="1080000"/>
            <a:ext cx="5455000" cy="18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3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445540" y="1230000"/>
            <a:ext cx="5015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3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vs.  딥페이크 '탐지'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6445540" y="1640000"/>
            <a:ext cx="1180000" cy="330000"/>
          </a:xfrm>
          <a:prstGeom prst="roundRect">
            <a:avLst>
              <a:gd fmla="val 6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445540" y="1655000"/>
            <a:ext cx="11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7705540" y="1630000"/>
            <a:ext cx="3755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위조 여부를 확률로 추정 — 오탐·미탐 존재, 새 생성기법에 취약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445540" y="2260000"/>
            <a:ext cx="1180000" cy="330000"/>
          </a:xfrm>
          <a:prstGeom prst="roundRect">
            <a:avLst>
              <a:gd fmla="val 6000" name="adj"/>
            </a:avLst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445540" y="2275000"/>
            <a:ext cx="11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서비스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7705540" y="2250000"/>
            <a:ext cx="3755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탐지(추정)가 아닌 서명 검증(확정). 진본은 암호학적으로 100% 증명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10540" y="3150000"/>
            <a:ext cx="11169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차별 가치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10540" y="3530000"/>
            <a:ext cx="3550000" cy="145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710540" y="368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1  암호학적 진본 증명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710540" y="4049900"/>
            <a:ext cx="31500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추정이 아닌 증명. 모바일 신분증 서명으로 '누가·언제' 만들었는지까지 부인 불가하게 확정.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320540" y="3530000"/>
            <a:ext cx="3550000" cy="145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4520540" y="368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2  스트리핑 내성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4520540" y="4090000"/>
            <a:ext cx="3150000" cy="8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지각해시 기반이라 SNS 재압축·리사이즈 후에도 원본과 재연결 — C2PA가 못 푼 지점.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8130540" y="3530000"/>
            <a:ext cx="3550000" cy="145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8330540" y="368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3  시민 셀프 검증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8330540" y="4090000"/>
            <a:ext cx="3150000" cy="8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Chrome 확장이 SNS 피드에서 자동으로 진본 배지(✓) 표시. 전문가 아닌 일반인도 즉시 판별.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10540" y="5070000"/>
            <a:ext cx="11170000" cy="430000"/>
          </a:xfrm>
          <a:prstGeom prst="roundRect">
            <a:avLst>
              <a:gd fmla="val 6000" name="adj"/>
            </a:avLst>
          </a:prstGeom>
          <a:solidFill>
            <a:srgbClr val="FBE9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740540" y="5120000"/>
            <a:ext cx="1071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C0392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 명시  </a:t>
            </a: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'서명 없음'은 '가짜'가 아니라 '미등록'을 뜻함 — 미서명 진본 오인을 막는 UX 설계를 병행한다.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idx="2" type="body"/>
          </p:nvPr>
        </p:nvSpPr>
        <p:spPr>
          <a:xfrm>
            <a:off x="236707" y="9236"/>
            <a:ext cx="11553218" cy="48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Malgun Gothic"/>
              <a:buAutoNum type="romanUcPeriod" startAt="4"/>
            </a:pPr>
            <a:r>
              <a:rPr lang="ko-KR" sz="1801"/>
              <a:t>기대효과</a:t>
            </a:r>
            <a:endParaRPr sz="1801"/>
          </a:p>
        </p:txBody>
      </p:sp>
      <p:sp>
        <p:nvSpPr>
          <p:cNvPr id="216" name="Google Shape;216;p20"/>
          <p:cNvSpPr txBox="1"/>
          <p:nvPr/>
        </p:nvSpPr>
        <p:spPr>
          <a:xfrm>
            <a:off x="510540" y="660000"/>
            <a:ext cx="1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기대효과 — 사회 · 산업 · 사업의 3축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10540" y="1080000"/>
            <a:ext cx="3550000" cy="23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3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10540" y="1080000"/>
            <a:ext cx="3550000" cy="47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710540" y="115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사회적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60540" y="1660000"/>
            <a:ext cx="325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정치 딥페이크로 인한 여론 조작·허위정보 확산 억제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공직자·기관 발언의 신뢰 기반 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기본법의 '표시 의무'를 보완하는 '진본 증명' 인프라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320540" y="1080000"/>
            <a:ext cx="3550000" cy="23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3A3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320540" y="1080000"/>
            <a:ext cx="3550000" cy="470000"/>
          </a:xfrm>
          <a:prstGeom prst="roundRect">
            <a:avLst>
              <a:gd fmla="val 6000" name="adj"/>
            </a:avLst>
          </a:prstGeom>
          <a:solidFill>
            <a:srgbClr val="3A3D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4520540" y="115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산업적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470540" y="1660000"/>
            <a:ext cx="325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신분증 활용처를 '본인인증'에서 '콘텐츠 진본'으로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OmniOne DID·Chain 생태계 레퍼런스 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언론·미디어 신뢰 검증 표준화 가능성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8130540" y="1080000"/>
            <a:ext cx="3550000" cy="23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8130540" y="1080000"/>
            <a:ext cx="3550000" cy="470000"/>
          </a:xfrm>
          <a:prstGeom prst="roundRect">
            <a:avLst>
              <a:gd fmla="val 6000" name="adj"/>
            </a:avLst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8330540" y="1150000"/>
            <a:ext cx="315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사업적 효과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8280540" y="1660000"/>
            <a:ext cx="325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B2G: 선관위·중앙부처·지자체 공식 채널 진본 증명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B2B: 언론사 취재자료 인증, 1차 자료 진본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B2C: 시민용 검증 확장·봇 (프리미엄 검증)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510540" y="3680000"/>
            <a:ext cx="1117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400"/>
              <a:buFont typeface="Malgun Gothic"/>
              <a:buNone/>
            </a:pPr>
            <a:r>
              <a:rPr b="1" i="0" lang="ko-KR" sz="14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 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10540" y="4060000"/>
            <a:ext cx="2680000" cy="90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660540" y="4210000"/>
            <a:ext cx="238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정치인·공직자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660540" y="4550000"/>
            <a:ext cx="238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가짜 발언 영상 방어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350540" y="4060000"/>
            <a:ext cx="2680000" cy="90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3500540" y="4210000"/>
            <a:ext cx="238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공공기관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3500540" y="4550000"/>
            <a:ext cx="238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공식 보도·공지 진본 증명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190540" y="4060000"/>
            <a:ext cx="2680000" cy="90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6340540" y="4210000"/>
            <a:ext cx="238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언론·기자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6340540" y="4550000"/>
            <a:ext cx="238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1차 취재자료 인증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9030540" y="4060000"/>
            <a:ext cx="2680000" cy="90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9180540" y="4210000"/>
            <a:ext cx="238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9180540" y="4550000"/>
            <a:ext cx="238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algun Gothic"/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SNS 영상 진위 즉시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idx="2" type="body"/>
          </p:nvPr>
        </p:nvSpPr>
        <p:spPr>
          <a:xfrm>
            <a:off x="236707" y="9236"/>
            <a:ext cx="11553218" cy="48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Malgun Gothic"/>
              <a:buAutoNum type="romanUcPeriod" startAt="5"/>
            </a:pPr>
            <a:r>
              <a:rPr lang="ko-KR" sz="1801"/>
              <a:t>제안내용 관련 자료</a:t>
            </a:r>
            <a:endParaRPr sz="1801"/>
          </a:p>
        </p:txBody>
      </p:sp>
      <p:sp>
        <p:nvSpPr>
          <p:cNvPr id="248" name="Google Shape;248;p21"/>
          <p:cNvSpPr txBox="1"/>
          <p:nvPr/>
        </p:nvSpPr>
        <p:spPr>
          <a:xfrm>
            <a:off x="510540" y="660000"/>
            <a:ext cx="1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제안내용 관련 자료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10540" y="1080000"/>
            <a:ext cx="5455000" cy="168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730540" y="1230000"/>
            <a:ext cx="5015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시의성·통계 근거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690540" y="1640000"/>
            <a:ext cx="50950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딥페이크 성범죄 추이 (경찰청, 2022~2025)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기본법(인공지능 발전·신뢰기반 조성법) 2026.1.22 시행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제9회 전국동시지방선거 (2026.6)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225540" y="1080000"/>
            <a:ext cx="5455000" cy="168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6445540" y="1230000"/>
            <a:ext cx="5015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기술 표준·문서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6405540" y="1640000"/>
            <a:ext cx="50950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W3C DID v1.0 / Verifiable Credentials Data Model v2.0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C2PA Content Credentials &amp; soft-binding 명세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OmniOne Open DID / OmniOne Chain 개발자 문서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10540" y="2930000"/>
            <a:ext cx="5455000" cy="168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730540" y="3080000"/>
            <a:ext cx="5015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활용 기술 요소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690540" y="3490000"/>
            <a:ext cx="50950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Perceptual hash (pHash / video hashing) 라이브러리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OmniOne CX 모바일 신분증 본인인증 SDK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딥페이크 탐지 오픈 모델 (보조 신호)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6225540" y="2930000"/>
            <a:ext cx="5455000" cy="168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445540" y="3080000"/>
            <a:ext cx="5015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데모·산출물 (결선용)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6405540" y="3490000"/>
            <a:ext cx="50950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Figma UI/UX 목업 링크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라이브 시연 영상 QR 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Char char="•"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 저장소 URL (결선 단계 첨부 예정)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10540" y="4820000"/>
            <a:ext cx="11170000" cy="43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40540" y="4875000"/>
            <a:ext cx="1071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algun Gothic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QR·URL·캡처 이미지는 결선(MVP 시연) 단계에서 실제 산출물로 첨부 예정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/>
          <p:nvPr>
            <p:ph idx="2" type="body"/>
          </p:nvPr>
        </p:nvSpPr>
        <p:spPr>
          <a:xfrm>
            <a:off x="236707" y="9236"/>
            <a:ext cx="11553218" cy="486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1"/>
              <a:buFont typeface="Malgun Gothic"/>
              <a:buAutoNum type="romanUcPeriod" startAt="6"/>
            </a:pPr>
            <a:r>
              <a:rPr lang="ko-KR" sz="1801"/>
              <a:t>기타(자유 기재)</a:t>
            </a:r>
            <a:endParaRPr sz="1801"/>
          </a:p>
        </p:txBody>
      </p:sp>
      <p:sp>
        <p:nvSpPr>
          <p:cNvPr id="269" name="Google Shape;269;p22"/>
          <p:cNvSpPr txBox="1"/>
          <p:nvPr/>
        </p:nvSpPr>
        <p:spPr>
          <a:xfrm>
            <a:off x="510540" y="660000"/>
            <a:ext cx="1117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로드맵 · 리스크 대응 ·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510540" y="1060000"/>
            <a:ext cx="1117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3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개발 로드맵 (2026.5~9.30)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510540" y="1440000"/>
            <a:ext cx="268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3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510540" y="1440000"/>
            <a:ext cx="2680000" cy="36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510540" y="1465000"/>
            <a:ext cx="268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5~6월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660540" y="1860000"/>
            <a:ext cx="238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Malgun Gothic"/>
              <a:buNone/>
            </a:pPr>
            <a:r>
              <a:rPr b="0" i="0" lang="ko-KR" sz="9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요구사항·아키텍처 설계, OmniOne SDK 학습, UI/UX 목업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350540" y="1440000"/>
            <a:ext cx="268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3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3350540" y="1440000"/>
            <a:ext cx="2680000" cy="36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3350540" y="1465000"/>
            <a:ext cx="268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3500540" y="1860000"/>
            <a:ext cx="238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Malgun Gothic"/>
              <a:buNone/>
            </a:pPr>
            <a:r>
              <a:rPr b="0" i="0" lang="ko-KR" sz="9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DID 인증·전자서명·온체인 기록 모듈 구현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190540" y="1440000"/>
            <a:ext cx="268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3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6190540" y="1440000"/>
            <a:ext cx="2680000" cy="36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6190540" y="1465000"/>
            <a:ext cx="268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8월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6340540" y="1860000"/>
            <a:ext cx="238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Malgun Gothic"/>
              <a:buNone/>
            </a:pPr>
            <a:r>
              <a:rPr b="0" i="0" lang="ko-KR" sz="9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지각해시 매칭·검증 채널·딥페이크 탐지 통합, E2E 테스트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9030540" y="1440000"/>
            <a:ext cx="2680000" cy="9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2E30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9030540" y="1440000"/>
            <a:ext cx="2680000" cy="360000"/>
          </a:xfrm>
          <a:prstGeom prst="roundRect">
            <a:avLst>
              <a:gd fmla="val 6000" name="adj"/>
            </a:avLst>
          </a:prstGeom>
          <a:solidFill>
            <a:srgbClr val="2E307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9030540" y="1465000"/>
            <a:ext cx="268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9180540" y="1860000"/>
            <a:ext cx="2380000" cy="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50"/>
              <a:buFont typeface="Malgun Gothic"/>
              <a:buNone/>
            </a:pPr>
            <a:r>
              <a:rPr b="0" i="0" lang="ko-KR" sz="9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강건성 실측, 데모 영상, 결선 발표 준비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510540" y="2560000"/>
            <a:ext cx="1117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3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리스크 및 대응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510540" y="2920000"/>
            <a:ext cx="2050000" cy="350000"/>
          </a:xfrm>
          <a:prstGeom prst="roundRect">
            <a:avLst>
              <a:gd fmla="val 6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570540" y="2945000"/>
            <a:ext cx="19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지각해시 강건성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2710540" y="2930000"/>
            <a:ext cx="897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Malgun Gothic"/>
              <a:buNone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재압축엔 강하나 자막·크롭엔 약함 → 변형 유형별 임계값 튜닝 + 강건성 실측치 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10540" y="3340000"/>
            <a:ext cx="2050000" cy="350000"/>
          </a:xfrm>
          <a:prstGeom prst="roundRect">
            <a:avLst>
              <a:gd fmla="val 6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570540" y="3365000"/>
            <a:ext cx="19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미서명 진본 오인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2710540" y="3350000"/>
            <a:ext cx="897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Malgun Gothic"/>
              <a:buNone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'서명 없음 ≠ 가짜' UX 명확화, 미등록/위조의심 신호를 시각적으로 분리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10540" y="3760000"/>
            <a:ext cx="2050000" cy="350000"/>
          </a:xfrm>
          <a:prstGeom prst="roundRect">
            <a:avLst>
              <a:gd fmla="val 6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70540" y="3785000"/>
            <a:ext cx="19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algun Gothic"/>
              <a:buNone/>
            </a:pPr>
            <a:r>
              <a:rPr b="1" i="0" lang="ko-KR" sz="1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공인 채택·커버리지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2710540" y="3770000"/>
            <a:ext cx="897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Malgun Gothic"/>
              <a:buNone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선관위·기관 공식 채널부터 PoC, 사전 서명 캠페인으로 등록률 확보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510540" y="4230000"/>
            <a:ext cx="11170000" cy="760000"/>
          </a:xfrm>
          <a:prstGeom prst="roundRect">
            <a:avLst>
              <a:gd fmla="val 6000" name="adj"/>
            </a:avLst>
          </a:prstGeom>
          <a:solidFill>
            <a:srgbClr val="F2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740540" y="4350000"/>
            <a:ext cx="1071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E307E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2E307E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확장 시나리오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Malgun Gothic"/>
              <a:buNone/>
            </a:pPr>
            <a:r>
              <a:rPr b="0" i="0" lang="ko-KR" sz="105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공인 영상 진본 → 기관 공식문서·보도자료 → 기업 IR·계약 영상 → 개인 창작자 콘텐츠 원작 증명으로 순차 확장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